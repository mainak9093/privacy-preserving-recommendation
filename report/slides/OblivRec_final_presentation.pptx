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embeddedFontLst>
    <p:embeddedFont>
      <p:font typeface="Cambria Math" panose="02040503050406030204" pitchFamily="18" charset="0"/>
      <p:regular r:id="rId34"/>
    </p:embeddedFont>
    <p:embeddedFont>
      <p:font typeface="IBM Plex Mono" panose="020B0509050203000203" pitchFamily="49" charset="0"/>
      <p:regular r:id="rId35"/>
      <p:bold r:id="rId36"/>
    </p:embeddedFont>
    <p:embeddedFont>
      <p:font typeface="Manrope" pitchFamily="2" charset="0"/>
      <p:regular r:id="rId37"/>
      <p:bold r:id="rId38"/>
    </p:embeddedFont>
    <p:embeddedFont>
      <p:font typeface="Manrope ExtraBold" pitchFamily="2" charset="0"/>
      <p:bold r:id="rId3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 1  ·  Shravan Agrawal" id="{E6CDED43-01AA-C91B-6BB4-3769BB67C09C}">
          <p14:sldIdLst>
            <p14:sldId id="256"/>
            <p14:sldId id="257"/>
            <p14:sldId id="258"/>
            <p14:sldId id="259"/>
            <p14:sldId id="260"/>
            <p14:sldId id="261"/>
            <p14:sldId id="262"/>
            <p14:sldId id="263"/>
          </p14:sldIdLst>
        </p14:section>
        <p14:section name="Arc 2  ·  Shrasti Dwivedi" id="{E0B62489-A959-2AFD-580D-3969EE1C49AB}">
          <p14:sldIdLst>
            <p14:sldId id="264"/>
            <p14:sldId id="265"/>
            <p14:sldId id="266"/>
            <p14:sldId id="267"/>
            <p14:sldId id="268"/>
            <p14:sldId id="269"/>
            <p14:sldId id="270"/>
            <p14:sldId id="271"/>
          </p14:sldIdLst>
        </p14:section>
        <p14:section name="Arc 3  ·  Mainak Sarkar" id="{25A60C03-A0CD-8BB9-2D64-E757260734E5}">
          <p14:sldIdLst>
            <p14:sldId id="272"/>
            <p14:sldId id="273"/>
            <p14:sldId id="274"/>
            <p14:sldId id="275"/>
            <p14:sldId id="276"/>
            <p14:sldId id="277"/>
            <p14:sldId id="278"/>
            <p14:sldId id="279"/>
            <p14:sldId id="280"/>
            <p14:sldId id="281"/>
          </p14:sldIdLst>
        </p14:section>
        <p14:section name="Backup for questions" id="{5BBCB68C-9F49-0E3E-37CC-56D75B0C51C6}">
          <p14:sldIdLst>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E7EDE4"/>
                </a:solidFill>
                <a:latin typeface="+mn-lt"/>
              </a:defRPr>
            </a:pPr>
            <a:r>
              <a:rPr sz="1400" b="0" i="0" u="none" strike="noStrike">
                <a:solidFill>
                  <a:srgbClr val="E7EDE4"/>
                </a:solidFill>
                <a:latin typeface="+mn-lt"/>
              </a:rPr>
              <a:t>nDCG@20 at ten iterations</a:t>
            </a:r>
          </a:p>
        </c:rich>
      </c:tx>
      <c:overlay val="0"/>
    </c:title>
    <c:autoTitleDeleted val="0"/>
    <c:plotArea>
      <c:layout/>
      <c:barChart>
        <c:barDir val="col"/>
        <c:grouping val="clustered"/>
        <c:varyColors val="0"/>
        <c:ser>
          <c:idx val="0"/>
          <c:order val="0"/>
          <c:tx>
            <c:strRef>
              <c:f>Sheet1!$B$1</c:f>
              <c:strCache>
                <c:ptCount val="1"/>
                <c:pt idx="0">
                  <c:v>Reveals the norm (the control)</c:v>
                </c:pt>
              </c:strCache>
            </c:strRef>
          </c:tx>
          <c:spPr>
            <a:solidFill>
              <a:srgbClr val="6C7D75"/>
            </a:solidFill>
            <a:effectLst/>
          </c:spPr>
          <c:invertIfNegative val="0"/>
          <c:dLbls>
            <c:numFmt formatCode="0.0000" sourceLinked="0"/>
            <c:spPr>
              <a:noFill/>
              <a:ln>
                <a:noFill/>
              </a:ln>
              <a:effectLst/>
            </c:spPr>
            <c:txPr>
              <a:bodyPr/>
              <a:lstStyle/>
              <a:p>
                <a:pPr>
                  <a:defRPr sz="1300" b="0" i="0" u="none" strike="noStrike">
                    <a:solidFill>
                      <a:srgbClr val="E7EDE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First run: gate range [t−8, t+8]</c:v>
                </c:pt>
                <c:pt idx="1">
                  <c:v>After the fix: range [1, 2t+8]</c:v>
                </c:pt>
              </c:strCache>
            </c:strRef>
          </c:cat>
          <c:val>
            <c:numRef>
              <c:f>Sheet1!$B$2:$B$3</c:f>
              <c:numCache>
                <c:formatCode>General</c:formatCode>
                <c:ptCount val="2"/>
                <c:pt idx="0">
                  <c:v>0.45129999999999998</c:v>
                </c:pt>
                <c:pt idx="1">
                  <c:v>0.45129999999999998</c:v>
                </c:pt>
              </c:numCache>
            </c:numRef>
          </c:val>
          <c:extLst>
            <c:ext xmlns:c16="http://schemas.microsoft.com/office/drawing/2014/chart" uri="{C3380CC4-5D6E-409C-BE32-E72D297353CC}">
              <c16:uniqueId val="{00000000-BC47-49B0-9758-8D1C09A912A3}"/>
            </c:ext>
          </c:extLst>
        </c:ser>
        <c:ser>
          <c:idx val="1"/>
          <c:order val="1"/>
          <c:tx>
            <c:strRef>
              <c:f>Sheet1!$C$1</c:f>
              <c:strCache>
                <c:ptCount val="1"/>
                <c:pt idx="0">
                  <c:v>Reveals nothing</c:v>
                </c:pt>
              </c:strCache>
            </c:strRef>
          </c:tx>
          <c:spPr>
            <a:solidFill>
              <a:srgbClr val="EE7A50"/>
            </a:solidFill>
            <a:effectLst/>
          </c:spPr>
          <c:invertIfNegative val="0"/>
          <c:dLbls>
            <c:numFmt formatCode="0.0000" sourceLinked="0"/>
            <c:spPr>
              <a:noFill/>
              <a:ln>
                <a:noFill/>
              </a:ln>
              <a:effectLst/>
            </c:spPr>
            <c:txPr>
              <a:bodyPr/>
              <a:lstStyle/>
              <a:p>
                <a:pPr>
                  <a:defRPr sz="1300" b="0" i="0" u="none" strike="noStrike">
                    <a:solidFill>
                      <a:srgbClr val="E7EDE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First run: gate range [t−8, t+8]</c:v>
                </c:pt>
                <c:pt idx="1">
                  <c:v>After the fix: range [1, 2t+8]</c:v>
                </c:pt>
              </c:strCache>
            </c:strRef>
          </c:cat>
          <c:val>
            <c:numRef>
              <c:f>Sheet1!$C$2:$C$3</c:f>
              <c:numCache>
                <c:formatCode>General</c:formatCode>
                <c:ptCount val="2"/>
                <c:pt idx="0">
                  <c:v>0.34279999999999999</c:v>
                </c:pt>
                <c:pt idx="1">
                  <c:v>0.44929999999999998</c:v>
                </c:pt>
              </c:numCache>
            </c:numRef>
          </c:val>
          <c:extLst>
            <c:ext xmlns:c16="http://schemas.microsoft.com/office/drawing/2014/chart" uri="{C3380CC4-5D6E-409C-BE32-E72D297353CC}">
              <c16:uniqueId val="{00000001-BC47-49B0-9758-8D1C09A912A3}"/>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A2B0A9"/>
                </a:solidFill>
                <a:latin typeface="+mn-lt"/>
              </a:defRPr>
            </a:pPr>
            <a:endParaRPr lang="en-US"/>
          </a:p>
        </c:txPr>
        <c:crossAx val="2094734552"/>
        <c:crosses val="autoZero"/>
        <c:auto val="1"/>
        <c:lblAlgn val="ctr"/>
        <c:lblOffset val="100"/>
        <c:noMultiLvlLbl val="1"/>
      </c:catAx>
      <c:valAx>
        <c:axId val="2094734552"/>
        <c:scaling>
          <c:orientation val="minMax"/>
          <c:max val="0.5"/>
          <c:min val="0"/>
        </c:scaling>
        <c:delete val="0"/>
        <c:axPos val="l"/>
        <c:majorGridlines>
          <c:spPr>
            <a:ln w="9525" cap="flat">
              <a:solidFill>
                <a:srgbClr val="2A3A34"/>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A2B0A9"/>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300">
              <a:solidFill>
                <a:srgbClr val="A2B0A9"/>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6444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Shravan Agrawal  ·  slide 1 of 26  ·  target 0:20
Hello. We are Shravan Agrawal, Shrasti Dwivedi and Mainak Sarkar, and this is OblivRec, our CS670 project on privacy-preserving recommendation. In the next thirty minutes we will show you what we built, what it costs, and where it breaks.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Shravan Agrawal  ·  slide 2 of 26  ·  target 1:00
Every recommender works the same way. You tell it what you liked, and it learns what you will like next. Collaborative filtering does this by factorising a large matrix of ratings, one row per user and one column per item, into two small matrices. One describes users and one describes items. The item matrix is called B, and it will matter a great deal later. The catch is that the service has to see your ratings to do any of this. Your ratings are your preferences, and preferences reveal far more than people expect. So the question this project asks is simple to state. Can a service recommend things to you, and deliver them, without ever learning what you rated, what it recommended, or what you actually opened?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Shravan Agrawal  ·  slide 3 of 26  ·  target 1:30
Our instructor pointed us at two papers, and each one solves half of this problem. The first is Nudge, from USENIX Security 2026. It trains the recommender on secret-shared ratings across three servers, at the scale of the Netflix dataset. But Nudge stops at the scores. In its own words, it relies on other means to let users fetch data items in a private way. So once you know which film to watch, fetching it tells the server exactly which film that was. The second paper is Pirsona, from PoPETs 2021. It does the fetching privately, using private information retrieval, and it has a lovely trick where the servers collect the next round of training data straight out of those private fetches. But its training runs a four-party protocol, and Nudge's training needs one fewer server that has to be trusted not to collude. So neither paper does both halves well. Nudge has the training we want and Pirsona has the private delivery, and nobody had put them together, because nobody had built both.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Shravan Agrawal  ·  slide 4 of 26  ·  target 0:45
That is what we did. OblivRec composes Nudge's private training with Pirsona's private delivery into one system, and then measures the composition, because a composition is only interesting if you know what it costs. Everything we show you today runs. We wrote the cryptographic core ourselves, from the original papers rather than from a library. And every figure on these slides is regenerated from committed data by a single command.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Shravan Agrawal  ·  slide 5 of 26  ·  target 1:30
Here is how the training half works. Each user's ratings are split into three random-looking pieces, one per server, so that any two servers together could recover them but any single server sees only noise. This is two-out-of-three replicated secret sharing. Now, factorising a matrix under secret sharing is normally expensive, because multiplying two secret values forces the servers to talk to each other. Nudge's insight is to factorise with power iteration, which is mostly matrix-times-vector work. Under this kind of sharing, a matrix-vector product is cheap. Each server multiplies its own pieces locally, and only the result is exchanged, in a single round, however large the matrix is. Most of the rounds go to two other operations: truncation, which keeps fixed-point numbers from overflowing, and normalisation. There is one design choice to hold onto. As each part of the item matrix B converges, it is opened in the clear. B is public, by design. That is what makes training affordable, and it is also the reason delivery has to be private, as Shrasti will show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Shravan Agrawal  ·  slide 6 of 26  ·  target 1:30
Now the delivery half. Once B is public, scoring is almost free. Your score for every item is your own secret vector times the public matrix B, and multiplying a secret-shared vector by a public matrix needs no communication at all. Each server computes its share of your scores alone. The servers never assemble a ranking. They hand you your score shares, you add them up on your own device, and you pick your top ten locally. Then you have to fetch those ten items, and this is where Pirsona's half comes in. We use two-server private information retrieval, built on a distributed point function. You send each server a short key, 227 bytes for our catalogue. Each key on its own looks random. The server runs it across every item in the catalogue and returns a combination, and when you put the two answers together you get exactly the record you asked for. Neither server learns which one. We wrote this distributed point function ourselves, and Mainak will show you how we checked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Shravan Agrawal  ·  slide 7 of 26  ·  target 1:20
There is one more piece, and it is what makes this a system rather than two halves bolted together. When a server answers a private fetch, it has already computed a secret share of a vector with a one at the item you fetched. Pirsona's trick is to keep that share instead of throwing it away. Summed over all your fetches, those shares become a secret-shared record of what you consumed, which is exactly the input the next round of training needs. So the servers collect the next round's training data straight out of this round's private fetches, with no separate upload. Turning those shares into training input costs one round per training refresh. Delivery feeds training, and training feeds delivery. To be precise about how far this goes: the harvest is built and tested, and a test drives real private fetches through it into the training code. Our running servers do not yet retrain from it, and every model we show was trained on ratings read from disk.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Shravan Agrawal  ·  slide 8 of 26  ·  target 0:45
And it does run, end to end. This is our demo serving a model that was trained privately, using the version of training that reveals nothing at all. It returns ten real film titles for user forty-two, Toy Story first, and every one of them was fetched by private information retrieval and checked byte for byte against the catalogue. The ranking also matches an independently computed reference on all ten positions. Nothing on this screen was ever visible to a server. But there is a question we have not answered yet. Does delivery really need to be private at all?
[Hand over to Shrasti]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Shrasti Dwivedi  ·  slide 9 of 26  ·  target 1:00
Thank you, Shravan. Let me start with the design choice he asked you to hold onto. B is public. Every item has a public position in a sixteen-dimensional space, and your recommendations are simply the items that point most nearly in the same direction as your own secret vector. So think about what an observer learns if they see which items you fetch, and nothing else. Each fetch is not one bit of information. It is a direction in a space everyone can see, and it tells the observer that your vector points somewhere near it. Collect a few of those, and the observer can start to triangulate your vector. That is the attack, and we measured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Shrasti Dwivedi  ·  slide 10 of 26  ·  target 1:30
Here is the result, across all 943 users of MovieLens. The attack is deliberately simple. The observer averages the public vectors of the items you fetched and uses that as a guess of your secret vector. After a single fetch, the guess already has a cosine similarity of 0.55 with your true vector. After ten fetches it reaches 0.84. And the number that matters most to a non-specialist is on the right. From your first ten fetches alone, the observer predicts 56 percent of your next twenty recommendations, things you have not fetched yet. So without private delivery, a server that never sees a single rating still learns your taste well enough to predict what you will watch next. Neither of the papers we started from measures this, because neither one implements both halves.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Shrasti Dwivedi  ·  slide 11 of 26  ·  target 1:15
The part of this experiment we care about most is the control. Popular films sit near the top of almost everyone's list. So a guessing method can look impressive while having learned nothing about you personally, only what is popular, which is public anyway. So we ran the identical method on the ten most popular films in the catalogue, ignoring the user completely. It reaches a cosine of 0.44. The attack reaches 0.84. The gap between them, about 0.40, is the part that is genuinely about you, and it stays at roughly that size for every number of fetches from two to fifty. We also report a random guess, which sits at zero, as it should. We would rather show you the control than let a large number speak for itself.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Shrasti Dwivedi  ·  slide 12 of 26  ·  target 1:15
So can we avoid private retrieval with something cheaper? The obvious idea is decoys. Fetch your ten real items plus some extras to confuse the observer, drawn from popular items so that they look plausible. We measured it. Even with forty decoys, five times the real traffic, the attack only falls from 0.84 to 0.71. The popularity line sits at 0.44, and that line is where a defence has to land to have actually worked, because below it the observer has learned nothing about you that is not already public. Decoys do not get there. The reason is that averaging is robust. Adding popular items pulls the guess toward what is popular, which the control already knew.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Shrasti Dwivedi  ·  slide 13 of 26  ·  target 1:30
The second, more principled idea comes from Nudge itself. Its section nine adds differential privacy. We read that section before writing any code, and it was not what we expected. Nudge does not add noise to B. It adds Gaussian noise to the Gram matrix, U transpose U, through a noise term inside every step of power iteration. That costs no communication, which is elegant. The paper does not state the noise scale, so we took it from the result by Dwork and colleagues that it cites, known as Analyze Gauss. We also changed one detail on purpose. Nudge normalises each user's ratings by how many they gave, but that does not keep every user's contribution bounded. Two hundred of our 943 users have fewer than twenty-five ratings, which is exactly where the bound fails. So we normalised by length instead, which makes the guarantee exact, and we report both versions.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Shrasti Dwivedi  ·  slide 14 of 26  ·  target 1:00
Both results go the wrong way. At epsilon equal to one, recommendation quality falls by 71 percent. And the attack does not get weaker. It gets stronger, from 0.82 to 0.92. That sounds like a paradox, but it is not. Differential privacy here protects the training data, meaning what B reveals about other people's ratings. Our attack asks a different question. It recovers your own vector, using B as a known map. You and the observer both use the same published, noisy B, so the geometry of the attack is untouched. What the noise does destroy is the shared popularity structure, and that structure was helping the control, not the attack.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Shrasti Dwivedi  ·  slide 15 of 26  ·  target 1:00
There is one more thing worth explaining. Nudge reports that the same mechanism costs them only 17 percent on Netflix, while it costs us 71. Both numbers are right. The noise this mechanism adds grows with the square root of the number of items, while the useful signal grows with the number of users. Netflix has about half a million users and our dataset has under a thousand, which puts Netflix 157 times further into the safe region. We measured the ratio directly, and on our data the noise is about four times larger than the signal. So this mechanism is built for a much larger dataset than ours. That is a statement about scale, and not a disagreement with the paper.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Shrasti Dwivedi  ·  slide 16 of 26  ·  target 0:30
So we measured two cheaper defences, and neither one reaches the line that would mean the observer learned nothing. That is the case for making the fetch itself private, which is what our system does. What does that cost?
[Hand over to Mainak]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17 of 26  ·  target 0:45
Thank you, Shrasti. Everything Shravan and Shrasti described rests on one primitive, the distributed point function, and we wrote it ourselves from the papers by Boyle, Gilboa and Ishai rather than using a library. So before any result, here is why you can trust it. We tested it exhaustively. For every possible secret index and every possible input, up to sixteen bits of domain, we compared its output against the true point function. That is 7.16 billion checks, and every one of them passed.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18 of 26  ·  target 1:30
Now, what does privacy cost? This figure isolates each half. First everything in the clear, then private delivery alone, then private training alone, then the full system with both. The first result is a clean one. The cost of the full system is exactly the cost of private delivery plus the cost of private training, to the byte. Composing the two halves adds nothing, because training traffic flows between the servers while delivery traffic flows between you and the servers, and the two never interact. We check that equality inside the benchmark before any number is written down. On a simulated wide-area link with thirty milliseconds of round-trip time, private delivery adds about two and a half milliseconds per session. Private training adds about ninety-six, once one training run is spread across the 943 users it serves. And recommendation quality barely moves, from 0.454 to 0.451.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19 of 26  ·  target 1:15
Where does the time go? We attributed every communication round in training to the operation that caused it, and the attribution adds up with nothing left over: zero rounds and zero bytes unexplained, in every configuration we ran. The answer is not what we expected. Truncation, the operation that keeps fixed-point numbers in range, takes between 69 and 74 percent of all rounds. The comparison gate, the most sophisticated cryptography in the whole system, takes about 3 percent in the one configuration that uses it. So if you want this system to be faster, you make truncation cheaper. The sophisticated part is not the bottleneck.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20 of 26  ·  target 0:45
This one is short, and it is the reason we built on Nudge in the first place. Nudge proves that communication depends on the size of the vectors in the computation, and not on the size of the rating matrix. We measured it. We made the input matrix four times larger, and traffic grew by only 4.4 percent, while the number of rounds did not change at all.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21 of 26  ·  target 1:00
Now a story about why we measure quality and not just cost. The first time we measured the version of training that reveals nothing, it looked as if privacy cost us almost eleven points of recommendation quality. That would have been a striking headline, and it was wrong. A comparison gate had been given a range too narrow for the values it actually sees, and values outside that range were silently clamped. The number of rounds and bytes was identical either way, so a benchmark that measures only cost could never have caught it. Once fixed, the real cost is a few thousandths. We then confirmed it against a control run that changed one thing at a time.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22 of 26  ·  target 1:00
Here is a result that goes against us, and we think you should hear it from us. On a wide-area link, simply downloading the entire catalogue is about four and a half times faster than our private retrieval, even though it sends about forty-five times more data. The reason is round trips. We fetch ten items one after another, so we pay ten round trips, and the full download pays one. On a slow network, round trips dominate. The fix is straightforward. You know all ten items at once, so you could ask for them in a single round trip, which would make us about twice as fast as the download. We have not built that, and our figures say so.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23 of 26  ·  target 2:05
Now, what if a user is malicious? We found a real hole in our own design here. Remember the loop that collects training data from fetches. An honest client always asks for exactly one copy of an item, but nothing enforced that. A malicious client could ask for an item with a weight of one million, still get its film back, and cast a million-strong vote in the next round of training, with every check we had passing. So we measured what that buys. One attacker, even at a million, moves quality by only about one percent, because power iteration renormalises at every step, so extra weight only changes a direction. Eight attackers working together, each pushing different items, still cost only four percent. Sixteen destroy the model, and quality falls to almost zero. We tested powers of two, so the collapse happens somewhere between eight and sixteen. Our model has sixteen directions, which fits the idea that each attacker captures one, but we have not tested the numbers in between. The fix costs one round per query. The two servers add up their shares of the key's output and compare the totals, which reveals only the weight and never the item. It closes weight inflation. It does not stop a forged key that spreads the weight across items, and closing that needs an audit we have not built. The right panel shows a second exposure. One 227-byte key buys 142 times its own cost in server work in the run on screen, and more than a hundred times in every run we made, because the server has to touch every item to stay private. That one we measured but have not mitigated.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24 of 26  ·  target 0:30
Finally, timing. Could an observer tell which item you fetched from how long the server takes? We timed the server's answer for eight items spread across the whole catalogue. The differences between items are smaller than the noise within a single item, so any leak is below 2 percent of a call. That is a bound, and not a proof of constant time.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25 of 26  ·  target 1:00
Let us be plain about what we do not claim. Our system is secure against one server that follows the protocol and tries to learn from what it sees. If two of the three servers collude, the shares reconstruct and there is no protection at all, and that is the assumption everything rests on. A server that deviates from the protocol is out of scope. We ran on MovieLens-100K and not the million-rating version, because simulating all three parties in one process did not fit comfortably in our machine's memory. Our wide-area numbers come from a cost model applied to measured traffic, not from real network emulation. Our security argument is a sketch and not a formal proof. And our timings vary between runs, so we report ratios rather than absolute times.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Mainak Sarkar  ·  slide 26 of 26  ·  target 0:45
To sum up. We built both halves of a private recommender and composed them, which neither paper had done. Composing them costs exactly the sum of the halves and nothing more. Private delivery is not optional, because ten observed fetches reveal most of your taste and both cheaper defences fail. And about seventy percent of the cost lies in one operation, truncation, which is where future work should go. Every figure you have seen is regenerated from committed data by one command. Thank you.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Not presented in the recording.
Key size is 1 + 4 + 16 + 18 bytes per domain bit + the ring's byte width. The serialiser's reported size is asserted equal to the bytes it writes, by tests/test_dpf_serialize.cpp. At 11 domain bits a key is 227 bytes against 16,384 for a naive one-hot query.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Not presented in the recording.
Across a fortyfold increase in iterations the subspace angle to the true singular vectors falls by five orders of magnitude, while nDCG@20 stays between 0.4523 and 0.4545. Ranking needs a stable subspace, not the exact singular vectors, so ten iterations is the operating point. model/ell_sweep.py recomputes every committed row.</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Not presented in the recording.
Over 1,800 recorded queries every query frame is 228 bytes and every reply is 265 bytes, whatever the index. A logistic-regression classifier trained on the raw bytes scores 0.490 to 0.500 on held-out pairs, with chance inside every 95% interval. The shuffled-label control scores 0.483. A null result, not a proof: it rules out length or byte patterns that correlate with the query.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Not presented in the recording.
DPF-PIR sends 483 bytes to each server, 446 times fewer bytes than downloading the catalogue, counting both servers. It costs about five times the server CPU of the download (5.3 and 5.6 in two committed runs). The link speed below which the private read wins is derived from absolute times, so it moved between runs: 8.0 and 22.9 Gbit/s. Either way it is far above any wide-area link.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Not presented in the recording.
The headline guarantee is against A1, one semi-honest server, exactly Nudge's model. If two servers collude, the shares reconstruct and there is no protection, which is the assumption the system rests on. The security argument is a real/ideal simulation sketch, and the revealing normaliser is only secure against a weaker functionality that also outputs the norms.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6035040" cy="1143000"/>
          </a:xfrm>
          <a:prstGeom prst="rect">
            <a:avLst/>
          </a:prstGeom>
          <a:noFill/>
          <a:ln/>
        </p:spPr>
        <p:txBody>
          <a:bodyPr wrap="square" rtlCol="0"/>
          <a:lstStyle>
            <a:lvl1pPr marL="0" indent="0" algn="l">
              <a:buNone/>
              <a:defRPr lang="en-US" sz="7200" dirty="0">
                <a:solidFill>
                  <a:schemeClr val="tx1"/>
                </a:solidFill>
                <a:latin typeface="Manrope ExtraBold" pitchFamily="34" charset="0"/>
                <a:ea typeface="Manrope ExtraBold" pitchFamily="34" charset="-122"/>
                <a:cs typeface="Manrope ExtraBold" pitchFamily="34" charset="-120"/>
              </a:defRPr>
            </a:lvl1pPr>
          </a:lstStyle>
          <a:p>
            <a:pPr marL="0" indent="0" algn="l">
              <a:buNone/>
            </a:pPr>
            <a:endParaRPr lang="en-US" sz="7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RC1">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rtlCol="0"/>
          <a:lstStyle>
            <a:lvl1pPr marL="0" indent="0" algn="l">
              <a:buNone/>
              <a:defRPr lang="en-US" sz="3400" dirty="0">
                <a:solidFill>
                  <a:schemeClr val="tx1"/>
                </a:solidFill>
                <a:latin typeface="Manrope ExtraBold" pitchFamily="34" charset="0"/>
                <a:ea typeface="Manrope ExtraBold" pitchFamily="34" charset="-122"/>
                <a:cs typeface="Manrope ExtraBold" pitchFamily="34" charset="-120"/>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t"/>
          <a:lstStyle/>
          <a:p>
            <a:pPr marL="0" indent="0">
              <a:buNone/>
            </a:pPr>
            <a:r>
              <a:rPr lang="en-US" sz="1000" dirty="0">
                <a:solidFill>
                  <a:schemeClr val="tx2"/>
                </a:solidFill>
                <a:latin typeface="IBM Plex Mono" pitchFamily="34" charset="0"/>
                <a:ea typeface="IBM Plex Mono" pitchFamily="34" charset="-122"/>
                <a:cs typeface="IBM Plex Mono" pitchFamily="34" charset="-120"/>
              </a:rPr>
              <a:t>OblivRec  ·  Arc 1  ·  Shravan Agrawal</a:t>
            </a:r>
            <a:endParaRPr lang="en-US" sz="10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RC2">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rtlCol="0"/>
          <a:lstStyle>
            <a:lvl1pPr marL="0" indent="0" algn="l">
              <a:buNone/>
              <a:defRPr lang="en-US" sz="3400" dirty="0">
                <a:solidFill>
                  <a:schemeClr val="tx1"/>
                </a:solidFill>
                <a:latin typeface="Manrope ExtraBold" pitchFamily="34" charset="0"/>
                <a:ea typeface="Manrope ExtraBold" pitchFamily="34" charset="-122"/>
                <a:cs typeface="Manrope ExtraBold" pitchFamily="34" charset="-120"/>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t"/>
          <a:lstStyle/>
          <a:p>
            <a:pPr marL="0" indent="0">
              <a:buNone/>
            </a:pPr>
            <a:r>
              <a:rPr lang="en-US" sz="1000" dirty="0">
                <a:solidFill>
                  <a:schemeClr val="tx2"/>
                </a:solidFill>
                <a:latin typeface="IBM Plex Mono" pitchFamily="34" charset="0"/>
                <a:ea typeface="IBM Plex Mono" pitchFamily="34" charset="-122"/>
                <a:cs typeface="IBM Plex Mono" pitchFamily="34" charset="-120"/>
              </a:rPr>
              <a:t>OblivRec  ·  Arc 2  ·  Shrasti Dwivedi</a:t>
            </a:r>
            <a:endParaRPr lang="en-US" sz="10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RC3">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rtlCol="0"/>
          <a:lstStyle>
            <a:lvl1pPr marL="0" indent="0" algn="l">
              <a:buNone/>
              <a:defRPr lang="en-US" sz="3400" dirty="0">
                <a:solidFill>
                  <a:schemeClr val="tx1"/>
                </a:solidFill>
                <a:latin typeface="Manrope ExtraBold" pitchFamily="34" charset="0"/>
                <a:ea typeface="Manrope ExtraBold" pitchFamily="34" charset="-122"/>
                <a:cs typeface="Manrope ExtraBold" pitchFamily="34" charset="-120"/>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t"/>
          <a:lstStyle/>
          <a:p>
            <a:pPr marL="0" indent="0">
              <a:buNone/>
            </a:pPr>
            <a:r>
              <a:rPr lang="en-US" sz="1000" dirty="0">
                <a:solidFill>
                  <a:schemeClr val="tx2"/>
                </a:solidFill>
                <a:latin typeface="IBM Plex Mono" pitchFamily="34" charset="0"/>
                <a:ea typeface="IBM Plex Mono" pitchFamily="34" charset="-122"/>
                <a:cs typeface="IBM Plex Mono" pitchFamily="34" charset="-120"/>
              </a:rPr>
              <a:t>OblivRec  ·  Arc 3  ·  Mainak Sarkar</a:t>
            </a:r>
            <a:endParaRPr lang="en-US" sz="10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ACKUP">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rtlCol="0"/>
          <a:lstStyle>
            <a:lvl1pPr marL="0" indent="0" algn="l">
              <a:buNone/>
              <a:defRPr lang="en-US" sz="3400" dirty="0">
                <a:solidFill>
                  <a:schemeClr val="tx1"/>
                </a:solidFill>
                <a:latin typeface="Manrope ExtraBold" pitchFamily="34" charset="0"/>
                <a:ea typeface="Manrope ExtraBold" pitchFamily="34" charset="-122"/>
                <a:cs typeface="Manrope ExtraBold" pitchFamily="34" charset="-120"/>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t"/>
          <a:lstStyle/>
          <a:p>
            <a:pPr marL="0" indent="0">
              <a:buNone/>
            </a:pPr>
            <a:r>
              <a:rPr lang="en-US" sz="1000" dirty="0">
                <a:solidFill>
                  <a:schemeClr val="tx2"/>
                </a:solidFill>
                <a:latin typeface="IBM Plex Mono" pitchFamily="34" charset="0"/>
                <a:ea typeface="IBM Plex Mono" pitchFamily="34" charset="-122"/>
                <a:cs typeface="IBM Plex Mono" pitchFamily="34" charset="-120"/>
              </a:rPr>
              <a:t>OblivRec  ·  Backup slides for questions, not presented</a:t>
            </a:r>
            <a:endParaRPr lang="en-US" sz="10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p:cNvSpPr txBox="1"/>
          <p:nvPr/>
        </p:nvSpPr>
        <p:spPr>
          <a:xfrm>
            <a:off x="548640" y="1005840"/>
            <a:ext cx="777240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CS670  ·  CRYPTOGRAPHIC TECHNIQUES FOR PRIVACY PRESERVATION  ·  IIT KANPUR</a:t>
            </a:r>
            <a:endParaRPr lang="en-US" sz="1100" dirty="0"/>
          </a:p>
        </p:txBody>
      </p:sp>
      <p:sp>
        <p:nvSpPr>
          <p:cNvPr id="3" name="Text 0"/>
          <p:cNvSpPr>
            <a:spLocks noGrp="1"/>
          </p:cNvSpPr>
          <p:nvPr>
            <p:ph type="title" idx="100" hasCustomPrompt="1"/>
          </p:nvPr>
        </p:nvSpPr>
        <p:spPr>
          <a:xfrm>
            <a:off x="548640" y="1828800"/>
            <a:ext cx="6035040" cy="1143000"/>
          </a:xfrm>
          <a:prstGeom prst="rect">
            <a:avLst/>
          </a:prstGeom>
          <a:noFill/>
          <a:ln/>
        </p:spPr>
        <p:txBody>
          <a:bodyPr wrap="square" lIns="0" tIns="0" rIns="0" bIns="0" rtlCol="0" anchor="t"/>
          <a:lstStyle/>
          <a:p>
            <a:pPr marL="0" indent="0" algn="l">
              <a:buNone/>
            </a:pPr>
            <a:r>
              <a:rPr lang="en-US" sz="7200" dirty="0">
                <a:solidFill>
                  <a:schemeClr val="tx1"/>
                </a:solidFill>
                <a:latin typeface="Manrope ExtraBold" pitchFamily="34" charset="0"/>
                <a:ea typeface="Manrope ExtraBold" pitchFamily="34" charset="-122"/>
                <a:cs typeface="Manrope ExtraBold" pitchFamily="34" charset="-120"/>
              </a:rPr>
              <a:t>OblivRec</a:t>
            </a:r>
            <a:endParaRPr lang="en-US" sz="7200" dirty="0"/>
          </a:p>
        </p:txBody>
      </p:sp>
      <p:sp>
        <p:nvSpPr>
          <p:cNvPr id="4" name="subtitle"/>
          <p:cNvSpPr txBox="1"/>
          <p:nvPr/>
        </p:nvSpPr>
        <p:spPr>
          <a:xfrm>
            <a:off x="548640" y="2971800"/>
            <a:ext cx="6035040" cy="868680"/>
          </a:xfrm>
          <a:prstGeom prst="rect">
            <a:avLst/>
          </a:prstGeom>
          <a:noFill/>
          <a:ln/>
        </p:spPr>
        <p:txBody>
          <a:bodyPr wrap="square" lIns="0" tIns="0" rIns="0" bIns="0" rtlCol="0" anchor="t"/>
          <a:lstStyle/>
          <a:p>
            <a:pPr marL="0" indent="0" algn="l">
              <a:lnSpc>
                <a:spcPct val="100000"/>
              </a:lnSpc>
              <a:buNone/>
            </a:pPr>
            <a:r>
              <a:rPr lang="en-US" sz="2600" dirty="0">
                <a:solidFill>
                  <a:schemeClr val="tx1"/>
                </a:solidFill>
                <a:latin typeface="Manrope" pitchFamily="34" charset="0"/>
                <a:ea typeface="Manrope" pitchFamily="34" charset="-122"/>
                <a:cs typeface="Manrope" pitchFamily="34" charset="-120"/>
              </a:rPr>
              <a:t>Private training and private delivery for recommendation</a:t>
            </a:r>
            <a:endParaRPr lang="en-US" sz="2600" dirty="0"/>
          </a:p>
        </p:txBody>
      </p:sp>
      <p:sp>
        <p:nvSpPr>
          <p:cNvPr id="5" name="summary"/>
          <p:cNvSpPr txBox="1"/>
          <p:nvPr/>
        </p:nvSpPr>
        <p:spPr>
          <a:xfrm>
            <a:off x="548640" y="3977640"/>
            <a:ext cx="5852160" cy="868680"/>
          </a:xfrm>
          <a:prstGeom prst="rect">
            <a:avLst/>
          </a:prstGeom>
          <a:noFill/>
          <a:ln/>
        </p:spPr>
        <p:txBody>
          <a:bodyPr wrap="square" lIns="0" tIns="0" rIns="0" bIns="0" rtlCol="0" anchor="t"/>
          <a:lstStyle/>
          <a:p>
            <a:pPr marL="0" indent="0" algn="l">
              <a:lnSpc>
                <a:spcPct val="110000"/>
              </a:lnSpc>
              <a:buNone/>
            </a:pPr>
            <a:r>
              <a:rPr lang="en-US" sz="1500" dirty="0">
                <a:solidFill>
                  <a:schemeClr val="tx2"/>
                </a:solidFill>
                <a:latin typeface="Manrope" pitchFamily="34" charset="0"/>
                <a:ea typeface="Manrope" pitchFamily="34" charset="-122"/>
                <a:cs typeface="Manrope" pitchFamily="34" charset="-120"/>
              </a:rPr>
              <a:t>Nudge's three-server training composed with Pirsona's private retrieval, and measured: what the composition costs, and what it leaks.</a:t>
            </a:r>
            <a:endParaRPr lang="en-US" sz="1500" dirty="0"/>
          </a:p>
        </p:txBody>
      </p:sp>
      <p:sp>
        <p:nvSpPr>
          <p:cNvPr id="6" name="team"/>
          <p:cNvSpPr txBox="1"/>
          <p:nvPr/>
        </p:nvSpPr>
        <p:spPr>
          <a:xfrm>
            <a:off x="548640" y="5074920"/>
            <a:ext cx="4572000" cy="868680"/>
          </a:xfrm>
          <a:prstGeom prst="rect">
            <a:avLst/>
          </a:prstGeom>
          <a:noFill/>
          <a:ln/>
        </p:spPr>
        <p:txBody>
          <a:bodyPr wrap="square" lIns="0" tIns="0" rIns="0" bIns="0" rtlCol="0" anchor="t"/>
          <a:lstStyle/>
          <a:p>
            <a:pPr marL="0" indent="0" algn="l">
              <a:lnSpc>
                <a:spcPct val="110000"/>
              </a:lnSpc>
              <a:buNone/>
            </a:pPr>
            <a:r>
              <a:rPr lang="en-US" sz="1500" dirty="0">
                <a:solidFill>
                  <a:schemeClr val="tx1"/>
                </a:solidFill>
                <a:latin typeface="Manrope" pitchFamily="34" charset="0"/>
                <a:ea typeface="Manrope" pitchFamily="34" charset="-122"/>
                <a:cs typeface="Manrope" pitchFamily="34" charset="-120"/>
              </a:rPr>
              <a:t>Shravan Agrawal  230984</a:t>
            </a:r>
            <a:endParaRPr lang="en-US" sz="1500" dirty="0"/>
          </a:p>
          <a:p>
            <a:pPr marL="0" indent="0" algn="l">
              <a:lnSpc>
                <a:spcPct val="110000"/>
              </a:lnSpc>
              <a:buNone/>
            </a:pPr>
            <a:r>
              <a:rPr lang="en-US" sz="1500" dirty="0">
                <a:solidFill>
                  <a:schemeClr val="tx1"/>
                </a:solidFill>
                <a:latin typeface="Manrope" pitchFamily="34" charset="0"/>
                <a:ea typeface="Manrope" pitchFamily="34" charset="-122"/>
                <a:cs typeface="Manrope" pitchFamily="34" charset="-120"/>
              </a:rPr>
              <a:t>Shrasti Dwivedi  230982</a:t>
            </a:r>
            <a:endParaRPr lang="en-US" sz="1500" dirty="0"/>
          </a:p>
          <a:p>
            <a:pPr marL="0" indent="0" algn="l">
              <a:lnSpc>
                <a:spcPct val="110000"/>
              </a:lnSpc>
              <a:buNone/>
            </a:pPr>
            <a:r>
              <a:rPr lang="en-US" sz="1500" dirty="0">
                <a:solidFill>
                  <a:schemeClr val="tx1"/>
                </a:solidFill>
                <a:latin typeface="Manrope" pitchFamily="34" charset="0"/>
                <a:ea typeface="Manrope" pitchFamily="34" charset="-122"/>
                <a:cs typeface="Manrope" pitchFamily="34" charset="-120"/>
              </a:rPr>
              <a:t>Mainak Sarkar  230619</a:t>
            </a:r>
            <a:endParaRPr lang="en-US" sz="1500" dirty="0"/>
          </a:p>
        </p:txBody>
      </p:sp>
      <p:sp>
        <p:nvSpPr>
          <p:cNvPr id="7" name="date"/>
          <p:cNvSpPr txBox="1"/>
          <p:nvPr/>
        </p:nvSpPr>
        <p:spPr>
          <a:xfrm>
            <a:off x="548640" y="6172200"/>
            <a:ext cx="548640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Final presentation  ·  November 2026</a:t>
            </a:r>
            <a:endParaRPr lang="en-US" sz="1100" dirty="0"/>
          </a:p>
        </p:txBody>
      </p:sp>
      <p:sp>
        <p:nvSpPr>
          <p:cNvPr id="8" name="Training box"/>
          <p:cNvSpPr/>
          <p:nvPr/>
        </p:nvSpPr>
        <p:spPr>
          <a:xfrm>
            <a:off x="7086600" y="1463040"/>
            <a:ext cx="1828800" cy="822960"/>
          </a:xfrm>
          <a:prstGeom prst="roundRect">
            <a:avLst>
              <a:gd name="adj" fmla="val 11111"/>
            </a:avLst>
          </a:prstGeom>
          <a:solidFill>
            <a:schemeClr val="bg2"/>
          </a:solidFill>
          <a:ln/>
        </p:spPr>
      </p:sp>
      <p:sp>
        <p:nvSpPr>
          <p:cNvPr id="9" name="Training label"/>
          <p:cNvSpPr txBox="1"/>
          <p:nvPr/>
        </p:nvSpPr>
        <p:spPr>
          <a:xfrm>
            <a:off x="7251192" y="1591056"/>
            <a:ext cx="1554480" cy="640080"/>
          </a:xfrm>
          <a:prstGeom prst="rect">
            <a:avLst/>
          </a:prstGeom>
          <a:noFill/>
          <a:ln/>
        </p:spPr>
        <p:txBody>
          <a:bodyPr wrap="square" lIns="0" tIns="0" rIns="0" bIns="0" rtlCol="0" anchor="t"/>
          <a:lstStyle/>
          <a:p>
            <a:pPr marL="0" indent="0" algn="l">
              <a:lnSpc>
                <a:spcPct val="100000"/>
              </a:lnSpc>
              <a:buNone/>
            </a:pPr>
            <a:r>
              <a:rPr lang="en-US" sz="1500" b="1" dirty="0">
                <a:solidFill>
                  <a:schemeClr val="tx1"/>
                </a:solidFill>
                <a:latin typeface="Manrope" pitchFamily="34" charset="0"/>
                <a:ea typeface="Manrope" pitchFamily="34" charset="-122"/>
                <a:cs typeface="Manrope" pitchFamily="34" charset="-120"/>
              </a:rPr>
              <a:t>Training</a:t>
            </a:r>
            <a:endParaRPr lang="en-US" sz="1500" dirty="0"/>
          </a:p>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P₀ P₁ P₂</a:t>
            </a:r>
            <a:endParaRPr lang="en-US" sz="1500" dirty="0"/>
          </a:p>
        </p:txBody>
      </p:sp>
      <p:sp>
        <p:nvSpPr>
          <p:cNvPr id="10" name="Serving box"/>
          <p:cNvSpPr/>
          <p:nvPr/>
        </p:nvSpPr>
        <p:spPr>
          <a:xfrm>
            <a:off x="9784080" y="1463040"/>
            <a:ext cx="1828800" cy="822960"/>
          </a:xfrm>
          <a:prstGeom prst="roundRect">
            <a:avLst>
              <a:gd name="adj" fmla="val 11111"/>
            </a:avLst>
          </a:prstGeom>
          <a:solidFill>
            <a:schemeClr val="bg2"/>
          </a:solidFill>
          <a:ln/>
        </p:spPr>
      </p:sp>
      <p:sp>
        <p:nvSpPr>
          <p:cNvPr id="11" name="Serving label"/>
          <p:cNvSpPr txBox="1"/>
          <p:nvPr/>
        </p:nvSpPr>
        <p:spPr>
          <a:xfrm>
            <a:off x="9948672" y="1591056"/>
            <a:ext cx="1554480" cy="640080"/>
          </a:xfrm>
          <a:prstGeom prst="rect">
            <a:avLst/>
          </a:prstGeom>
          <a:noFill/>
          <a:ln/>
        </p:spPr>
        <p:txBody>
          <a:bodyPr wrap="square" lIns="0" tIns="0" rIns="0" bIns="0" rtlCol="0" anchor="t"/>
          <a:lstStyle/>
          <a:p>
            <a:pPr marL="0" indent="0" algn="l">
              <a:lnSpc>
                <a:spcPct val="100000"/>
              </a:lnSpc>
              <a:buNone/>
            </a:pPr>
            <a:r>
              <a:rPr lang="en-US" sz="1500" b="1" dirty="0">
                <a:solidFill>
                  <a:schemeClr val="tx1"/>
                </a:solidFill>
                <a:latin typeface="Manrope" pitchFamily="34" charset="0"/>
                <a:ea typeface="Manrope" pitchFamily="34" charset="-122"/>
                <a:cs typeface="Manrope" pitchFamily="34" charset="-120"/>
              </a:rPr>
              <a:t>Serving</a:t>
            </a:r>
            <a:endParaRPr lang="en-US" sz="1500" dirty="0"/>
          </a:p>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P₀ P₁ P₂</a:t>
            </a:r>
            <a:endParaRPr lang="en-US" sz="1500" dirty="0"/>
          </a:p>
        </p:txBody>
      </p:sp>
      <p:sp>
        <p:nvSpPr>
          <p:cNvPr id="12" name="User box"/>
          <p:cNvSpPr/>
          <p:nvPr/>
        </p:nvSpPr>
        <p:spPr>
          <a:xfrm>
            <a:off x="9784080" y="4297680"/>
            <a:ext cx="1828800" cy="822960"/>
          </a:xfrm>
          <a:prstGeom prst="roundRect">
            <a:avLst>
              <a:gd name="adj" fmla="val 11111"/>
            </a:avLst>
          </a:prstGeom>
          <a:solidFill>
            <a:schemeClr val="accent2"/>
          </a:solidFill>
          <a:ln/>
        </p:spPr>
      </p:sp>
      <p:sp>
        <p:nvSpPr>
          <p:cNvPr id="13" name="User label"/>
          <p:cNvSpPr txBox="1"/>
          <p:nvPr/>
        </p:nvSpPr>
        <p:spPr>
          <a:xfrm>
            <a:off x="9948672" y="4425696"/>
            <a:ext cx="1554480" cy="640080"/>
          </a:xfrm>
          <a:prstGeom prst="rect">
            <a:avLst/>
          </a:prstGeom>
          <a:noFill/>
          <a:ln/>
        </p:spPr>
        <p:txBody>
          <a:bodyPr wrap="square" lIns="0" tIns="0" rIns="0" bIns="0" rtlCol="0" anchor="t"/>
          <a:lstStyle/>
          <a:p>
            <a:pPr marL="0" indent="0" algn="l">
              <a:lnSpc>
                <a:spcPct val="100000"/>
              </a:lnSpc>
              <a:buNone/>
            </a:pPr>
            <a:r>
              <a:rPr lang="en-US" sz="1500" b="1" dirty="0">
                <a:solidFill>
                  <a:schemeClr val="tx1"/>
                </a:solidFill>
                <a:latin typeface="Manrope" pitchFamily="34" charset="0"/>
                <a:ea typeface="Manrope" pitchFamily="34" charset="-122"/>
                <a:cs typeface="Manrope" pitchFamily="34" charset="-120"/>
              </a:rPr>
              <a:t>User</a:t>
            </a:r>
            <a:endParaRPr lang="en-US" sz="1500" dirty="0"/>
          </a:p>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own device</a:t>
            </a:r>
            <a:endParaRPr lang="en-US" sz="1500" dirty="0"/>
          </a:p>
        </p:txBody>
      </p:sp>
      <p:sp>
        <p:nvSpPr>
          <p:cNvPr id="14" name="Delivery box"/>
          <p:cNvSpPr/>
          <p:nvPr/>
        </p:nvSpPr>
        <p:spPr>
          <a:xfrm>
            <a:off x="7086600" y="4297680"/>
            <a:ext cx="1828800" cy="822960"/>
          </a:xfrm>
          <a:prstGeom prst="roundRect">
            <a:avLst>
              <a:gd name="adj" fmla="val 11111"/>
            </a:avLst>
          </a:prstGeom>
          <a:solidFill>
            <a:schemeClr val="bg2"/>
          </a:solidFill>
          <a:ln/>
        </p:spPr>
      </p:sp>
      <p:sp>
        <p:nvSpPr>
          <p:cNvPr id="15" name="Delivery label"/>
          <p:cNvSpPr txBox="1"/>
          <p:nvPr/>
        </p:nvSpPr>
        <p:spPr>
          <a:xfrm>
            <a:off x="7251192" y="4425696"/>
            <a:ext cx="1554480" cy="640080"/>
          </a:xfrm>
          <a:prstGeom prst="rect">
            <a:avLst/>
          </a:prstGeom>
          <a:noFill/>
          <a:ln/>
        </p:spPr>
        <p:txBody>
          <a:bodyPr wrap="square" lIns="0" tIns="0" rIns="0" bIns="0" rtlCol="0" anchor="t"/>
          <a:lstStyle/>
          <a:p>
            <a:pPr marL="0" indent="0" algn="l">
              <a:lnSpc>
                <a:spcPct val="100000"/>
              </a:lnSpc>
              <a:buNone/>
            </a:pPr>
            <a:r>
              <a:rPr lang="en-US" sz="1500" b="1" dirty="0">
                <a:solidFill>
                  <a:schemeClr val="tx1"/>
                </a:solidFill>
                <a:latin typeface="Manrope" pitchFamily="34" charset="0"/>
                <a:ea typeface="Manrope" pitchFamily="34" charset="-122"/>
                <a:cs typeface="Manrope" pitchFamily="34" charset="-120"/>
              </a:rPr>
              <a:t>Delivery</a:t>
            </a:r>
            <a:endParaRPr lang="en-US" sz="1500" dirty="0"/>
          </a:p>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P₀ P₁</a:t>
            </a:r>
            <a:endParaRPr lang="en-US" sz="1500" dirty="0"/>
          </a:p>
        </p:txBody>
      </p:sp>
      <p:sp>
        <p:nvSpPr>
          <p:cNvPr id="16" name="training to serving"/>
          <p:cNvSpPr/>
          <p:nvPr/>
        </p:nvSpPr>
        <p:spPr>
          <a:xfrm>
            <a:off x="9025128" y="1874520"/>
            <a:ext cx="649224" cy="914"/>
          </a:xfrm>
          <a:prstGeom prst="line">
            <a:avLst/>
          </a:prstGeom>
          <a:noFill/>
          <a:ln w="19050">
            <a:solidFill>
              <a:schemeClr val="accent3"/>
            </a:solidFill>
            <a:prstDash val="solid"/>
            <a:tailEnd type="triangle"/>
          </a:ln>
        </p:spPr>
      </p:sp>
      <p:sp>
        <p:nvSpPr>
          <p:cNvPr id="17" name="serving to user"/>
          <p:cNvSpPr/>
          <p:nvPr/>
        </p:nvSpPr>
        <p:spPr>
          <a:xfrm>
            <a:off x="10698480" y="2395728"/>
            <a:ext cx="914" cy="1792224"/>
          </a:xfrm>
          <a:prstGeom prst="line">
            <a:avLst/>
          </a:prstGeom>
          <a:noFill/>
          <a:ln w="19050">
            <a:solidFill>
              <a:schemeClr val="accent3"/>
            </a:solidFill>
            <a:prstDash val="solid"/>
            <a:tailEnd type="triangle"/>
          </a:ln>
        </p:spPr>
      </p:sp>
      <p:sp>
        <p:nvSpPr>
          <p:cNvPr id="18" name="user to delivery"/>
          <p:cNvSpPr/>
          <p:nvPr/>
        </p:nvSpPr>
        <p:spPr>
          <a:xfrm flipH="1">
            <a:off x="9025128" y="4709160"/>
            <a:ext cx="649224" cy="914"/>
          </a:xfrm>
          <a:prstGeom prst="line">
            <a:avLst/>
          </a:prstGeom>
          <a:noFill/>
          <a:ln w="19050">
            <a:solidFill>
              <a:schemeClr val="accent3"/>
            </a:solidFill>
            <a:prstDash val="solid"/>
            <a:tailEnd type="triangle"/>
          </a:ln>
        </p:spPr>
      </p:sp>
      <p:sp>
        <p:nvSpPr>
          <p:cNvPr id="19" name="harvest"/>
          <p:cNvSpPr/>
          <p:nvPr/>
        </p:nvSpPr>
        <p:spPr>
          <a:xfrm flipV="1">
            <a:off x="8001000" y="2395728"/>
            <a:ext cx="914" cy="1792224"/>
          </a:xfrm>
          <a:prstGeom prst="line">
            <a:avLst/>
          </a:prstGeom>
          <a:noFill/>
          <a:ln w="25400">
            <a:solidFill>
              <a:schemeClr val="accent1"/>
            </a:solidFill>
            <a:prstDash val="dash"/>
            <a:tailEnd type="triangle"/>
          </a:ln>
        </p:spPr>
      </p:sp>
      <p:sp>
        <p:nvSpPr>
          <p:cNvPr id="20" name="Text 18"/>
          <p:cNvSpPr txBox="1"/>
          <p:nvPr/>
        </p:nvSpPr>
        <p:spPr>
          <a:xfrm>
            <a:off x="8129016" y="2907792"/>
            <a:ext cx="2011680" cy="822960"/>
          </a:xfrm>
          <a:prstGeom prst="rect">
            <a:avLst/>
          </a:prstGeom>
          <a:noFill/>
          <a:ln/>
        </p:spPr>
        <p:txBody>
          <a:bodyPr wrap="square" lIns="0" tIns="0" rIns="0" bIns="0" rtlCol="0" anchor="t"/>
          <a:lstStyle/>
          <a:p>
            <a:pPr marL="0" indent="0" algn="l">
              <a:lnSpc>
                <a:spcPct val="100000"/>
              </a:lnSpc>
              <a:buNone/>
            </a:pPr>
            <a:r>
              <a:rPr lang="en-US" sz="1200" b="1" dirty="0">
                <a:solidFill>
                  <a:schemeClr val="accent1"/>
                </a:solidFill>
                <a:latin typeface="Manrope" pitchFamily="34" charset="0"/>
                <a:ea typeface="Manrope" pitchFamily="34" charset="-122"/>
                <a:cs typeface="Manrope" pitchFamily="34" charset="-120"/>
              </a:rPr>
              <a:t>harvest</a:t>
            </a:r>
            <a:endParaRPr lang="en-US" sz="1200" dirty="0"/>
          </a:p>
          <a:p>
            <a:pPr marL="0" indent="0" algn="l">
              <a:lnSpc>
                <a:spcPct val="100000"/>
              </a:lnSpc>
              <a:buNone/>
            </a:pPr>
            <a:r>
              <a:rPr lang="en-US" sz="1200" dirty="0">
                <a:solidFill>
                  <a:schemeClr val="tx2"/>
                </a:solidFill>
                <a:latin typeface="Manrope" pitchFamily="34" charset="0"/>
                <a:ea typeface="Manrope" pitchFamily="34" charset="-122"/>
                <a:cs typeface="Manrope" pitchFamily="34" charset="-120"/>
              </a:rPr>
              <a:t>shared counts of</a:t>
            </a:r>
            <a:endParaRPr lang="en-US" sz="1200" dirty="0"/>
          </a:p>
          <a:p>
            <a:pPr marL="0" indent="0" algn="l">
              <a:lnSpc>
                <a:spcPct val="100000"/>
              </a:lnSpc>
              <a:buNone/>
            </a:pPr>
            <a:r>
              <a:rPr lang="en-US" sz="1200" dirty="0">
                <a:solidFill>
                  <a:schemeClr val="tx2"/>
                </a:solidFill>
                <a:latin typeface="Manrope" pitchFamily="34" charset="0"/>
                <a:ea typeface="Manrope" pitchFamily="34" charset="-122"/>
                <a:cs typeface="Manrope" pitchFamily="34" charset="-120"/>
              </a:rPr>
              <a:t>what was fetched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What a recommender learns about you</a:t>
            </a:r>
            <a:endParaRPr lang="en-US" sz="3400" dirty="0"/>
          </a:p>
        </p:txBody>
      </p:sp>
      <p:sp>
        <p:nvSpPr>
          <p:cNvPr id="3" name="rating cell"/>
          <p:cNvSpPr/>
          <p:nvPr/>
        </p:nvSpPr>
        <p:spPr>
          <a:xfrm>
            <a:off x="548640" y="1737360"/>
            <a:ext cx="219456" cy="219456"/>
          </a:xfrm>
          <a:prstGeom prst="rect">
            <a:avLst/>
          </a:prstGeom>
          <a:solidFill>
            <a:schemeClr val="bg2"/>
          </a:solidFill>
          <a:ln/>
        </p:spPr>
      </p:sp>
      <p:sp>
        <p:nvSpPr>
          <p:cNvPr id="4" name="rating cell"/>
          <p:cNvSpPr/>
          <p:nvPr/>
        </p:nvSpPr>
        <p:spPr>
          <a:xfrm>
            <a:off x="804672" y="1737360"/>
            <a:ext cx="219456" cy="219456"/>
          </a:xfrm>
          <a:prstGeom prst="rect">
            <a:avLst/>
          </a:prstGeom>
          <a:solidFill>
            <a:schemeClr val="accent3"/>
          </a:solidFill>
          <a:ln/>
        </p:spPr>
      </p:sp>
      <p:sp>
        <p:nvSpPr>
          <p:cNvPr id="5" name="rating cell"/>
          <p:cNvSpPr/>
          <p:nvPr/>
        </p:nvSpPr>
        <p:spPr>
          <a:xfrm>
            <a:off x="1060704" y="1737360"/>
            <a:ext cx="219456" cy="219456"/>
          </a:xfrm>
          <a:prstGeom prst="rect">
            <a:avLst/>
          </a:prstGeom>
          <a:solidFill>
            <a:schemeClr val="bg2"/>
          </a:solidFill>
          <a:ln/>
        </p:spPr>
      </p:sp>
      <p:sp>
        <p:nvSpPr>
          <p:cNvPr id="6" name="rating cell"/>
          <p:cNvSpPr/>
          <p:nvPr/>
        </p:nvSpPr>
        <p:spPr>
          <a:xfrm>
            <a:off x="1316736" y="1737360"/>
            <a:ext cx="219456" cy="219456"/>
          </a:xfrm>
          <a:prstGeom prst="rect">
            <a:avLst/>
          </a:prstGeom>
          <a:solidFill>
            <a:schemeClr val="bg2"/>
          </a:solidFill>
          <a:ln/>
        </p:spPr>
      </p:sp>
      <p:sp>
        <p:nvSpPr>
          <p:cNvPr id="7" name="rating cell"/>
          <p:cNvSpPr/>
          <p:nvPr/>
        </p:nvSpPr>
        <p:spPr>
          <a:xfrm>
            <a:off x="1572768" y="1737360"/>
            <a:ext cx="219456" cy="219456"/>
          </a:xfrm>
          <a:prstGeom prst="rect">
            <a:avLst/>
          </a:prstGeom>
          <a:solidFill>
            <a:schemeClr val="bg2"/>
          </a:solidFill>
          <a:ln/>
        </p:spPr>
      </p:sp>
      <p:sp>
        <p:nvSpPr>
          <p:cNvPr id="8" name="rating cell"/>
          <p:cNvSpPr/>
          <p:nvPr/>
        </p:nvSpPr>
        <p:spPr>
          <a:xfrm>
            <a:off x="1828800" y="1737360"/>
            <a:ext cx="219456" cy="219456"/>
          </a:xfrm>
          <a:prstGeom prst="rect">
            <a:avLst/>
          </a:prstGeom>
          <a:solidFill>
            <a:schemeClr val="bg2"/>
          </a:solidFill>
          <a:ln/>
        </p:spPr>
      </p:sp>
      <p:sp>
        <p:nvSpPr>
          <p:cNvPr id="9" name="rating cell"/>
          <p:cNvSpPr/>
          <p:nvPr/>
        </p:nvSpPr>
        <p:spPr>
          <a:xfrm>
            <a:off x="2084832" y="1737360"/>
            <a:ext cx="219456" cy="219456"/>
          </a:xfrm>
          <a:prstGeom prst="rect">
            <a:avLst/>
          </a:prstGeom>
          <a:solidFill>
            <a:schemeClr val="bg2"/>
          </a:solidFill>
          <a:ln/>
        </p:spPr>
      </p:sp>
      <p:sp>
        <p:nvSpPr>
          <p:cNvPr id="10" name="rating cell"/>
          <p:cNvSpPr/>
          <p:nvPr/>
        </p:nvSpPr>
        <p:spPr>
          <a:xfrm>
            <a:off x="2340864" y="1737360"/>
            <a:ext cx="219456" cy="219456"/>
          </a:xfrm>
          <a:prstGeom prst="rect">
            <a:avLst/>
          </a:prstGeom>
          <a:solidFill>
            <a:schemeClr val="bg2"/>
          </a:solidFill>
          <a:ln/>
        </p:spPr>
      </p:sp>
      <p:sp>
        <p:nvSpPr>
          <p:cNvPr id="11" name="rating cell"/>
          <p:cNvSpPr/>
          <p:nvPr/>
        </p:nvSpPr>
        <p:spPr>
          <a:xfrm>
            <a:off x="2596896" y="1737360"/>
            <a:ext cx="219456" cy="219456"/>
          </a:xfrm>
          <a:prstGeom prst="rect">
            <a:avLst/>
          </a:prstGeom>
          <a:solidFill>
            <a:schemeClr val="accent3"/>
          </a:solidFill>
          <a:ln/>
        </p:spPr>
      </p:sp>
      <p:sp>
        <p:nvSpPr>
          <p:cNvPr id="12" name="rating cell"/>
          <p:cNvSpPr/>
          <p:nvPr/>
        </p:nvSpPr>
        <p:spPr>
          <a:xfrm>
            <a:off x="2852928" y="1737360"/>
            <a:ext cx="219456" cy="219456"/>
          </a:xfrm>
          <a:prstGeom prst="rect">
            <a:avLst/>
          </a:prstGeom>
          <a:solidFill>
            <a:schemeClr val="bg2"/>
          </a:solidFill>
          <a:ln/>
        </p:spPr>
      </p:sp>
      <p:sp>
        <p:nvSpPr>
          <p:cNvPr id="13" name="rating cell"/>
          <p:cNvSpPr/>
          <p:nvPr/>
        </p:nvSpPr>
        <p:spPr>
          <a:xfrm>
            <a:off x="3108960" y="1737360"/>
            <a:ext cx="219456" cy="219456"/>
          </a:xfrm>
          <a:prstGeom prst="rect">
            <a:avLst/>
          </a:prstGeom>
          <a:solidFill>
            <a:schemeClr val="accent3"/>
          </a:solidFill>
          <a:ln/>
        </p:spPr>
      </p:sp>
      <p:sp>
        <p:nvSpPr>
          <p:cNvPr id="14" name="rating cell"/>
          <p:cNvSpPr/>
          <p:nvPr/>
        </p:nvSpPr>
        <p:spPr>
          <a:xfrm>
            <a:off x="3364992" y="1737360"/>
            <a:ext cx="219456" cy="219456"/>
          </a:xfrm>
          <a:prstGeom prst="rect">
            <a:avLst/>
          </a:prstGeom>
          <a:solidFill>
            <a:schemeClr val="accent3"/>
          </a:solidFill>
          <a:ln/>
        </p:spPr>
      </p:sp>
      <p:sp>
        <p:nvSpPr>
          <p:cNvPr id="15" name="rating cell"/>
          <p:cNvSpPr/>
          <p:nvPr/>
        </p:nvSpPr>
        <p:spPr>
          <a:xfrm>
            <a:off x="3621024" y="1737360"/>
            <a:ext cx="219456" cy="219456"/>
          </a:xfrm>
          <a:prstGeom prst="rect">
            <a:avLst/>
          </a:prstGeom>
          <a:solidFill>
            <a:schemeClr val="bg2"/>
          </a:solidFill>
          <a:ln/>
        </p:spPr>
      </p:sp>
      <p:sp>
        <p:nvSpPr>
          <p:cNvPr id="16" name="rating cell"/>
          <p:cNvSpPr/>
          <p:nvPr/>
        </p:nvSpPr>
        <p:spPr>
          <a:xfrm>
            <a:off x="3877056" y="1737360"/>
            <a:ext cx="219456" cy="219456"/>
          </a:xfrm>
          <a:prstGeom prst="rect">
            <a:avLst/>
          </a:prstGeom>
          <a:solidFill>
            <a:schemeClr val="accent3"/>
          </a:solidFill>
          <a:ln/>
        </p:spPr>
      </p:sp>
      <p:sp>
        <p:nvSpPr>
          <p:cNvPr id="17" name="rating cell"/>
          <p:cNvSpPr/>
          <p:nvPr/>
        </p:nvSpPr>
        <p:spPr>
          <a:xfrm>
            <a:off x="548640" y="1993392"/>
            <a:ext cx="219456" cy="219456"/>
          </a:xfrm>
          <a:prstGeom prst="rect">
            <a:avLst/>
          </a:prstGeom>
          <a:solidFill>
            <a:schemeClr val="bg2"/>
          </a:solidFill>
          <a:ln/>
        </p:spPr>
      </p:sp>
      <p:sp>
        <p:nvSpPr>
          <p:cNvPr id="18" name="rating cell"/>
          <p:cNvSpPr/>
          <p:nvPr/>
        </p:nvSpPr>
        <p:spPr>
          <a:xfrm>
            <a:off x="804672" y="1993392"/>
            <a:ext cx="219456" cy="219456"/>
          </a:xfrm>
          <a:prstGeom prst="rect">
            <a:avLst/>
          </a:prstGeom>
          <a:solidFill>
            <a:schemeClr val="accent3"/>
          </a:solidFill>
          <a:ln/>
        </p:spPr>
      </p:sp>
      <p:sp>
        <p:nvSpPr>
          <p:cNvPr id="19" name="rating cell"/>
          <p:cNvSpPr/>
          <p:nvPr/>
        </p:nvSpPr>
        <p:spPr>
          <a:xfrm>
            <a:off x="1060704" y="1993392"/>
            <a:ext cx="219456" cy="219456"/>
          </a:xfrm>
          <a:prstGeom prst="rect">
            <a:avLst/>
          </a:prstGeom>
          <a:solidFill>
            <a:schemeClr val="accent3"/>
          </a:solidFill>
          <a:ln/>
        </p:spPr>
      </p:sp>
      <p:sp>
        <p:nvSpPr>
          <p:cNvPr id="20" name="rating cell"/>
          <p:cNvSpPr/>
          <p:nvPr/>
        </p:nvSpPr>
        <p:spPr>
          <a:xfrm>
            <a:off x="1316736" y="1993392"/>
            <a:ext cx="219456" cy="219456"/>
          </a:xfrm>
          <a:prstGeom prst="rect">
            <a:avLst/>
          </a:prstGeom>
          <a:solidFill>
            <a:schemeClr val="bg2"/>
          </a:solidFill>
          <a:ln/>
        </p:spPr>
      </p:sp>
      <p:sp>
        <p:nvSpPr>
          <p:cNvPr id="21" name="rating cell"/>
          <p:cNvSpPr/>
          <p:nvPr/>
        </p:nvSpPr>
        <p:spPr>
          <a:xfrm>
            <a:off x="1572768" y="1993392"/>
            <a:ext cx="219456" cy="219456"/>
          </a:xfrm>
          <a:prstGeom prst="rect">
            <a:avLst/>
          </a:prstGeom>
          <a:solidFill>
            <a:schemeClr val="bg2"/>
          </a:solidFill>
          <a:ln/>
        </p:spPr>
      </p:sp>
      <p:sp>
        <p:nvSpPr>
          <p:cNvPr id="22" name="rating cell"/>
          <p:cNvSpPr/>
          <p:nvPr/>
        </p:nvSpPr>
        <p:spPr>
          <a:xfrm>
            <a:off x="1828800" y="1993392"/>
            <a:ext cx="219456" cy="219456"/>
          </a:xfrm>
          <a:prstGeom prst="rect">
            <a:avLst/>
          </a:prstGeom>
          <a:solidFill>
            <a:schemeClr val="bg2"/>
          </a:solidFill>
          <a:ln/>
        </p:spPr>
      </p:sp>
      <p:sp>
        <p:nvSpPr>
          <p:cNvPr id="23" name="rating cell"/>
          <p:cNvSpPr/>
          <p:nvPr/>
        </p:nvSpPr>
        <p:spPr>
          <a:xfrm>
            <a:off x="2084832" y="1993392"/>
            <a:ext cx="219456" cy="219456"/>
          </a:xfrm>
          <a:prstGeom prst="rect">
            <a:avLst/>
          </a:prstGeom>
          <a:solidFill>
            <a:schemeClr val="bg2"/>
          </a:solidFill>
          <a:ln/>
        </p:spPr>
      </p:sp>
      <p:sp>
        <p:nvSpPr>
          <p:cNvPr id="24" name="rating cell"/>
          <p:cNvSpPr/>
          <p:nvPr/>
        </p:nvSpPr>
        <p:spPr>
          <a:xfrm>
            <a:off x="2340864" y="1993392"/>
            <a:ext cx="219456" cy="219456"/>
          </a:xfrm>
          <a:prstGeom prst="rect">
            <a:avLst/>
          </a:prstGeom>
          <a:solidFill>
            <a:schemeClr val="accent3"/>
          </a:solidFill>
          <a:ln/>
        </p:spPr>
      </p:sp>
      <p:sp>
        <p:nvSpPr>
          <p:cNvPr id="25" name="rating cell"/>
          <p:cNvSpPr/>
          <p:nvPr/>
        </p:nvSpPr>
        <p:spPr>
          <a:xfrm>
            <a:off x="2596896" y="1993392"/>
            <a:ext cx="219456" cy="219456"/>
          </a:xfrm>
          <a:prstGeom prst="rect">
            <a:avLst/>
          </a:prstGeom>
          <a:solidFill>
            <a:schemeClr val="bg2"/>
          </a:solidFill>
          <a:ln/>
        </p:spPr>
      </p:sp>
      <p:sp>
        <p:nvSpPr>
          <p:cNvPr id="26" name="rating cell"/>
          <p:cNvSpPr/>
          <p:nvPr/>
        </p:nvSpPr>
        <p:spPr>
          <a:xfrm>
            <a:off x="2852928" y="1993392"/>
            <a:ext cx="219456" cy="219456"/>
          </a:xfrm>
          <a:prstGeom prst="rect">
            <a:avLst/>
          </a:prstGeom>
          <a:solidFill>
            <a:schemeClr val="bg2"/>
          </a:solidFill>
          <a:ln/>
        </p:spPr>
      </p:sp>
      <p:sp>
        <p:nvSpPr>
          <p:cNvPr id="27" name="rating cell"/>
          <p:cNvSpPr/>
          <p:nvPr/>
        </p:nvSpPr>
        <p:spPr>
          <a:xfrm>
            <a:off x="3108960" y="1993392"/>
            <a:ext cx="219456" cy="219456"/>
          </a:xfrm>
          <a:prstGeom prst="rect">
            <a:avLst/>
          </a:prstGeom>
          <a:solidFill>
            <a:schemeClr val="accent3"/>
          </a:solidFill>
          <a:ln/>
        </p:spPr>
      </p:sp>
      <p:sp>
        <p:nvSpPr>
          <p:cNvPr id="28" name="rating cell"/>
          <p:cNvSpPr/>
          <p:nvPr/>
        </p:nvSpPr>
        <p:spPr>
          <a:xfrm>
            <a:off x="3364992" y="1993392"/>
            <a:ext cx="219456" cy="219456"/>
          </a:xfrm>
          <a:prstGeom prst="rect">
            <a:avLst/>
          </a:prstGeom>
          <a:solidFill>
            <a:schemeClr val="bg2"/>
          </a:solidFill>
          <a:ln/>
        </p:spPr>
      </p:sp>
      <p:sp>
        <p:nvSpPr>
          <p:cNvPr id="29" name="rating cell"/>
          <p:cNvSpPr/>
          <p:nvPr/>
        </p:nvSpPr>
        <p:spPr>
          <a:xfrm>
            <a:off x="3621024" y="1993392"/>
            <a:ext cx="219456" cy="219456"/>
          </a:xfrm>
          <a:prstGeom prst="rect">
            <a:avLst/>
          </a:prstGeom>
          <a:solidFill>
            <a:schemeClr val="accent3"/>
          </a:solidFill>
          <a:ln/>
        </p:spPr>
      </p:sp>
      <p:sp>
        <p:nvSpPr>
          <p:cNvPr id="30" name="rating cell"/>
          <p:cNvSpPr/>
          <p:nvPr/>
        </p:nvSpPr>
        <p:spPr>
          <a:xfrm>
            <a:off x="3877056" y="1993392"/>
            <a:ext cx="219456" cy="219456"/>
          </a:xfrm>
          <a:prstGeom prst="rect">
            <a:avLst/>
          </a:prstGeom>
          <a:solidFill>
            <a:schemeClr val="bg2"/>
          </a:solidFill>
          <a:ln/>
        </p:spPr>
      </p:sp>
      <p:sp>
        <p:nvSpPr>
          <p:cNvPr id="31" name="rating cell"/>
          <p:cNvSpPr/>
          <p:nvPr/>
        </p:nvSpPr>
        <p:spPr>
          <a:xfrm>
            <a:off x="548640" y="2249424"/>
            <a:ext cx="219456" cy="219456"/>
          </a:xfrm>
          <a:prstGeom prst="rect">
            <a:avLst/>
          </a:prstGeom>
          <a:solidFill>
            <a:schemeClr val="accent3"/>
          </a:solidFill>
          <a:ln/>
        </p:spPr>
      </p:sp>
      <p:sp>
        <p:nvSpPr>
          <p:cNvPr id="32" name="rating cell"/>
          <p:cNvSpPr/>
          <p:nvPr/>
        </p:nvSpPr>
        <p:spPr>
          <a:xfrm>
            <a:off x="804672" y="2249424"/>
            <a:ext cx="219456" cy="219456"/>
          </a:xfrm>
          <a:prstGeom prst="rect">
            <a:avLst/>
          </a:prstGeom>
          <a:solidFill>
            <a:schemeClr val="accent3"/>
          </a:solidFill>
          <a:ln/>
        </p:spPr>
      </p:sp>
      <p:sp>
        <p:nvSpPr>
          <p:cNvPr id="33" name="rating cell"/>
          <p:cNvSpPr/>
          <p:nvPr/>
        </p:nvSpPr>
        <p:spPr>
          <a:xfrm>
            <a:off x="1060704" y="2249424"/>
            <a:ext cx="219456" cy="219456"/>
          </a:xfrm>
          <a:prstGeom prst="rect">
            <a:avLst/>
          </a:prstGeom>
          <a:solidFill>
            <a:schemeClr val="bg2"/>
          </a:solidFill>
          <a:ln/>
        </p:spPr>
      </p:sp>
      <p:sp>
        <p:nvSpPr>
          <p:cNvPr id="34" name="rating cell"/>
          <p:cNvSpPr/>
          <p:nvPr/>
        </p:nvSpPr>
        <p:spPr>
          <a:xfrm>
            <a:off x="1316736" y="2249424"/>
            <a:ext cx="219456" cy="219456"/>
          </a:xfrm>
          <a:prstGeom prst="rect">
            <a:avLst/>
          </a:prstGeom>
          <a:solidFill>
            <a:schemeClr val="bg2"/>
          </a:solidFill>
          <a:ln/>
        </p:spPr>
      </p:sp>
      <p:sp>
        <p:nvSpPr>
          <p:cNvPr id="35" name="rating cell"/>
          <p:cNvSpPr/>
          <p:nvPr/>
        </p:nvSpPr>
        <p:spPr>
          <a:xfrm>
            <a:off x="1572768" y="2249424"/>
            <a:ext cx="219456" cy="219456"/>
          </a:xfrm>
          <a:prstGeom prst="rect">
            <a:avLst/>
          </a:prstGeom>
          <a:solidFill>
            <a:schemeClr val="bg2"/>
          </a:solidFill>
          <a:ln/>
        </p:spPr>
      </p:sp>
      <p:sp>
        <p:nvSpPr>
          <p:cNvPr id="36" name="rating cell"/>
          <p:cNvSpPr/>
          <p:nvPr/>
        </p:nvSpPr>
        <p:spPr>
          <a:xfrm>
            <a:off x="1828800" y="2249424"/>
            <a:ext cx="219456" cy="219456"/>
          </a:xfrm>
          <a:prstGeom prst="rect">
            <a:avLst/>
          </a:prstGeom>
          <a:solidFill>
            <a:schemeClr val="bg2"/>
          </a:solidFill>
          <a:ln/>
        </p:spPr>
      </p:sp>
      <p:sp>
        <p:nvSpPr>
          <p:cNvPr id="37" name="rating cell"/>
          <p:cNvSpPr/>
          <p:nvPr/>
        </p:nvSpPr>
        <p:spPr>
          <a:xfrm>
            <a:off x="2084832" y="2249424"/>
            <a:ext cx="219456" cy="219456"/>
          </a:xfrm>
          <a:prstGeom prst="rect">
            <a:avLst/>
          </a:prstGeom>
          <a:solidFill>
            <a:schemeClr val="bg2"/>
          </a:solidFill>
          <a:ln/>
        </p:spPr>
      </p:sp>
      <p:sp>
        <p:nvSpPr>
          <p:cNvPr id="38" name="rating cell"/>
          <p:cNvSpPr/>
          <p:nvPr/>
        </p:nvSpPr>
        <p:spPr>
          <a:xfrm>
            <a:off x="2340864" y="2249424"/>
            <a:ext cx="219456" cy="219456"/>
          </a:xfrm>
          <a:prstGeom prst="rect">
            <a:avLst/>
          </a:prstGeom>
          <a:solidFill>
            <a:schemeClr val="bg2"/>
          </a:solidFill>
          <a:ln/>
        </p:spPr>
      </p:sp>
      <p:sp>
        <p:nvSpPr>
          <p:cNvPr id="39" name="rating cell"/>
          <p:cNvSpPr/>
          <p:nvPr/>
        </p:nvSpPr>
        <p:spPr>
          <a:xfrm>
            <a:off x="2596896" y="2249424"/>
            <a:ext cx="219456" cy="219456"/>
          </a:xfrm>
          <a:prstGeom prst="rect">
            <a:avLst/>
          </a:prstGeom>
          <a:solidFill>
            <a:schemeClr val="accent3"/>
          </a:solidFill>
          <a:ln/>
        </p:spPr>
      </p:sp>
      <p:sp>
        <p:nvSpPr>
          <p:cNvPr id="40" name="rating cell"/>
          <p:cNvSpPr/>
          <p:nvPr/>
        </p:nvSpPr>
        <p:spPr>
          <a:xfrm>
            <a:off x="2852928" y="2249424"/>
            <a:ext cx="219456" cy="219456"/>
          </a:xfrm>
          <a:prstGeom prst="rect">
            <a:avLst/>
          </a:prstGeom>
          <a:solidFill>
            <a:schemeClr val="accent3"/>
          </a:solidFill>
          <a:ln/>
        </p:spPr>
      </p:sp>
      <p:sp>
        <p:nvSpPr>
          <p:cNvPr id="41" name="rating cell"/>
          <p:cNvSpPr/>
          <p:nvPr/>
        </p:nvSpPr>
        <p:spPr>
          <a:xfrm>
            <a:off x="3108960" y="2249424"/>
            <a:ext cx="219456" cy="219456"/>
          </a:xfrm>
          <a:prstGeom prst="rect">
            <a:avLst/>
          </a:prstGeom>
          <a:solidFill>
            <a:schemeClr val="accent3"/>
          </a:solidFill>
          <a:ln/>
        </p:spPr>
      </p:sp>
      <p:sp>
        <p:nvSpPr>
          <p:cNvPr id="42" name="rating cell"/>
          <p:cNvSpPr/>
          <p:nvPr/>
        </p:nvSpPr>
        <p:spPr>
          <a:xfrm>
            <a:off x="3364992" y="2249424"/>
            <a:ext cx="219456" cy="219456"/>
          </a:xfrm>
          <a:prstGeom prst="rect">
            <a:avLst/>
          </a:prstGeom>
          <a:solidFill>
            <a:schemeClr val="bg2"/>
          </a:solidFill>
          <a:ln/>
        </p:spPr>
      </p:sp>
      <p:sp>
        <p:nvSpPr>
          <p:cNvPr id="43" name="rating cell"/>
          <p:cNvSpPr/>
          <p:nvPr/>
        </p:nvSpPr>
        <p:spPr>
          <a:xfrm>
            <a:off x="3621024" y="2249424"/>
            <a:ext cx="219456" cy="219456"/>
          </a:xfrm>
          <a:prstGeom prst="rect">
            <a:avLst/>
          </a:prstGeom>
          <a:solidFill>
            <a:schemeClr val="bg2"/>
          </a:solidFill>
          <a:ln/>
        </p:spPr>
      </p:sp>
      <p:sp>
        <p:nvSpPr>
          <p:cNvPr id="44" name="rating cell"/>
          <p:cNvSpPr/>
          <p:nvPr/>
        </p:nvSpPr>
        <p:spPr>
          <a:xfrm>
            <a:off x="3877056" y="2249424"/>
            <a:ext cx="219456" cy="219456"/>
          </a:xfrm>
          <a:prstGeom prst="rect">
            <a:avLst/>
          </a:prstGeom>
          <a:solidFill>
            <a:schemeClr val="accent3"/>
          </a:solidFill>
          <a:ln/>
        </p:spPr>
      </p:sp>
      <p:sp>
        <p:nvSpPr>
          <p:cNvPr id="45" name="rating cell"/>
          <p:cNvSpPr/>
          <p:nvPr/>
        </p:nvSpPr>
        <p:spPr>
          <a:xfrm>
            <a:off x="548640" y="2505456"/>
            <a:ext cx="219456" cy="219456"/>
          </a:xfrm>
          <a:prstGeom prst="rect">
            <a:avLst/>
          </a:prstGeom>
          <a:solidFill>
            <a:schemeClr val="bg2"/>
          </a:solidFill>
          <a:ln/>
        </p:spPr>
      </p:sp>
      <p:sp>
        <p:nvSpPr>
          <p:cNvPr id="46" name="rating cell"/>
          <p:cNvSpPr/>
          <p:nvPr/>
        </p:nvSpPr>
        <p:spPr>
          <a:xfrm>
            <a:off x="804672" y="2505456"/>
            <a:ext cx="219456" cy="219456"/>
          </a:xfrm>
          <a:prstGeom prst="rect">
            <a:avLst/>
          </a:prstGeom>
          <a:solidFill>
            <a:schemeClr val="accent3"/>
          </a:solidFill>
          <a:ln/>
        </p:spPr>
      </p:sp>
      <p:sp>
        <p:nvSpPr>
          <p:cNvPr id="47" name="rating cell"/>
          <p:cNvSpPr/>
          <p:nvPr/>
        </p:nvSpPr>
        <p:spPr>
          <a:xfrm>
            <a:off x="1060704" y="2505456"/>
            <a:ext cx="219456" cy="219456"/>
          </a:xfrm>
          <a:prstGeom prst="rect">
            <a:avLst/>
          </a:prstGeom>
          <a:solidFill>
            <a:schemeClr val="bg2"/>
          </a:solidFill>
          <a:ln/>
        </p:spPr>
      </p:sp>
      <p:sp>
        <p:nvSpPr>
          <p:cNvPr id="48" name="rating cell"/>
          <p:cNvSpPr/>
          <p:nvPr/>
        </p:nvSpPr>
        <p:spPr>
          <a:xfrm>
            <a:off x="1316736" y="2505456"/>
            <a:ext cx="219456" cy="219456"/>
          </a:xfrm>
          <a:prstGeom prst="rect">
            <a:avLst/>
          </a:prstGeom>
          <a:solidFill>
            <a:schemeClr val="bg2"/>
          </a:solidFill>
          <a:ln/>
        </p:spPr>
      </p:sp>
      <p:sp>
        <p:nvSpPr>
          <p:cNvPr id="49" name="rating cell"/>
          <p:cNvSpPr/>
          <p:nvPr/>
        </p:nvSpPr>
        <p:spPr>
          <a:xfrm>
            <a:off x="1572768" y="2505456"/>
            <a:ext cx="219456" cy="219456"/>
          </a:xfrm>
          <a:prstGeom prst="rect">
            <a:avLst/>
          </a:prstGeom>
          <a:solidFill>
            <a:schemeClr val="accent3"/>
          </a:solidFill>
          <a:ln/>
        </p:spPr>
      </p:sp>
      <p:sp>
        <p:nvSpPr>
          <p:cNvPr id="50" name="rating cell"/>
          <p:cNvSpPr/>
          <p:nvPr/>
        </p:nvSpPr>
        <p:spPr>
          <a:xfrm>
            <a:off x="1828800" y="2505456"/>
            <a:ext cx="219456" cy="219456"/>
          </a:xfrm>
          <a:prstGeom prst="rect">
            <a:avLst/>
          </a:prstGeom>
          <a:solidFill>
            <a:schemeClr val="bg2"/>
          </a:solidFill>
          <a:ln/>
        </p:spPr>
      </p:sp>
      <p:sp>
        <p:nvSpPr>
          <p:cNvPr id="51" name="rating cell"/>
          <p:cNvSpPr/>
          <p:nvPr/>
        </p:nvSpPr>
        <p:spPr>
          <a:xfrm>
            <a:off x="2084832" y="2505456"/>
            <a:ext cx="219456" cy="219456"/>
          </a:xfrm>
          <a:prstGeom prst="rect">
            <a:avLst/>
          </a:prstGeom>
          <a:solidFill>
            <a:schemeClr val="bg2"/>
          </a:solidFill>
          <a:ln/>
        </p:spPr>
      </p:sp>
      <p:sp>
        <p:nvSpPr>
          <p:cNvPr id="52" name="rating cell"/>
          <p:cNvSpPr/>
          <p:nvPr/>
        </p:nvSpPr>
        <p:spPr>
          <a:xfrm>
            <a:off x="2340864" y="2505456"/>
            <a:ext cx="219456" cy="219456"/>
          </a:xfrm>
          <a:prstGeom prst="rect">
            <a:avLst/>
          </a:prstGeom>
          <a:solidFill>
            <a:schemeClr val="bg2"/>
          </a:solidFill>
          <a:ln/>
        </p:spPr>
      </p:sp>
      <p:sp>
        <p:nvSpPr>
          <p:cNvPr id="53" name="rating cell"/>
          <p:cNvSpPr/>
          <p:nvPr/>
        </p:nvSpPr>
        <p:spPr>
          <a:xfrm>
            <a:off x="2596896" y="2505456"/>
            <a:ext cx="219456" cy="219456"/>
          </a:xfrm>
          <a:prstGeom prst="rect">
            <a:avLst/>
          </a:prstGeom>
          <a:solidFill>
            <a:schemeClr val="accent3"/>
          </a:solidFill>
          <a:ln/>
        </p:spPr>
      </p:sp>
      <p:sp>
        <p:nvSpPr>
          <p:cNvPr id="54" name="rating cell"/>
          <p:cNvSpPr/>
          <p:nvPr/>
        </p:nvSpPr>
        <p:spPr>
          <a:xfrm>
            <a:off x="2852928" y="2505456"/>
            <a:ext cx="219456" cy="219456"/>
          </a:xfrm>
          <a:prstGeom prst="rect">
            <a:avLst/>
          </a:prstGeom>
          <a:solidFill>
            <a:schemeClr val="bg2"/>
          </a:solidFill>
          <a:ln/>
        </p:spPr>
      </p:sp>
      <p:sp>
        <p:nvSpPr>
          <p:cNvPr id="55" name="rating cell"/>
          <p:cNvSpPr/>
          <p:nvPr/>
        </p:nvSpPr>
        <p:spPr>
          <a:xfrm>
            <a:off x="3108960" y="2505456"/>
            <a:ext cx="219456" cy="219456"/>
          </a:xfrm>
          <a:prstGeom prst="rect">
            <a:avLst/>
          </a:prstGeom>
          <a:solidFill>
            <a:schemeClr val="bg2"/>
          </a:solidFill>
          <a:ln/>
        </p:spPr>
      </p:sp>
      <p:sp>
        <p:nvSpPr>
          <p:cNvPr id="56" name="rating cell"/>
          <p:cNvSpPr/>
          <p:nvPr/>
        </p:nvSpPr>
        <p:spPr>
          <a:xfrm>
            <a:off x="3364992" y="2505456"/>
            <a:ext cx="219456" cy="219456"/>
          </a:xfrm>
          <a:prstGeom prst="rect">
            <a:avLst/>
          </a:prstGeom>
          <a:solidFill>
            <a:schemeClr val="accent3"/>
          </a:solidFill>
          <a:ln/>
        </p:spPr>
      </p:sp>
      <p:sp>
        <p:nvSpPr>
          <p:cNvPr id="57" name="rating cell"/>
          <p:cNvSpPr/>
          <p:nvPr/>
        </p:nvSpPr>
        <p:spPr>
          <a:xfrm>
            <a:off x="3621024" y="2505456"/>
            <a:ext cx="219456" cy="219456"/>
          </a:xfrm>
          <a:prstGeom prst="rect">
            <a:avLst/>
          </a:prstGeom>
          <a:solidFill>
            <a:schemeClr val="bg2"/>
          </a:solidFill>
          <a:ln/>
        </p:spPr>
      </p:sp>
      <p:sp>
        <p:nvSpPr>
          <p:cNvPr id="58" name="rating cell"/>
          <p:cNvSpPr/>
          <p:nvPr/>
        </p:nvSpPr>
        <p:spPr>
          <a:xfrm>
            <a:off x="3877056" y="2505456"/>
            <a:ext cx="219456" cy="219456"/>
          </a:xfrm>
          <a:prstGeom prst="rect">
            <a:avLst/>
          </a:prstGeom>
          <a:solidFill>
            <a:schemeClr val="bg2"/>
          </a:solidFill>
          <a:ln/>
        </p:spPr>
      </p:sp>
      <p:sp>
        <p:nvSpPr>
          <p:cNvPr id="59" name="rating cell"/>
          <p:cNvSpPr/>
          <p:nvPr/>
        </p:nvSpPr>
        <p:spPr>
          <a:xfrm>
            <a:off x="548640" y="2761488"/>
            <a:ext cx="219456" cy="219456"/>
          </a:xfrm>
          <a:prstGeom prst="rect">
            <a:avLst/>
          </a:prstGeom>
          <a:solidFill>
            <a:schemeClr val="bg2"/>
          </a:solidFill>
          <a:ln/>
        </p:spPr>
      </p:sp>
      <p:sp>
        <p:nvSpPr>
          <p:cNvPr id="60" name="rating cell"/>
          <p:cNvSpPr/>
          <p:nvPr/>
        </p:nvSpPr>
        <p:spPr>
          <a:xfrm>
            <a:off x="804672" y="2761488"/>
            <a:ext cx="219456" cy="219456"/>
          </a:xfrm>
          <a:prstGeom prst="rect">
            <a:avLst/>
          </a:prstGeom>
          <a:solidFill>
            <a:schemeClr val="bg2"/>
          </a:solidFill>
          <a:ln/>
        </p:spPr>
      </p:sp>
      <p:sp>
        <p:nvSpPr>
          <p:cNvPr id="61" name="rating cell"/>
          <p:cNvSpPr/>
          <p:nvPr/>
        </p:nvSpPr>
        <p:spPr>
          <a:xfrm>
            <a:off x="1060704" y="2761488"/>
            <a:ext cx="219456" cy="219456"/>
          </a:xfrm>
          <a:prstGeom prst="rect">
            <a:avLst/>
          </a:prstGeom>
          <a:solidFill>
            <a:schemeClr val="accent3"/>
          </a:solidFill>
          <a:ln/>
        </p:spPr>
      </p:sp>
      <p:sp>
        <p:nvSpPr>
          <p:cNvPr id="62" name="rating cell"/>
          <p:cNvSpPr/>
          <p:nvPr/>
        </p:nvSpPr>
        <p:spPr>
          <a:xfrm>
            <a:off x="1316736" y="2761488"/>
            <a:ext cx="219456" cy="219456"/>
          </a:xfrm>
          <a:prstGeom prst="rect">
            <a:avLst/>
          </a:prstGeom>
          <a:solidFill>
            <a:schemeClr val="accent3"/>
          </a:solidFill>
          <a:ln/>
        </p:spPr>
      </p:sp>
      <p:sp>
        <p:nvSpPr>
          <p:cNvPr id="63" name="rating cell"/>
          <p:cNvSpPr/>
          <p:nvPr/>
        </p:nvSpPr>
        <p:spPr>
          <a:xfrm>
            <a:off x="1572768" y="2761488"/>
            <a:ext cx="219456" cy="219456"/>
          </a:xfrm>
          <a:prstGeom prst="rect">
            <a:avLst/>
          </a:prstGeom>
          <a:solidFill>
            <a:schemeClr val="bg2"/>
          </a:solidFill>
          <a:ln/>
        </p:spPr>
      </p:sp>
      <p:sp>
        <p:nvSpPr>
          <p:cNvPr id="64" name="rating cell"/>
          <p:cNvSpPr/>
          <p:nvPr/>
        </p:nvSpPr>
        <p:spPr>
          <a:xfrm>
            <a:off x="1828800" y="2761488"/>
            <a:ext cx="219456" cy="219456"/>
          </a:xfrm>
          <a:prstGeom prst="rect">
            <a:avLst/>
          </a:prstGeom>
          <a:solidFill>
            <a:schemeClr val="bg2"/>
          </a:solidFill>
          <a:ln/>
        </p:spPr>
      </p:sp>
      <p:sp>
        <p:nvSpPr>
          <p:cNvPr id="65" name="rating cell"/>
          <p:cNvSpPr/>
          <p:nvPr/>
        </p:nvSpPr>
        <p:spPr>
          <a:xfrm>
            <a:off x="2084832" y="2761488"/>
            <a:ext cx="219456" cy="219456"/>
          </a:xfrm>
          <a:prstGeom prst="rect">
            <a:avLst/>
          </a:prstGeom>
          <a:solidFill>
            <a:schemeClr val="bg2"/>
          </a:solidFill>
          <a:ln/>
        </p:spPr>
      </p:sp>
      <p:sp>
        <p:nvSpPr>
          <p:cNvPr id="66" name="rating cell"/>
          <p:cNvSpPr/>
          <p:nvPr/>
        </p:nvSpPr>
        <p:spPr>
          <a:xfrm>
            <a:off x="2340864" y="2761488"/>
            <a:ext cx="219456" cy="219456"/>
          </a:xfrm>
          <a:prstGeom prst="rect">
            <a:avLst/>
          </a:prstGeom>
          <a:solidFill>
            <a:schemeClr val="accent3"/>
          </a:solidFill>
          <a:ln/>
        </p:spPr>
      </p:sp>
      <p:sp>
        <p:nvSpPr>
          <p:cNvPr id="67" name="rating cell"/>
          <p:cNvSpPr/>
          <p:nvPr/>
        </p:nvSpPr>
        <p:spPr>
          <a:xfrm>
            <a:off x="2596896" y="2761488"/>
            <a:ext cx="219456" cy="219456"/>
          </a:xfrm>
          <a:prstGeom prst="rect">
            <a:avLst/>
          </a:prstGeom>
          <a:solidFill>
            <a:schemeClr val="bg2"/>
          </a:solidFill>
          <a:ln/>
        </p:spPr>
      </p:sp>
      <p:sp>
        <p:nvSpPr>
          <p:cNvPr id="68" name="rating cell"/>
          <p:cNvSpPr/>
          <p:nvPr/>
        </p:nvSpPr>
        <p:spPr>
          <a:xfrm>
            <a:off x="2852928" y="2761488"/>
            <a:ext cx="219456" cy="219456"/>
          </a:xfrm>
          <a:prstGeom prst="rect">
            <a:avLst/>
          </a:prstGeom>
          <a:solidFill>
            <a:schemeClr val="accent3"/>
          </a:solidFill>
          <a:ln/>
        </p:spPr>
      </p:sp>
      <p:sp>
        <p:nvSpPr>
          <p:cNvPr id="69" name="rating cell"/>
          <p:cNvSpPr/>
          <p:nvPr/>
        </p:nvSpPr>
        <p:spPr>
          <a:xfrm>
            <a:off x="3108960" y="2761488"/>
            <a:ext cx="219456" cy="219456"/>
          </a:xfrm>
          <a:prstGeom prst="rect">
            <a:avLst/>
          </a:prstGeom>
          <a:solidFill>
            <a:schemeClr val="bg2"/>
          </a:solidFill>
          <a:ln/>
        </p:spPr>
      </p:sp>
      <p:sp>
        <p:nvSpPr>
          <p:cNvPr id="70" name="rating cell"/>
          <p:cNvSpPr/>
          <p:nvPr/>
        </p:nvSpPr>
        <p:spPr>
          <a:xfrm>
            <a:off x="3364992" y="2761488"/>
            <a:ext cx="219456" cy="219456"/>
          </a:xfrm>
          <a:prstGeom prst="rect">
            <a:avLst/>
          </a:prstGeom>
          <a:solidFill>
            <a:schemeClr val="accent3"/>
          </a:solidFill>
          <a:ln/>
        </p:spPr>
      </p:sp>
      <p:sp>
        <p:nvSpPr>
          <p:cNvPr id="71" name="rating cell"/>
          <p:cNvSpPr/>
          <p:nvPr/>
        </p:nvSpPr>
        <p:spPr>
          <a:xfrm>
            <a:off x="3621024" y="2761488"/>
            <a:ext cx="219456" cy="219456"/>
          </a:xfrm>
          <a:prstGeom prst="rect">
            <a:avLst/>
          </a:prstGeom>
          <a:solidFill>
            <a:schemeClr val="accent3"/>
          </a:solidFill>
          <a:ln/>
        </p:spPr>
      </p:sp>
      <p:sp>
        <p:nvSpPr>
          <p:cNvPr id="72" name="rating cell"/>
          <p:cNvSpPr/>
          <p:nvPr/>
        </p:nvSpPr>
        <p:spPr>
          <a:xfrm>
            <a:off x="3877056" y="2761488"/>
            <a:ext cx="219456" cy="219456"/>
          </a:xfrm>
          <a:prstGeom prst="rect">
            <a:avLst/>
          </a:prstGeom>
          <a:solidFill>
            <a:schemeClr val="bg2"/>
          </a:solidFill>
          <a:ln/>
        </p:spPr>
      </p:sp>
      <p:sp>
        <p:nvSpPr>
          <p:cNvPr id="73" name="rating cell"/>
          <p:cNvSpPr/>
          <p:nvPr/>
        </p:nvSpPr>
        <p:spPr>
          <a:xfrm>
            <a:off x="548640" y="3017520"/>
            <a:ext cx="219456" cy="219456"/>
          </a:xfrm>
          <a:prstGeom prst="rect">
            <a:avLst/>
          </a:prstGeom>
          <a:solidFill>
            <a:schemeClr val="bg2"/>
          </a:solidFill>
          <a:ln/>
        </p:spPr>
      </p:sp>
      <p:sp>
        <p:nvSpPr>
          <p:cNvPr id="74" name="rating cell"/>
          <p:cNvSpPr/>
          <p:nvPr/>
        </p:nvSpPr>
        <p:spPr>
          <a:xfrm>
            <a:off x="804672" y="3017520"/>
            <a:ext cx="219456" cy="219456"/>
          </a:xfrm>
          <a:prstGeom prst="rect">
            <a:avLst/>
          </a:prstGeom>
          <a:solidFill>
            <a:schemeClr val="bg2"/>
          </a:solidFill>
          <a:ln/>
        </p:spPr>
      </p:sp>
      <p:sp>
        <p:nvSpPr>
          <p:cNvPr id="75" name="rating cell"/>
          <p:cNvSpPr/>
          <p:nvPr/>
        </p:nvSpPr>
        <p:spPr>
          <a:xfrm>
            <a:off x="1060704" y="3017520"/>
            <a:ext cx="219456" cy="219456"/>
          </a:xfrm>
          <a:prstGeom prst="rect">
            <a:avLst/>
          </a:prstGeom>
          <a:solidFill>
            <a:schemeClr val="bg2"/>
          </a:solidFill>
          <a:ln/>
        </p:spPr>
      </p:sp>
      <p:sp>
        <p:nvSpPr>
          <p:cNvPr id="76" name="rating cell"/>
          <p:cNvSpPr/>
          <p:nvPr/>
        </p:nvSpPr>
        <p:spPr>
          <a:xfrm>
            <a:off x="1316736" y="3017520"/>
            <a:ext cx="219456" cy="219456"/>
          </a:xfrm>
          <a:prstGeom prst="rect">
            <a:avLst/>
          </a:prstGeom>
          <a:solidFill>
            <a:schemeClr val="accent3"/>
          </a:solidFill>
          <a:ln/>
        </p:spPr>
      </p:sp>
      <p:sp>
        <p:nvSpPr>
          <p:cNvPr id="77" name="rating cell"/>
          <p:cNvSpPr/>
          <p:nvPr/>
        </p:nvSpPr>
        <p:spPr>
          <a:xfrm>
            <a:off x="1572768" y="3017520"/>
            <a:ext cx="219456" cy="219456"/>
          </a:xfrm>
          <a:prstGeom prst="rect">
            <a:avLst/>
          </a:prstGeom>
          <a:solidFill>
            <a:schemeClr val="bg2"/>
          </a:solidFill>
          <a:ln/>
        </p:spPr>
      </p:sp>
      <p:sp>
        <p:nvSpPr>
          <p:cNvPr id="78" name="rating cell"/>
          <p:cNvSpPr/>
          <p:nvPr/>
        </p:nvSpPr>
        <p:spPr>
          <a:xfrm>
            <a:off x="1828800" y="3017520"/>
            <a:ext cx="219456" cy="219456"/>
          </a:xfrm>
          <a:prstGeom prst="rect">
            <a:avLst/>
          </a:prstGeom>
          <a:solidFill>
            <a:schemeClr val="bg2"/>
          </a:solidFill>
          <a:ln/>
        </p:spPr>
      </p:sp>
      <p:sp>
        <p:nvSpPr>
          <p:cNvPr id="79" name="rating cell"/>
          <p:cNvSpPr/>
          <p:nvPr/>
        </p:nvSpPr>
        <p:spPr>
          <a:xfrm>
            <a:off x="2084832" y="3017520"/>
            <a:ext cx="219456" cy="219456"/>
          </a:xfrm>
          <a:prstGeom prst="rect">
            <a:avLst/>
          </a:prstGeom>
          <a:solidFill>
            <a:schemeClr val="bg2"/>
          </a:solidFill>
          <a:ln/>
        </p:spPr>
      </p:sp>
      <p:sp>
        <p:nvSpPr>
          <p:cNvPr id="80" name="rating cell"/>
          <p:cNvSpPr/>
          <p:nvPr/>
        </p:nvSpPr>
        <p:spPr>
          <a:xfrm>
            <a:off x="2340864" y="3017520"/>
            <a:ext cx="219456" cy="219456"/>
          </a:xfrm>
          <a:prstGeom prst="rect">
            <a:avLst/>
          </a:prstGeom>
          <a:solidFill>
            <a:schemeClr val="bg2"/>
          </a:solidFill>
          <a:ln/>
        </p:spPr>
      </p:sp>
      <p:sp>
        <p:nvSpPr>
          <p:cNvPr id="81" name="rating cell"/>
          <p:cNvSpPr/>
          <p:nvPr/>
        </p:nvSpPr>
        <p:spPr>
          <a:xfrm>
            <a:off x="2596896" y="3017520"/>
            <a:ext cx="219456" cy="219456"/>
          </a:xfrm>
          <a:prstGeom prst="rect">
            <a:avLst/>
          </a:prstGeom>
          <a:solidFill>
            <a:schemeClr val="accent3"/>
          </a:solidFill>
          <a:ln/>
        </p:spPr>
      </p:sp>
      <p:sp>
        <p:nvSpPr>
          <p:cNvPr id="82" name="rating cell"/>
          <p:cNvSpPr/>
          <p:nvPr/>
        </p:nvSpPr>
        <p:spPr>
          <a:xfrm>
            <a:off x="2852928" y="3017520"/>
            <a:ext cx="219456" cy="219456"/>
          </a:xfrm>
          <a:prstGeom prst="rect">
            <a:avLst/>
          </a:prstGeom>
          <a:solidFill>
            <a:schemeClr val="accent3"/>
          </a:solidFill>
          <a:ln/>
        </p:spPr>
      </p:sp>
      <p:sp>
        <p:nvSpPr>
          <p:cNvPr id="83" name="rating cell"/>
          <p:cNvSpPr/>
          <p:nvPr/>
        </p:nvSpPr>
        <p:spPr>
          <a:xfrm>
            <a:off x="3108960" y="3017520"/>
            <a:ext cx="219456" cy="219456"/>
          </a:xfrm>
          <a:prstGeom prst="rect">
            <a:avLst/>
          </a:prstGeom>
          <a:solidFill>
            <a:schemeClr val="bg2"/>
          </a:solidFill>
          <a:ln/>
        </p:spPr>
      </p:sp>
      <p:sp>
        <p:nvSpPr>
          <p:cNvPr id="84" name="rating cell"/>
          <p:cNvSpPr/>
          <p:nvPr/>
        </p:nvSpPr>
        <p:spPr>
          <a:xfrm>
            <a:off x="3364992" y="3017520"/>
            <a:ext cx="219456" cy="219456"/>
          </a:xfrm>
          <a:prstGeom prst="rect">
            <a:avLst/>
          </a:prstGeom>
          <a:solidFill>
            <a:schemeClr val="accent3"/>
          </a:solidFill>
          <a:ln/>
        </p:spPr>
      </p:sp>
      <p:sp>
        <p:nvSpPr>
          <p:cNvPr id="85" name="rating cell"/>
          <p:cNvSpPr/>
          <p:nvPr/>
        </p:nvSpPr>
        <p:spPr>
          <a:xfrm>
            <a:off x="3621024" y="3017520"/>
            <a:ext cx="219456" cy="219456"/>
          </a:xfrm>
          <a:prstGeom prst="rect">
            <a:avLst/>
          </a:prstGeom>
          <a:solidFill>
            <a:schemeClr val="accent3"/>
          </a:solidFill>
          <a:ln/>
        </p:spPr>
      </p:sp>
      <p:sp>
        <p:nvSpPr>
          <p:cNvPr id="86" name="rating cell"/>
          <p:cNvSpPr/>
          <p:nvPr/>
        </p:nvSpPr>
        <p:spPr>
          <a:xfrm>
            <a:off x="3877056" y="3017520"/>
            <a:ext cx="219456" cy="219456"/>
          </a:xfrm>
          <a:prstGeom prst="rect">
            <a:avLst/>
          </a:prstGeom>
          <a:solidFill>
            <a:schemeClr val="bg2"/>
          </a:solidFill>
          <a:ln/>
        </p:spPr>
      </p:sp>
      <p:sp>
        <p:nvSpPr>
          <p:cNvPr id="87" name="rating cell"/>
          <p:cNvSpPr/>
          <p:nvPr/>
        </p:nvSpPr>
        <p:spPr>
          <a:xfrm>
            <a:off x="548640" y="3273552"/>
            <a:ext cx="219456" cy="219456"/>
          </a:xfrm>
          <a:prstGeom prst="rect">
            <a:avLst/>
          </a:prstGeom>
          <a:solidFill>
            <a:schemeClr val="bg2"/>
          </a:solidFill>
          <a:ln/>
        </p:spPr>
      </p:sp>
      <p:sp>
        <p:nvSpPr>
          <p:cNvPr id="88" name="rating cell"/>
          <p:cNvSpPr/>
          <p:nvPr/>
        </p:nvSpPr>
        <p:spPr>
          <a:xfrm>
            <a:off x="804672" y="3273552"/>
            <a:ext cx="219456" cy="219456"/>
          </a:xfrm>
          <a:prstGeom prst="rect">
            <a:avLst/>
          </a:prstGeom>
          <a:solidFill>
            <a:schemeClr val="bg2"/>
          </a:solidFill>
          <a:ln/>
        </p:spPr>
      </p:sp>
      <p:sp>
        <p:nvSpPr>
          <p:cNvPr id="89" name="rating cell"/>
          <p:cNvSpPr/>
          <p:nvPr/>
        </p:nvSpPr>
        <p:spPr>
          <a:xfrm>
            <a:off x="1060704" y="3273552"/>
            <a:ext cx="219456" cy="219456"/>
          </a:xfrm>
          <a:prstGeom prst="rect">
            <a:avLst/>
          </a:prstGeom>
          <a:solidFill>
            <a:schemeClr val="bg2"/>
          </a:solidFill>
          <a:ln/>
        </p:spPr>
      </p:sp>
      <p:sp>
        <p:nvSpPr>
          <p:cNvPr id="90" name="rating cell"/>
          <p:cNvSpPr/>
          <p:nvPr/>
        </p:nvSpPr>
        <p:spPr>
          <a:xfrm>
            <a:off x="1316736" y="3273552"/>
            <a:ext cx="219456" cy="219456"/>
          </a:xfrm>
          <a:prstGeom prst="rect">
            <a:avLst/>
          </a:prstGeom>
          <a:solidFill>
            <a:schemeClr val="bg2"/>
          </a:solidFill>
          <a:ln/>
        </p:spPr>
      </p:sp>
      <p:sp>
        <p:nvSpPr>
          <p:cNvPr id="91" name="rating cell"/>
          <p:cNvSpPr/>
          <p:nvPr/>
        </p:nvSpPr>
        <p:spPr>
          <a:xfrm>
            <a:off x="1572768" y="3273552"/>
            <a:ext cx="219456" cy="219456"/>
          </a:xfrm>
          <a:prstGeom prst="rect">
            <a:avLst/>
          </a:prstGeom>
          <a:solidFill>
            <a:schemeClr val="accent3"/>
          </a:solidFill>
          <a:ln/>
        </p:spPr>
      </p:sp>
      <p:sp>
        <p:nvSpPr>
          <p:cNvPr id="92" name="rating cell"/>
          <p:cNvSpPr/>
          <p:nvPr/>
        </p:nvSpPr>
        <p:spPr>
          <a:xfrm>
            <a:off x="1828800" y="3273552"/>
            <a:ext cx="219456" cy="219456"/>
          </a:xfrm>
          <a:prstGeom prst="rect">
            <a:avLst/>
          </a:prstGeom>
          <a:solidFill>
            <a:schemeClr val="accent3"/>
          </a:solidFill>
          <a:ln/>
        </p:spPr>
      </p:sp>
      <p:sp>
        <p:nvSpPr>
          <p:cNvPr id="93" name="rating cell"/>
          <p:cNvSpPr/>
          <p:nvPr/>
        </p:nvSpPr>
        <p:spPr>
          <a:xfrm>
            <a:off x="2084832" y="3273552"/>
            <a:ext cx="219456" cy="219456"/>
          </a:xfrm>
          <a:prstGeom prst="rect">
            <a:avLst/>
          </a:prstGeom>
          <a:solidFill>
            <a:schemeClr val="bg2"/>
          </a:solidFill>
          <a:ln/>
        </p:spPr>
      </p:sp>
      <p:sp>
        <p:nvSpPr>
          <p:cNvPr id="94" name="rating cell"/>
          <p:cNvSpPr/>
          <p:nvPr/>
        </p:nvSpPr>
        <p:spPr>
          <a:xfrm>
            <a:off x="2340864" y="3273552"/>
            <a:ext cx="219456" cy="219456"/>
          </a:xfrm>
          <a:prstGeom prst="rect">
            <a:avLst/>
          </a:prstGeom>
          <a:solidFill>
            <a:schemeClr val="accent3"/>
          </a:solidFill>
          <a:ln/>
        </p:spPr>
      </p:sp>
      <p:sp>
        <p:nvSpPr>
          <p:cNvPr id="95" name="rating cell"/>
          <p:cNvSpPr/>
          <p:nvPr/>
        </p:nvSpPr>
        <p:spPr>
          <a:xfrm>
            <a:off x="2596896" y="3273552"/>
            <a:ext cx="219456" cy="219456"/>
          </a:xfrm>
          <a:prstGeom prst="rect">
            <a:avLst/>
          </a:prstGeom>
          <a:solidFill>
            <a:schemeClr val="bg2"/>
          </a:solidFill>
          <a:ln/>
        </p:spPr>
      </p:sp>
      <p:sp>
        <p:nvSpPr>
          <p:cNvPr id="96" name="rating cell"/>
          <p:cNvSpPr/>
          <p:nvPr/>
        </p:nvSpPr>
        <p:spPr>
          <a:xfrm>
            <a:off x="2852928" y="3273552"/>
            <a:ext cx="219456" cy="219456"/>
          </a:xfrm>
          <a:prstGeom prst="rect">
            <a:avLst/>
          </a:prstGeom>
          <a:solidFill>
            <a:schemeClr val="accent3"/>
          </a:solidFill>
          <a:ln/>
        </p:spPr>
      </p:sp>
      <p:sp>
        <p:nvSpPr>
          <p:cNvPr id="97" name="rating cell"/>
          <p:cNvSpPr/>
          <p:nvPr/>
        </p:nvSpPr>
        <p:spPr>
          <a:xfrm>
            <a:off x="3108960" y="3273552"/>
            <a:ext cx="219456" cy="219456"/>
          </a:xfrm>
          <a:prstGeom prst="rect">
            <a:avLst/>
          </a:prstGeom>
          <a:solidFill>
            <a:schemeClr val="bg2"/>
          </a:solidFill>
          <a:ln/>
        </p:spPr>
      </p:sp>
      <p:sp>
        <p:nvSpPr>
          <p:cNvPr id="98" name="rating cell"/>
          <p:cNvSpPr/>
          <p:nvPr/>
        </p:nvSpPr>
        <p:spPr>
          <a:xfrm>
            <a:off x="3364992" y="3273552"/>
            <a:ext cx="219456" cy="219456"/>
          </a:xfrm>
          <a:prstGeom prst="rect">
            <a:avLst/>
          </a:prstGeom>
          <a:solidFill>
            <a:schemeClr val="bg2"/>
          </a:solidFill>
          <a:ln/>
        </p:spPr>
      </p:sp>
      <p:sp>
        <p:nvSpPr>
          <p:cNvPr id="99" name="rating cell"/>
          <p:cNvSpPr/>
          <p:nvPr/>
        </p:nvSpPr>
        <p:spPr>
          <a:xfrm>
            <a:off x="3621024" y="3273552"/>
            <a:ext cx="219456" cy="219456"/>
          </a:xfrm>
          <a:prstGeom prst="rect">
            <a:avLst/>
          </a:prstGeom>
          <a:solidFill>
            <a:schemeClr val="bg2"/>
          </a:solidFill>
          <a:ln/>
        </p:spPr>
      </p:sp>
      <p:sp>
        <p:nvSpPr>
          <p:cNvPr id="100" name="rating cell"/>
          <p:cNvSpPr/>
          <p:nvPr/>
        </p:nvSpPr>
        <p:spPr>
          <a:xfrm>
            <a:off x="3877056" y="3273552"/>
            <a:ext cx="219456" cy="219456"/>
          </a:xfrm>
          <a:prstGeom prst="rect">
            <a:avLst/>
          </a:prstGeom>
          <a:solidFill>
            <a:schemeClr val="accent3"/>
          </a:solidFill>
          <a:ln/>
        </p:spPr>
      </p:sp>
      <p:sp>
        <p:nvSpPr>
          <p:cNvPr id="101" name="rating cell"/>
          <p:cNvSpPr/>
          <p:nvPr/>
        </p:nvSpPr>
        <p:spPr>
          <a:xfrm>
            <a:off x="548640" y="3529584"/>
            <a:ext cx="219456" cy="219456"/>
          </a:xfrm>
          <a:prstGeom prst="rect">
            <a:avLst/>
          </a:prstGeom>
          <a:solidFill>
            <a:schemeClr val="bg2"/>
          </a:solidFill>
          <a:ln/>
        </p:spPr>
      </p:sp>
      <p:sp>
        <p:nvSpPr>
          <p:cNvPr id="102" name="rating cell"/>
          <p:cNvSpPr/>
          <p:nvPr/>
        </p:nvSpPr>
        <p:spPr>
          <a:xfrm>
            <a:off x="804672" y="3529584"/>
            <a:ext cx="219456" cy="219456"/>
          </a:xfrm>
          <a:prstGeom prst="rect">
            <a:avLst/>
          </a:prstGeom>
          <a:solidFill>
            <a:schemeClr val="accent3"/>
          </a:solidFill>
          <a:ln/>
        </p:spPr>
      </p:sp>
      <p:sp>
        <p:nvSpPr>
          <p:cNvPr id="103" name="rating cell"/>
          <p:cNvSpPr/>
          <p:nvPr/>
        </p:nvSpPr>
        <p:spPr>
          <a:xfrm>
            <a:off x="1060704" y="3529584"/>
            <a:ext cx="219456" cy="219456"/>
          </a:xfrm>
          <a:prstGeom prst="rect">
            <a:avLst/>
          </a:prstGeom>
          <a:solidFill>
            <a:schemeClr val="accent3"/>
          </a:solidFill>
          <a:ln/>
        </p:spPr>
      </p:sp>
      <p:sp>
        <p:nvSpPr>
          <p:cNvPr id="104" name="rating cell"/>
          <p:cNvSpPr/>
          <p:nvPr/>
        </p:nvSpPr>
        <p:spPr>
          <a:xfrm>
            <a:off x="1316736" y="3529584"/>
            <a:ext cx="219456" cy="219456"/>
          </a:xfrm>
          <a:prstGeom prst="rect">
            <a:avLst/>
          </a:prstGeom>
          <a:solidFill>
            <a:schemeClr val="bg2"/>
          </a:solidFill>
          <a:ln/>
        </p:spPr>
      </p:sp>
      <p:sp>
        <p:nvSpPr>
          <p:cNvPr id="105" name="rating cell"/>
          <p:cNvSpPr/>
          <p:nvPr/>
        </p:nvSpPr>
        <p:spPr>
          <a:xfrm>
            <a:off x="1572768" y="3529584"/>
            <a:ext cx="219456" cy="219456"/>
          </a:xfrm>
          <a:prstGeom prst="rect">
            <a:avLst/>
          </a:prstGeom>
          <a:solidFill>
            <a:schemeClr val="bg2"/>
          </a:solidFill>
          <a:ln/>
        </p:spPr>
      </p:sp>
      <p:sp>
        <p:nvSpPr>
          <p:cNvPr id="106" name="rating cell"/>
          <p:cNvSpPr/>
          <p:nvPr/>
        </p:nvSpPr>
        <p:spPr>
          <a:xfrm>
            <a:off x="1828800" y="3529584"/>
            <a:ext cx="219456" cy="219456"/>
          </a:xfrm>
          <a:prstGeom prst="rect">
            <a:avLst/>
          </a:prstGeom>
          <a:solidFill>
            <a:schemeClr val="bg2"/>
          </a:solidFill>
          <a:ln/>
        </p:spPr>
      </p:sp>
      <p:sp>
        <p:nvSpPr>
          <p:cNvPr id="107" name="rating cell"/>
          <p:cNvSpPr/>
          <p:nvPr/>
        </p:nvSpPr>
        <p:spPr>
          <a:xfrm>
            <a:off x="2084832" y="3529584"/>
            <a:ext cx="219456" cy="219456"/>
          </a:xfrm>
          <a:prstGeom prst="rect">
            <a:avLst/>
          </a:prstGeom>
          <a:solidFill>
            <a:schemeClr val="accent3"/>
          </a:solidFill>
          <a:ln/>
        </p:spPr>
      </p:sp>
      <p:sp>
        <p:nvSpPr>
          <p:cNvPr id="108" name="rating cell"/>
          <p:cNvSpPr/>
          <p:nvPr/>
        </p:nvSpPr>
        <p:spPr>
          <a:xfrm>
            <a:off x="2340864" y="3529584"/>
            <a:ext cx="219456" cy="219456"/>
          </a:xfrm>
          <a:prstGeom prst="rect">
            <a:avLst/>
          </a:prstGeom>
          <a:solidFill>
            <a:schemeClr val="bg2"/>
          </a:solidFill>
          <a:ln/>
        </p:spPr>
      </p:sp>
      <p:sp>
        <p:nvSpPr>
          <p:cNvPr id="109" name="rating cell"/>
          <p:cNvSpPr/>
          <p:nvPr/>
        </p:nvSpPr>
        <p:spPr>
          <a:xfrm>
            <a:off x="2596896" y="3529584"/>
            <a:ext cx="219456" cy="219456"/>
          </a:xfrm>
          <a:prstGeom prst="rect">
            <a:avLst/>
          </a:prstGeom>
          <a:solidFill>
            <a:schemeClr val="accent3"/>
          </a:solidFill>
          <a:ln/>
        </p:spPr>
      </p:sp>
      <p:sp>
        <p:nvSpPr>
          <p:cNvPr id="110" name="rating cell"/>
          <p:cNvSpPr/>
          <p:nvPr/>
        </p:nvSpPr>
        <p:spPr>
          <a:xfrm>
            <a:off x="2852928" y="3529584"/>
            <a:ext cx="219456" cy="219456"/>
          </a:xfrm>
          <a:prstGeom prst="rect">
            <a:avLst/>
          </a:prstGeom>
          <a:solidFill>
            <a:schemeClr val="bg2"/>
          </a:solidFill>
          <a:ln/>
        </p:spPr>
      </p:sp>
      <p:sp>
        <p:nvSpPr>
          <p:cNvPr id="111" name="rating cell"/>
          <p:cNvSpPr/>
          <p:nvPr/>
        </p:nvSpPr>
        <p:spPr>
          <a:xfrm>
            <a:off x="3108960" y="3529584"/>
            <a:ext cx="219456" cy="219456"/>
          </a:xfrm>
          <a:prstGeom prst="rect">
            <a:avLst/>
          </a:prstGeom>
          <a:solidFill>
            <a:schemeClr val="accent3"/>
          </a:solidFill>
          <a:ln/>
        </p:spPr>
      </p:sp>
      <p:sp>
        <p:nvSpPr>
          <p:cNvPr id="112" name="rating cell"/>
          <p:cNvSpPr/>
          <p:nvPr/>
        </p:nvSpPr>
        <p:spPr>
          <a:xfrm>
            <a:off x="3364992" y="3529584"/>
            <a:ext cx="219456" cy="219456"/>
          </a:xfrm>
          <a:prstGeom prst="rect">
            <a:avLst/>
          </a:prstGeom>
          <a:solidFill>
            <a:schemeClr val="bg2"/>
          </a:solidFill>
          <a:ln/>
        </p:spPr>
      </p:sp>
      <p:sp>
        <p:nvSpPr>
          <p:cNvPr id="113" name="rating cell"/>
          <p:cNvSpPr/>
          <p:nvPr/>
        </p:nvSpPr>
        <p:spPr>
          <a:xfrm>
            <a:off x="3621024" y="3529584"/>
            <a:ext cx="219456" cy="219456"/>
          </a:xfrm>
          <a:prstGeom prst="rect">
            <a:avLst/>
          </a:prstGeom>
          <a:solidFill>
            <a:schemeClr val="bg2"/>
          </a:solidFill>
          <a:ln/>
        </p:spPr>
      </p:sp>
      <p:sp>
        <p:nvSpPr>
          <p:cNvPr id="114" name="rating cell"/>
          <p:cNvSpPr/>
          <p:nvPr/>
        </p:nvSpPr>
        <p:spPr>
          <a:xfrm>
            <a:off x="3877056" y="3529584"/>
            <a:ext cx="219456" cy="219456"/>
          </a:xfrm>
          <a:prstGeom prst="rect">
            <a:avLst/>
          </a:prstGeom>
          <a:solidFill>
            <a:schemeClr val="bg2"/>
          </a:solidFill>
          <a:ln/>
        </p:spPr>
      </p:sp>
      <p:sp>
        <p:nvSpPr>
          <p:cNvPr id="115" name="Text 113"/>
          <p:cNvSpPr txBox="1"/>
          <p:nvPr/>
        </p:nvSpPr>
        <p:spPr>
          <a:xfrm>
            <a:off x="548640" y="3886200"/>
            <a:ext cx="3547872" cy="548640"/>
          </a:xfrm>
          <a:prstGeom prst="rect">
            <a:avLst/>
          </a:prstGeom>
          <a:noFill/>
          <a:ln/>
        </p:spPr>
        <p:txBody>
          <a:bodyPr wrap="square" lIns="0" tIns="0" rIns="0" bIns="0" rtlCol="0" anchor="t"/>
          <a:lstStyle/>
          <a:p>
            <a:pPr marL="0" indent="0" algn="l">
              <a:lnSpc>
                <a:spcPct val="100000"/>
              </a:lnSpc>
              <a:buNone/>
            </a:pPr>
            <a:r>
              <a:rPr lang="en-US" sz="1600" b="1" dirty="0">
                <a:solidFill>
                  <a:schemeClr val="tx2"/>
                </a:solidFill>
                <a:latin typeface="Manrope" pitchFamily="34" charset="0"/>
                <a:ea typeface="Manrope" pitchFamily="34" charset="-122"/>
                <a:cs typeface="Manrope" pitchFamily="34" charset="-120"/>
              </a:rPr>
              <a:t>U</a:t>
            </a:r>
            <a:endParaRPr lang="en-US" sz="16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ratings, users × items</a:t>
            </a:r>
            <a:endParaRPr lang="en-US" sz="1600" dirty="0"/>
          </a:p>
        </p:txBody>
      </p:sp>
      <p:sp>
        <p:nvSpPr>
          <p:cNvPr id="116" name="Text 114"/>
          <p:cNvSpPr txBox="1"/>
          <p:nvPr/>
        </p:nvSpPr>
        <p:spPr>
          <a:xfrm>
            <a:off x="4206240" y="2395728"/>
            <a:ext cx="457200" cy="640080"/>
          </a:xfrm>
          <a:prstGeom prst="rect">
            <a:avLst/>
          </a:prstGeom>
          <a:noFill/>
          <a:ln/>
        </p:spPr>
        <p:txBody>
          <a:bodyPr wrap="square" lIns="0" tIns="0" rIns="0" bIns="0" rtlCol="0" anchor="t"/>
          <a:lstStyle/>
          <a:p>
            <a:pPr marL="0" indent="0" algn="ctr">
              <a:lnSpc>
                <a:spcPct val="100000"/>
              </a:lnSpc>
              <a:buNone/>
            </a:pPr>
            <a:r>
              <a:rPr lang="en-US" sz="4000" dirty="0">
                <a:solidFill>
                  <a:schemeClr val="tx2"/>
                </a:solidFill>
                <a:latin typeface="Manrope" pitchFamily="34" charset="0"/>
                <a:ea typeface="Manrope" pitchFamily="34" charset="-122"/>
                <a:cs typeface="Manrope" pitchFamily="34" charset="-120"/>
              </a:rPr>
              <a:t>≈</a:t>
            </a:r>
            <a:endParaRPr lang="en-US" sz="4000" dirty="0"/>
          </a:p>
        </p:txBody>
      </p:sp>
      <p:sp>
        <p:nvSpPr>
          <p:cNvPr id="117" name="A cell"/>
          <p:cNvSpPr/>
          <p:nvPr/>
        </p:nvSpPr>
        <p:spPr>
          <a:xfrm>
            <a:off x="4773168" y="1737360"/>
            <a:ext cx="219456" cy="219456"/>
          </a:xfrm>
          <a:prstGeom prst="rect">
            <a:avLst/>
          </a:prstGeom>
          <a:solidFill>
            <a:schemeClr val="accent6"/>
          </a:solidFill>
          <a:ln/>
        </p:spPr>
      </p:sp>
      <p:sp>
        <p:nvSpPr>
          <p:cNvPr id="118" name="A cell"/>
          <p:cNvSpPr/>
          <p:nvPr/>
        </p:nvSpPr>
        <p:spPr>
          <a:xfrm>
            <a:off x="5029200" y="1737360"/>
            <a:ext cx="219456" cy="219456"/>
          </a:xfrm>
          <a:prstGeom prst="rect">
            <a:avLst/>
          </a:prstGeom>
          <a:solidFill>
            <a:schemeClr val="accent6"/>
          </a:solidFill>
          <a:ln/>
        </p:spPr>
      </p:sp>
      <p:sp>
        <p:nvSpPr>
          <p:cNvPr id="119" name="A cell"/>
          <p:cNvSpPr/>
          <p:nvPr/>
        </p:nvSpPr>
        <p:spPr>
          <a:xfrm>
            <a:off x="4773168" y="1993392"/>
            <a:ext cx="219456" cy="219456"/>
          </a:xfrm>
          <a:prstGeom prst="rect">
            <a:avLst/>
          </a:prstGeom>
          <a:solidFill>
            <a:schemeClr val="accent6"/>
          </a:solidFill>
          <a:ln/>
        </p:spPr>
      </p:sp>
      <p:sp>
        <p:nvSpPr>
          <p:cNvPr id="120" name="A cell"/>
          <p:cNvSpPr/>
          <p:nvPr/>
        </p:nvSpPr>
        <p:spPr>
          <a:xfrm>
            <a:off x="5029200" y="1993392"/>
            <a:ext cx="219456" cy="219456"/>
          </a:xfrm>
          <a:prstGeom prst="rect">
            <a:avLst/>
          </a:prstGeom>
          <a:solidFill>
            <a:schemeClr val="accent6"/>
          </a:solidFill>
          <a:ln/>
        </p:spPr>
      </p:sp>
      <p:sp>
        <p:nvSpPr>
          <p:cNvPr id="121" name="A cell"/>
          <p:cNvSpPr/>
          <p:nvPr/>
        </p:nvSpPr>
        <p:spPr>
          <a:xfrm>
            <a:off x="4773168" y="2249424"/>
            <a:ext cx="219456" cy="219456"/>
          </a:xfrm>
          <a:prstGeom prst="rect">
            <a:avLst/>
          </a:prstGeom>
          <a:solidFill>
            <a:schemeClr val="accent6"/>
          </a:solidFill>
          <a:ln/>
        </p:spPr>
      </p:sp>
      <p:sp>
        <p:nvSpPr>
          <p:cNvPr id="122" name="A cell"/>
          <p:cNvSpPr/>
          <p:nvPr/>
        </p:nvSpPr>
        <p:spPr>
          <a:xfrm>
            <a:off x="5029200" y="2249424"/>
            <a:ext cx="219456" cy="219456"/>
          </a:xfrm>
          <a:prstGeom prst="rect">
            <a:avLst/>
          </a:prstGeom>
          <a:solidFill>
            <a:schemeClr val="accent6"/>
          </a:solidFill>
          <a:ln/>
        </p:spPr>
      </p:sp>
      <p:sp>
        <p:nvSpPr>
          <p:cNvPr id="123" name="A cell"/>
          <p:cNvSpPr/>
          <p:nvPr/>
        </p:nvSpPr>
        <p:spPr>
          <a:xfrm>
            <a:off x="4773168" y="2505456"/>
            <a:ext cx="219456" cy="219456"/>
          </a:xfrm>
          <a:prstGeom prst="rect">
            <a:avLst/>
          </a:prstGeom>
          <a:solidFill>
            <a:schemeClr val="accent6"/>
          </a:solidFill>
          <a:ln/>
        </p:spPr>
      </p:sp>
      <p:sp>
        <p:nvSpPr>
          <p:cNvPr id="124" name="A cell"/>
          <p:cNvSpPr/>
          <p:nvPr/>
        </p:nvSpPr>
        <p:spPr>
          <a:xfrm>
            <a:off x="5029200" y="2505456"/>
            <a:ext cx="219456" cy="219456"/>
          </a:xfrm>
          <a:prstGeom prst="rect">
            <a:avLst/>
          </a:prstGeom>
          <a:solidFill>
            <a:schemeClr val="accent6"/>
          </a:solidFill>
          <a:ln/>
        </p:spPr>
      </p:sp>
      <p:sp>
        <p:nvSpPr>
          <p:cNvPr id="125" name="A cell"/>
          <p:cNvSpPr/>
          <p:nvPr/>
        </p:nvSpPr>
        <p:spPr>
          <a:xfrm>
            <a:off x="4773168" y="2761488"/>
            <a:ext cx="219456" cy="219456"/>
          </a:xfrm>
          <a:prstGeom prst="rect">
            <a:avLst/>
          </a:prstGeom>
          <a:solidFill>
            <a:schemeClr val="accent6"/>
          </a:solidFill>
          <a:ln/>
        </p:spPr>
      </p:sp>
      <p:sp>
        <p:nvSpPr>
          <p:cNvPr id="126" name="A cell"/>
          <p:cNvSpPr/>
          <p:nvPr/>
        </p:nvSpPr>
        <p:spPr>
          <a:xfrm>
            <a:off x="5029200" y="2761488"/>
            <a:ext cx="219456" cy="219456"/>
          </a:xfrm>
          <a:prstGeom prst="rect">
            <a:avLst/>
          </a:prstGeom>
          <a:solidFill>
            <a:schemeClr val="accent6"/>
          </a:solidFill>
          <a:ln/>
        </p:spPr>
      </p:sp>
      <p:sp>
        <p:nvSpPr>
          <p:cNvPr id="127" name="A cell"/>
          <p:cNvSpPr/>
          <p:nvPr/>
        </p:nvSpPr>
        <p:spPr>
          <a:xfrm>
            <a:off x="4773168" y="3017520"/>
            <a:ext cx="219456" cy="219456"/>
          </a:xfrm>
          <a:prstGeom prst="rect">
            <a:avLst/>
          </a:prstGeom>
          <a:solidFill>
            <a:schemeClr val="accent6"/>
          </a:solidFill>
          <a:ln/>
        </p:spPr>
      </p:sp>
      <p:sp>
        <p:nvSpPr>
          <p:cNvPr id="128" name="A cell"/>
          <p:cNvSpPr/>
          <p:nvPr/>
        </p:nvSpPr>
        <p:spPr>
          <a:xfrm>
            <a:off x="5029200" y="3017520"/>
            <a:ext cx="219456" cy="219456"/>
          </a:xfrm>
          <a:prstGeom prst="rect">
            <a:avLst/>
          </a:prstGeom>
          <a:solidFill>
            <a:schemeClr val="accent6"/>
          </a:solidFill>
          <a:ln/>
        </p:spPr>
      </p:sp>
      <p:sp>
        <p:nvSpPr>
          <p:cNvPr id="129" name="A cell"/>
          <p:cNvSpPr/>
          <p:nvPr/>
        </p:nvSpPr>
        <p:spPr>
          <a:xfrm>
            <a:off x="4773168" y="3273552"/>
            <a:ext cx="219456" cy="219456"/>
          </a:xfrm>
          <a:prstGeom prst="rect">
            <a:avLst/>
          </a:prstGeom>
          <a:solidFill>
            <a:schemeClr val="accent6"/>
          </a:solidFill>
          <a:ln/>
        </p:spPr>
      </p:sp>
      <p:sp>
        <p:nvSpPr>
          <p:cNvPr id="130" name="A cell"/>
          <p:cNvSpPr/>
          <p:nvPr/>
        </p:nvSpPr>
        <p:spPr>
          <a:xfrm>
            <a:off x="5029200" y="3273552"/>
            <a:ext cx="219456" cy="219456"/>
          </a:xfrm>
          <a:prstGeom prst="rect">
            <a:avLst/>
          </a:prstGeom>
          <a:solidFill>
            <a:schemeClr val="accent6"/>
          </a:solidFill>
          <a:ln/>
        </p:spPr>
      </p:sp>
      <p:sp>
        <p:nvSpPr>
          <p:cNvPr id="131" name="A cell"/>
          <p:cNvSpPr/>
          <p:nvPr/>
        </p:nvSpPr>
        <p:spPr>
          <a:xfrm>
            <a:off x="4773168" y="3529584"/>
            <a:ext cx="219456" cy="219456"/>
          </a:xfrm>
          <a:prstGeom prst="rect">
            <a:avLst/>
          </a:prstGeom>
          <a:solidFill>
            <a:schemeClr val="accent6"/>
          </a:solidFill>
          <a:ln/>
        </p:spPr>
      </p:sp>
      <p:sp>
        <p:nvSpPr>
          <p:cNvPr id="132" name="A cell"/>
          <p:cNvSpPr/>
          <p:nvPr/>
        </p:nvSpPr>
        <p:spPr>
          <a:xfrm>
            <a:off x="5029200" y="3529584"/>
            <a:ext cx="219456" cy="219456"/>
          </a:xfrm>
          <a:prstGeom prst="rect">
            <a:avLst/>
          </a:prstGeom>
          <a:solidFill>
            <a:schemeClr val="accent6"/>
          </a:solidFill>
          <a:ln/>
        </p:spPr>
      </p:sp>
      <p:sp>
        <p:nvSpPr>
          <p:cNvPr id="133" name="Text 131"/>
          <p:cNvSpPr txBox="1"/>
          <p:nvPr/>
        </p:nvSpPr>
        <p:spPr>
          <a:xfrm>
            <a:off x="4773168" y="3886200"/>
            <a:ext cx="1463040" cy="548640"/>
          </a:xfrm>
          <a:prstGeom prst="rect">
            <a:avLst/>
          </a:prstGeom>
          <a:noFill/>
          <a:ln/>
        </p:spPr>
        <p:txBody>
          <a:bodyPr wrap="square" lIns="0" tIns="0" rIns="0" bIns="0" rtlCol="0" anchor="t"/>
          <a:lstStyle/>
          <a:p>
            <a:pPr marL="0" indent="0" algn="l">
              <a:lnSpc>
                <a:spcPct val="100000"/>
              </a:lnSpc>
              <a:buNone/>
            </a:pPr>
            <a:r>
              <a:rPr lang="en-US" sz="1600" b="1" dirty="0">
                <a:solidFill>
                  <a:schemeClr val="tx2"/>
                </a:solidFill>
                <a:latin typeface="Manrope" pitchFamily="34" charset="0"/>
                <a:ea typeface="Manrope" pitchFamily="34" charset="-122"/>
                <a:cs typeface="Manrope" pitchFamily="34" charset="-120"/>
              </a:rPr>
              <a:t>A</a:t>
            </a:r>
            <a:endParaRPr lang="en-US" sz="16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users, secret</a:t>
            </a:r>
            <a:endParaRPr lang="en-US" sz="1600" dirty="0"/>
          </a:p>
        </p:txBody>
      </p:sp>
      <p:sp>
        <p:nvSpPr>
          <p:cNvPr id="134" name="Text 132"/>
          <p:cNvSpPr txBox="1"/>
          <p:nvPr/>
        </p:nvSpPr>
        <p:spPr>
          <a:xfrm>
            <a:off x="5285232" y="1691640"/>
            <a:ext cx="365760" cy="457200"/>
          </a:xfrm>
          <a:prstGeom prst="rect">
            <a:avLst/>
          </a:prstGeom>
          <a:noFill/>
          <a:ln/>
        </p:spPr>
        <p:txBody>
          <a:bodyPr wrap="square" lIns="0" tIns="0" rIns="0" bIns="0" rtlCol="0" anchor="t"/>
          <a:lstStyle/>
          <a:p>
            <a:pPr marL="0" indent="0" algn="ctr">
              <a:lnSpc>
                <a:spcPct val="100000"/>
              </a:lnSpc>
              <a:buNone/>
            </a:pPr>
            <a:r>
              <a:rPr lang="en-US" sz="2600" dirty="0">
                <a:solidFill>
                  <a:schemeClr val="tx2"/>
                </a:solidFill>
                <a:latin typeface="Manrope" pitchFamily="34" charset="0"/>
                <a:ea typeface="Manrope" pitchFamily="34" charset="-122"/>
                <a:cs typeface="Manrope" pitchFamily="34" charset="-120"/>
              </a:rPr>
              <a:t>×</a:t>
            </a:r>
            <a:endParaRPr lang="en-US" sz="2600" dirty="0"/>
          </a:p>
        </p:txBody>
      </p:sp>
      <p:sp>
        <p:nvSpPr>
          <p:cNvPr id="135" name="B cell"/>
          <p:cNvSpPr/>
          <p:nvPr/>
        </p:nvSpPr>
        <p:spPr>
          <a:xfrm>
            <a:off x="5724144" y="1737360"/>
            <a:ext cx="219456" cy="219456"/>
          </a:xfrm>
          <a:prstGeom prst="rect">
            <a:avLst/>
          </a:prstGeom>
          <a:solidFill>
            <a:schemeClr val="accent1"/>
          </a:solidFill>
          <a:ln/>
        </p:spPr>
      </p:sp>
      <p:sp>
        <p:nvSpPr>
          <p:cNvPr id="136" name="B cell"/>
          <p:cNvSpPr/>
          <p:nvPr/>
        </p:nvSpPr>
        <p:spPr>
          <a:xfrm>
            <a:off x="5980176" y="1737360"/>
            <a:ext cx="219456" cy="219456"/>
          </a:xfrm>
          <a:prstGeom prst="rect">
            <a:avLst/>
          </a:prstGeom>
          <a:solidFill>
            <a:schemeClr val="accent1"/>
          </a:solidFill>
          <a:ln/>
        </p:spPr>
      </p:sp>
      <p:sp>
        <p:nvSpPr>
          <p:cNvPr id="137" name="B cell"/>
          <p:cNvSpPr/>
          <p:nvPr/>
        </p:nvSpPr>
        <p:spPr>
          <a:xfrm>
            <a:off x="6236208" y="1737360"/>
            <a:ext cx="219456" cy="219456"/>
          </a:xfrm>
          <a:prstGeom prst="rect">
            <a:avLst/>
          </a:prstGeom>
          <a:solidFill>
            <a:schemeClr val="accent1"/>
          </a:solidFill>
          <a:ln/>
        </p:spPr>
      </p:sp>
      <p:sp>
        <p:nvSpPr>
          <p:cNvPr id="138" name="B cell"/>
          <p:cNvSpPr/>
          <p:nvPr/>
        </p:nvSpPr>
        <p:spPr>
          <a:xfrm>
            <a:off x="6492240" y="1737360"/>
            <a:ext cx="219456" cy="219456"/>
          </a:xfrm>
          <a:prstGeom prst="rect">
            <a:avLst/>
          </a:prstGeom>
          <a:solidFill>
            <a:schemeClr val="accent1"/>
          </a:solidFill>
          <a:ln/>
        </p:spPr>
      </p:sp>
      <p:sp>
        <p:nvSpPr>
          <p:cNvPr id="139" name="B cell"/>
          <p:cNvSpPr/>
          <p:nvPr/>
        </p:nvSpPr>
        <p:spPr>
          <a:xfrm>
            <a:off x="6748272" y="1737360"/>
            <a:ext cx="219456" cy="219456"/>
          </a:xfrm>
          <a:prstGeom prst="rect">
            <a:avLst/>
          </a:prstGeom>
          <a:solidFill>
            <a:schemeClr val="accent1"/>
          </a:solidFill>
          <a:ln/>
        </p:spPr>
      </p:sp>
      <p:sp>
        <p:nvSpPr>
          <p:cNvPr id="140" name="B cell"/>
          <p:cNvSpPr/>
          <p:nvPr/>
        </p:nvSpPr>
        <p:spPr>
          <a:xfrm>
            <a:off x="7004304" y="1737360"/>
            <a:ext cx="219456" cy="219456"/>
          </a:xfrm>
          <a:prstGeom prst="rect">
            <a:avLst/>
          </a:prstGeom>
          <a:solidFill>
            <a:schemeClr val="accent1"/>
          </a:solidFill>
          <a:ln/>
        </p:spPr>
      </p:sp>
      <p:sp>
        <p:nvSpPr>
          <p:cNvPr id="141" name="B cell"/>
          <p:cNvSpPr/>
          <p:nvPr/>
        </p:nvSpPr>
        <p:spPr>
          <a:xfrm>
            <a:off x="7260336" y="1737360"/>
            <a:ext cx="219456" cy="219456"/>
          </a:xfrm>
          <a:prstGeom prst="rect">
            <a:avLst/>
          </a:prstGeom>
          <a:solidFill>
            <a:schemeClr val="accent1"/>
          </a:solidFill>
          <a:ln/>
        </p:spPr>
      </p:sp>
      <p:sp>
        <p:nvSpPr>
          <p:cNvPr id="142" name="B cell"/>
          <p:cNvSpPr/>
          <p:nvPr/>
        </p:nvSpPr>
        <p:spPr>
          <a:xfrm>
            <a:off x="7516368" y="1737360"/>
            <a:ext cx="219456" cy="219456"/>
          </a:xfrm>
          <a:prstGeom prst="rect">
            <a:avLst/>
          </a:prstGeom>
          <a:solidFill>
            <a:schemeClr val="accent1"/>
          </a:solidFill>
          <a:ln/>
        </p:spPr>
      </p:sp>
      <p:sp>
        <p:nvSpPr>
          <p:cNvPr id="143" name="B cell"/>
          <p:cNvSpPr/>
          <p:nvPr/>
        </p:nvSpPr>
        <p:spPr>
          <a:xfrm>
            <a:off x="7772400" y="1737360"/>
            <a:ext cx="219456" cy="219456"/>
          </a:xfrm>
          <a:prstGeom prst="rect">
            <a:avLst/>
          </a:prstGeom>
          <a:solidFill>
            <a:schemeClr val="accent1"/>
          </a:solidFill>
          <a:ln/>
        </p:spPr>
      </p:sp>
      <p:sp>
        <p:nvSpPr>
          <p:cNvPr id="144" name="B cell"/>
          <p:cNvSpPr/>
          <p:nvPr/>
        </p:nvSpPr>
        <p:spPr>
          <a:xfrm>
            <a:off x="8028432" y="1737360"/>
            <a:ext cx="219456" cy="219456"/>
          </a:xfrm>
          <a:prstGeom prst="rect">
            <a:avLst/>
          </a:prstGeom>
          <a:solidFill>
            <a:schemeClr val="accent1"/>
          </a:solidFill>
          <a:ln/>
        </p:spPr>
      </p:sp>
      <p:sp>
        <p:nvSpPr>
          <p:cNvPr id="145" name="B cell"/>
          <p:cNvSpPr/>
          <p:nvPr/>
        </p:nvSpPr>
        <p:spPr>
          <a:xfrm>
            <a:off x="8284464" y="1737360"/>
            <a:ext cx="219456" cy="219456"/>
          </a:xfrm>
          <a:prstGeom prst="rect">
            <a:avLst/>
          </a:prstGeom>
          <a:solidFill>
            <a:schemeClr val="accent1"/>
          </a:solidFill>
          <a:ln/>
        </p:spPr>
      </p:sp>
      <p:sp>
        <p:nvSpPr>
          <p:cNvPr id="146" name="B cell"/>
          <p:cNvSpPr/>
          <p:nvPr/>
        </p:nvSpPr>
        <p:spPr>
          <a:xfrm>
            <a:off x="8540496" y="1737360"/>
            <a:ext cx="219456" cy="219456"/>
          </a:xfrm>
          <a:prstGeom prst="rect">
            <a:avLst/>
          </a:prstGeom>
          <a:solidFill>
            <a:schemeClr val="accent1"/>
          </a:solidFill>
          <a:ln/>
        </p:spPr>
      </p:sp>
      <p:sp>
        <p:nvSpPr>
          <p:cNvPr id="147" name="B cell"/>
          <p:cNvSpPr/>
          <p:nvPr/>
        </p:nvSpPr>
        <p:spPr>
          <a:xfrm>
            <a:off x="8796528" y="1737360"/>
            <a:ext cx="219456" cy="219456"/>
          </a:xfrm>
          <a:prstGeom prst="rect">
            <a:avLst/>
          </a:prstGeom>
          <a:solidFill>
            <a:schemeClr val="accent1"/>
          </a:solidFill>
          <a:ln/>
        </p:spPr>
      </p:sp>
      <p:sp>
        <p:nvSpPr>
          <p:cNvPr id="148" name="B cell"/>
          <p:cNvSpPr/>
          <p:nvPr/>
        </p:nvSpPr>
        <p:spPr>
          <a:xfrm>
            <a:off x="9052560" y="1737360"/>
            <a:ext cx="219456" cy="219456"/>
          </a:xfrm>
          <a:prstGeom prst="rect">
            <a:avLst/>
          </a:prstGeom>
          <a:solidFill>
            <a:schemeClr val="accent1"/>
          </a:solidFill>
          <a:ln/>
        </p:spPr>
      </p:sp>
      <p:sp>
        <p:nvSpPr>
          <p:cNvPr id="149" name="B cell"/>
          <p:cNvSpPr/>
          <p:nvPr/>
        </p:nvSpPr>
        <p:spPr>
          <a:xfrm>
            <a:off x="5724144" y="1993392"/>
            <a:ext cx="219456" cy="219456"/>
          </a:xfrm>
          <a:prstGeom prst="rect">
            <a:avLst/>
          </a:prstGeom>
          <a:solidFill>
            <a:schemeClr val="accent1"/>
          </a:solidFill>
          <a:ln/>
        </p:spPr>
      </p:sp>
      <p:sp>
        <p:nvSpPr>
          <p:cNvPr id="150" name="B cell"/>
          <p:cNvSpPr/>
          <p:nvPr/>
        </p:nvSpPr>
        <p:spPr>
          <a:xfrm>
            <a:off x="5980176" y="1993392"/>
            <a:ext cx="219456" cy="219456"/>
          </a:xfrm>
          <a:prstGeom prst="rect">
            <a:avLst/>
          </a:prstGeom>
          <a:solidFill>
            <a:schemeClr val="accent1"/>
          </a:solidFill>
          <a:ln/>
        </p:spPr>
      </p:sp>
      <p:sp>
        <p:nvSpPr>
          <p:cNvPr id="151" name="B cell"/>
          <p:cNvSpPr/>
          <p:nvPr/>
        </p:nvSpPr>
        <p:spPr>
          <a:xfrm>
            <a:off x="6236208" y="1993392"/>
            <a:ext cx="219456" cy="219456"/>
          </a:xfrm>
          <a:prstGeom prst="rect">
            <a:avLst/>
          </a:prstGeom>
          <a:solidFill>
            <a:schemeClr val="accent1"/>
          </a:solidFill>
          <a:ln/>
        </p:spPr>
      </p:sp>
      <p:sp>
        <p:nvSpPr>
          <p:cNvPr id="152" name="B cell"/>
          <p:cNvSpPr/>
          <p:nvPr/>
        </p:nvSpPr>
        <p:spPr>
          <a:xfrm>
            <a:off x="6492240" y="1993392"/>
            <a:ext cx="219456" cy="219456"/>
          </a:xfrm>
          <a:prstGeom prst="rect">
            <a:avLst/>
          </a:prstGeom>
          <a:solidFill>
            <a:schemeClr val="accent1"/>
          </a:solidFill>
          <a:ln/>
        </p:spPr>
      </p:sp>
      <p:sp>
        <p:nvSpPr>
          <p:cNvPr id="153" name="B cell"/>
          <p:cNvSpPr/>
          <p:nvPr/>
        </p:nvSpPr>
        <p:spPr>
          <a:xfrm>
            <a:off x="6748272" y="1993392"/>
            <a:ext cx="219456" cy="219456"/>
          </a:xfrm>
          <a:prstGeom prst="rect">
            <a:avLst/>
          </a:prstGeom>
          <a:solidFill>
            <a:schemeClr val="accent1"/>
          </a:solidFill>
          <a:ln/>
        </p:spPr>
      </p:sp>
      <p:sp>
        <p:nvSpPr>
          <p:cNvPr id="154" name="B cell"/>
          <p:cNvSpPr/>
          <p:nvPr/>
        </p:nvSpPr>
        <p:spPr>
          <a:xfrm>
            <a:off x="7004304" y="1993392"/>
            <a:ext cx="219456" cy="219456"/>
          </a:xfrm>
          <a:prstGeom prst="rect">
            <a:avLst/>
          </a:prstGeom>
          <a:solidFill>
            <a:schemeClr val="accent1"/>
          </a:solidFill>
          <a:ln/>
        </p:spPr>
      </p:sp>
      <p:sp>
        <p:nvSpPr>
          <p:cNvPr id="155" name="B cell"/>
          <p:cNvSpPr/>
          <p:nvPr/>
        </p:nvSpPr>
        <p:spPr>
          <a:xfrm>
            <a:off x="7260336" y="1993392"/>
            <a:ext cx="219456" cy="219456"/>
          </a:xfrm>
          <a:prstGeom prst="rect">
            <a:avLst/>
          </a:prstGeom>
          <a:solidFill>
            <a:schemeClr val="accent1"/>
          </a:solidFill>
          <a:ln/>
        </p:spPr>
      </p:sp>
      <p:sp>
        <p:nvSpPr>
          <p:cNvPr id="156" name="B cell"/>
          <p:cNvSpPr/>
          <p:nvPr/>
        </p:nvSpPr>
        <p:spPr>
          <a:xfrm>
            <a:off x="7516368" y="1993392"/>
            <a:ext cx="219456" cy="219456"/>
          </a:xfrm>
          <a:prstGeom prst="rect">
            <a:avLst/>
          </a:prstGeom>
          <a:solidFill>
            <a:schemeClr val="accent1"/>
          </a:solidFill>
          <a:ln/>
        </p:spPr>
      </p:sp>
      <p:sp>
        <p:nvSpPr>
          <p:cNvPr id="157" name="B cell"/>
          <p:cNvSpPr/>
          <p:nvPr/>
        </p:nvSpPr>
        <p:spPr>
          <a:xfrm>
            <a:off x="7772400" y="1993392"/>
            <a:ext cx="219456" cy="219456"/>
          </a:xfrm>
          <a:prstGeom prst="rect">
            <a:avLst/>
          </a:prstGeom>
          <a:solidFill>
            <a:schemeClr val="accent1"/>
          </a:solidFill>
          <a:ln/>
        </p:spPr>
      </p:sp>
      <p:sp>
        <p:nvSpPr>
          <p:cNvPr id="158" name="B cell"/>
          <p:cNvSpPr/>
          <p:nvPr/>
        </p:nvSpPr>
        <p:spPr>
          <a:xfrm>
            <a:off x="8028432" y="1993392"/>
            <a:ext cx="219456" cy="219456"/>
          </a:xfrm>
          <a:prstGeom prst="rect">
            <a:avLst/>
          </a:prstGeom>
          <a:solidFill>
            <a:schemeClr val="accent1"/>
          </a:solidFill>
          <a:ln/>
        </p:spPr>
      </p:sp>
      <p:sp>
        <p:nvSpPr>
          <p:cNvPr id="159" name="B cell"/>
          <p:cNvSpPr/>
          <p:nvPr/>
        </p:nvSpPr>
        <p:spPr>
          <a:xfrm>
            <a:off x="8284464" y="1993392"/>
            <a:ext cx="219456" cy="219456"/>
          </a:xfrm>
          <a:prstGeom prst="rect">
            <a:avLst/>
          </a:prstGeom>
          <a:solidFill>
            <a:schemeClr val="accent1"/>
          </a:solidFill>
          <a:ln/>
        </p:spPr>
      </p:sp>
      <p:sp>
        <p:nvSpPr>
          <p:cNvPr id="160" name="B cell"/>
          <p:cNvSpPr/>
          <p:nvPr/>
        </p:nvSpPr>
        <p:spPr>
          <a:xfrm>
            <a:off x="8540496" y="1993392"/>
            <a:ext cx="219456" cy="219456"/>
          </a:xfrm>
          <a:prstGeom prst="rect">
            <a:avLst/>
          </a:prstGeom>
          <a:solidFill>
            <a:schemeClr val="accent1"/>
          </a:solidFill>
          <a:ln/>
        </p:spPr>
      </p:sp>
      <p:sp>
        <p:nvSpPr>
          <p:cNvPr id="161" name="B cell"/>
          <p:cNvSpPr/>
          <p:nvPr/>
        </p:nvSpPr>
        <p:spPr>
          <a:xfrm>
            <a:off x="8796528" y="1993392"/>
            <a:ext cx="219456" cy="219456"/>
          </a:xfrm>
          <a:prstGeom prst="rect">
            <a:avLst/>
          </a:prstGeom>
          <a:solidFill>
            <a:schemeClr val="accent1"/>
          </a:solidFill>
          <a:ln/>
        </p:spPr>
      </p:sp>
      <p:sp>
        <p:nvSpPr>
          <p:cNvPr id="162" name="B cell"/>
          <p:cNvSpPr/>
          <p:nvPr/>
        </p:nvSpPr>
        <p:spPr>
          <a:xfrm>
            <a:off x="9052560" y="1993392"/>
            <a:ext cx="219456" cy="219456"/>
          </a:xfrm>
          <a:prstGeom prst="rect">
            <a:avLst/>
          </a:prstGeom>
          <a:solidFill>
            <a:schemeClr val="accent1"/>
          </a:solidFill>
          <a:ln/>
        </p:spPr>
      </p:sp>
      <p:sp>
        <p:nvSpPr>
          <p:cNvPr id="163" name="Text 161"/>
          <p:cNvSpPr txBox="1"/>
          <p:nvPr/>
        </p:nvSpPr>
        <p:spPr>
          <a:xfrm>
            <a:off x="5724144" y="2359152"/>
            <a:ext cx="3547872" cy="548640"/>
          </a:xfrm>
          <a:prstGeom prst="rect">
            <a:avLst/>
          </a:prstGeom>
          <a:noFill/>
          <a:ln/>
        </p:spPr>
        <p:txBody>
          <a:bodyPr wrap="square" lIns="0" tIns="0" rIns="0" bIns="0" rtlCol="0" anchor="t"/>
          <a:lstStyle/>
          <a:p>
            <a:pPr marL="0" indent="0" algn="l">
              <a:lnSpc>
                <a:spcPct val="100000"/>
              </a:lnSpc>
              <a:buNone/>
            </a:pPr>
            <a:r>
              <a:rPr lang="en-US" sz="1600" b="1" dirty="0">
                <a:solidFill>
                  <a:schemeClr val="accent1"/>
                </a:solidFill>
                <a:latin typeface="Manrope" pitchFamily="34" charset="0"/>
                <a:ea typeface="Manrope" pitchFamily="34" charset="-122"/>
                <a:cs typeface="Manrope" pitchFamily="34" charset="-120"/>
              </a:rPr>
              <a:t>B</a:t>
            </a:r>
            <a:endParaRPr lang="en-US" sz="16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item embeddings. Remember this one.</a:t>
            </a:r>
            <a:endParaRPr lang="en-US" sz="1600" dirty="0"/>
          </a:p>
        </p:txBody>
      </p:sp>
      <p:sp>
        <p:nvSpPr>
          <p:cNvPr id="164" name="question"/>
          <p:cNvSpPr txBox="1"/>
          <p:nvPr/>
        </p:nvSpPr>
        <p:spPr>
          <a:xfrm>
            <a:off x="548640" y="4617720"/>
            <a:ext cx="9692640" cy="1097280"/>
          </a:xfrm>
          <a:prstGeom prst="rect">
            <a:avLst/>
          </a:prstGeom>
          <a:noFill/>
          <a:ln/>
        </p:spPr>
        <p:txBody>
          <a:bodyPr wrap="square" lIns="0" tIns="0" rIns="0" bIns="0" rtlCol="0" anchor="t"/>
          <a:lstStyle/>
          <a:p>
            <a:pPr marL="0" indent="0" algn="l">
              <a:lnSpc>
                <a:spcPct val="108000"/>
              </a:lnSpc>
              <a:buNone/>
            </a:pPr>
            <a:r>
              <a:rPr lang="en-US" sz="2400" dirty="0">
                <a:solidFill>
                  <a:schemeClr val="tx1"/>
                </a:solidFill>
                <a:latin typeface="Manrope" pitchFamily="34" charset="0"/>
                <a:ea typeface="Manrope" pitchFamily="34" charset="-122"/>
                <a:cs typeface="Manrope" pitchFamily="34" charset="-120"/>
              </a:rPr>
              <a:t>Can a service recommend things to you, and deliver them, without learning what you rated, what it recommended, or what you opened?</a:t>
            </a:r>
            <a:endParaRPr lang="en-US" sz="2400" dirty="0"/>
          </a:p>
        </p:txBody>
      </p:sp>
      <p:sp>
        <p:nvSpPr>
          <p:cNvPr id="16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Two papers, two halves</a:t>
            </a:r>
            <a:endParaRPr lang="en-US" sz="3400" dirty="0"/>
          </a:p>
        </p:txBody>
      </p:sp>
      <p:sp>
        <p:nvSpPr>
          <p:cNvPr id="3" name="Collection stage"/>
          <p:cNvSpPr/>
          <p:nvPr/>
        </p:nvSpPr>
        <p:spPr>
          <a:xfrm>
            <a:off x="548640" y="1463040"/>
            <a:ext cx="2542032" cy="868680"/>
          </a:xfrm>
          <a:prstGeom prst="roundRect">
            <a:avLst>
              <a:gd name="adj" fmla="val 10526"/>
            </a:avLst>
          </a:prstGeom>
          <a:solidFill>
            <a:schemeClr val="bg2"/>
          </a:solidFill>
          <a:ln/>
        </p:spPr>
      </p:sp>
      <p:sp>
        <p:nvSpPr>
          <p:cNvPr id="4" name="Text 2"/>
          <p:cNvSpPr txBox="1"/>
          <p:nvPr/>
        </p:nvSpPr>
        <p:spPr>
          <a:xfrm>
            <a:off x="731520" y="1600200"/>
            <a:ext cx="2221992" cy="685800"/>
          </a:xfrm>
          <a:prstGeom prst="rect">
            <a:avLst/>
          </a:prstGeom>
          <a:noFill/>
          <a:ln/>
        </p:spPr>
        <p:txBody>
          <a:bodyPr wrap="square" lIns="0" tIns="0" rIns="0" bIns="0" rtlCol="0" anchor="t"/>
          <a:lstStyle/>
          <a:p>
            <a:pPr marL="0" indent="0" algn="l">
              <a:lnSpc>
                <a:spcPct val="100000"/>
              </a:lnSpc>
              <a:buNone/>
            </a:pPr>
            <a:r>
              <a:rPr lang="en-US" sz="1700" b="1" dirty="0">
                <a:solidFill>
                  <a:schemeClr val="tx1"/>
                </a:solidFill>
                <a:latin typeface="Manrope" pitchFamily="34" charset="0"/>
                <a:ea typeface="Manrope" pitchFamily="34" charset="-122"/>
                <a:cs typeface="Manrope" pitchFamily="34" charset="-120"/>
              </a:rPr>
              <a:t>Collection</a:t>
            </a:r>
            <a:endParaRPr lang="en-US" sz="17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ratings leave the user</a:t>
            </a:r>
            <a:endParaRPr lang="en-US" sz="1700" dirty="0"/>
          </a:p>
        </p:txBody>
      </p:sp>
      <p:sp>
        <p:nvSpPr>
          <p:cNvPr id="5" name="arrow"/>
          <p:cNvSpPr/>
          <p:nvPr/>
        </p:nvSpPr>
        <p:spPr>
          <a:xfrm>
            <a:off x="3127248" y="1897380"/>
            <a:ext cx="237744" cy="914"/>
          </a:xfrm>
          <a:prstGeom prst="line">
            <a:avLst/>
          </a:prstGeom>
          <a:noFill/>
          <a:ln w="15875">
            <a:solidFill>
              <a:schemeClr val="accent3"/>
            </a:solidFill>
            <a:prstDash val="solid"/>
            <a:tailEnd type="triangle"/>
          </a:ln>
        </p:spPr>
      </p:sp>
      <p:sp>
        <p:nvSpPr>
          <p:cNvPr id="6" name="Training stage"/>
          <p:cNvSpPr/>
          <p:nvPr/>
        </p:nvSpPr>
        <p:spPr>
          <a:xfrm>
            <a:off x="3401568" y="1463040"/>
            <a:ext cx="2542032" cy="868680"/>
          </a:xfrm>
          <a:prstGeom prst="roundRect">
            <a:avLst>
              <a:gd name="adj" fmla="val 10526"/>
            </a:avLst>
          </a:prstGeom>
          <a:solidFill>
            <a:schemeClr val="bg2"/>
          </a:solidFill>
          <a:ln/>
        </p:spPr>
      </p:sp>
      <p:sp>
        <p:nvSpPr>
          <p:cNvPr id="7" name="Text 5"/>
          <p:cNvSpPr txBox="1"/>
          <p:nvPr/>
        </p:nvSpPr>
        <p:spPr>
          <a:xfrm>
            <a:off x="3584448" y="1600200"/>
            <a:ext cx="2221992" cy="685800"/>
          </a:xfrm>
          <a:prstGeom prst="rect">
            <a:avLst/>
          </a:prstGeom>
          <a:noFill/>
          <a:ln/>
        </p:spPr>
        <p:txBody>
          <a:bodyPr wrap="square" lIns="0" tIns="0" rIns="0" bIns="0" rtlCol="0" anchor="t"/>
          <a:lstStyle/>
          <a:p>
            <a:pPr marL="0" indent="0" algn="l">
              <a:lnSpc>
                <a:spcPct val="100000"/>
              </a:lnSpc>
              <a:buNone/>
            </a:pPr>
            <a:r>
              <a:rPr lang="en-US" sz="1700" b="1" dirty="0">
                <a:solidFill>
                  <a:schemeClr val="tx1"/>
                </a:solidFill>
                <a:latin typeface="Manrope" pitchFamily="34" charset="0"/>
                <a:ea typeface="Manrope" pitchFamily="34" charset="-122"/>
                <a:cs typeface="Manrope" pitchFamily="34" charset="-120"/>
              </a:rPr>
              <a:t>Training</a:t>
            </a:r>
            <a:endParaRPr lang="en-US" sz="17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the model is fitted</a:t>
            </a:r>
            <a:endParaRPr lang="en-US" sz="1700" dirty="0"/>
          </a:p>
        </p:txBody>
      </p:sp>
      <p:sp>
        <p:nvSpPr>
          <p:cNvPr id="8" name="arrow"/>
          <p:cNvSpPr/>
          <p:nvPr/>
        </p:nvSpPr>
        <p:spPr>
          <a:xfrm>
            <a:off x="5980176" y="1897380"/>
            <a:ext cx="237744" cy="914"/>
          </a:xfrm>
          <a:prstGeom prst="line">
            <a:avLst/>
          </a:prstGeom>
          <a:noFill/>
          <a:ln w="15875">
            <a:solidFill>
              <a:schemeClr val="accent3"/>
            </a:solidFill>
            <a:prstDash val="solid"/>
            <a:tailEnd type="triangle"/>
          </a:ln>
        </p:spPr>
      </p:sp>
      <p:sp>
        <p:nvSpPr>
          <p:cNvPr id="9" name="Serving stage"/>
          <p:cNvSpPr/>
          <p:nvPr/>
        </p:nvSpPr>
        <p:spPr>
          <a:xfrm>
            <a:off x="6254496" y="1463040"/>
            <a:ext cx="2542032" cy="868680"/>
          </a:xfrm>
          <a:prstGeom prst="roundRect">
            <a:avLst>
              <a:gd name="adj" fmla="val 10526"/>
            </a:avLst>
          </a:prstGeom>
          <a:solidFill>
            <a:schemeClr val="bg2"/>
          </a:solidFill>
          <a:ln/>
        </p:spPr>
      </p:sp>
      <p:sp>
        <p:nvSpPr>
          <p:cNvPr id="10" name="Text 8"/>
          <p:cNvSpPr txBox="1"/>
          <p:nvPr/>
        </p:nvSpPr>
        <p:spPr>
          <a:xfrm>
            <a:off x="6437376" y="1600200"/>
            <a:ext cx="2221992" cy="685800"/>
          </a:xfrm>
          <a:prstGeom prst="rect">
            <a:avLst/>
          </a:prstGeom>
          <a:noFill/>
          <a:ln/>
        </p:spPr>
        <p:txBody>
          <a:bodyPr wrap="square" lIns="0" tIns="0" rIns="0" bIns="0" rtlCol="0" anchor="t"/>
          <a:lstStyle/>
          <a:p>
            <a:pPr marL="0" indent="0" algn="l">
              <a:lnSpc>
                <a:spcPct val="100000"/>
              </a:lnSpc>
              <a:buNone/>
            </a:pPr>
            <a:r>
              <a:rPr lang="en-US" sz="1700" b="1" dirty="0">
                <a:solidFill>
                  <a:schemeClr val="tx1"/>
                </a:solidFill>
                <a:latin typeface="Manrope" pitchFamily="34" charset="0"/>
                <a:ea typeface="Manrope" pitchFamily="34" charset="-122"/>
                <a:cs typeface="Manrope" pitchFamily="34" charset="-120"/>
              </a:rPr>
              <a:t>Serving</a:t>
            </a:r>
            <a:endParaRPr lang="en-US" sz="17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scores are computed</a:t>
            </a:r>
            <a:endParaRPr lang="en-US" sz="1700" dirty="0"/>
          </a:p>
        </p:txBody>
      </p:sp>
      <p:sp>
        <p:nvSpPr>
          <p:cNvPr id="11" name="arrow"/>
          <p:cNvSpPr/>
          <p:nvPr/>
        </p:nvSpPr>
        <p:spPr>
          <a:xfrm>
            <a:off x="8833104" y="1897380"/>
            <a:ext cx="237744" cy="914"/>
          </a:xfrm>
          <a:prstGeom prst="line">
            <a:avLst/>
          </a:prstGeom>
          <a:noFill/>
          <a:ln w="15875">
            <a:solidFill>
              <a:schemeClr val="accent3"/>
            </a:solidFill>
            <a:prstDash val="solid"/>
            <a:tailEnd type="triangle"/>
          </a:ln>
        </p:spPr>
      </p:sp>
      <p:sp>
        <p:nvSpPr>
          <p:cNvPr id="12" name="Delivery stage"/>
          <p:cNvSpPr/>
          <p:nvPr/>
        </p:nvSpPr>
        <p:spPr>
          <a:xfrm>
            <a:off x="9107424" y="1463040"/>
            <a:ext cx="2542032" cy="868680"/>
          </a:xfrm>
          <a:prstGeom prst="roundRect">
            <a:avLst>
              <a:gd name="adj" fmla="val 10526"/>
            </a:avLst>
          </a:prstGeom>
          <a:solidFill>
            <a:schemeClr val="bg2"/>
          </a:solidFill>
          <a:ln/>
        </p:spPr>
      </p:sp>
      <p:sp>
        <p:nvSpPr>
          <p:cNvPr id="13" name="Text 11"/>
          <p:cNvSpPr txBox="1"/>
          <p:nvPr/>
        </p:nvSpPr>
        <p:spPr>
          <a:xfrm>
            <a:off x="9290304" y="1600200"/>
            <a:ext cx="2221992" cy="685800"/>
          </a:xfrm>
          <a:prstGeom prst="rect">
            <a:avLst/>
          </a:prstGeom>
          <a:noFill/>
          <a:ln/>
        </p:spPr>
        <p:txBody>
          <a:bodyPr wrap="square" lIns="0" tIns="0" rIns="0" bIns="0" rtlCol="0" anchor="t"/>
          <a:lstStyle/>
          <a:p>
            <a:pPr marL="0" indent="0" algn="l">
              <a:lnSpc>
                <a:spcPct val="100000"/>
              </a:lnSpc>
              <a:buNone/>
            </a:pPr>
            <a:r>
              <a:rPr lang="en-US" sz="1700" b="1" dirty="0">
                <a:solidFill>
                  <a:schemeClr val="tx1"/>
                </a:solidFill>
                <a:latin typeface="Manrope" pitchFamily="34" charset="0"/>
                <a:ea typeface="Manrope" pitchFamily="34" charset="-122"/>
                <a:cs typeface="Manrope" pitchFamily="34" charset="-120"/>
              </a:rPr>
              <a:t>Delivery</a:t>
            </a:r>
            <a:endParaRPr lang="en-US" sz="17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the item is fetched</a:t>
            </a:r>
            <a:endParaRPr lang="en-US" sz="1700" dirty="0"/>
          </a:p>
        </p:txBody>
      </p:sp>
      <p:sp>
        <p:nvSpPr>
          <p:cNvPr id="14" name="Text 12"/>
          <p:cNvSpPr txBox="1"/>
          <p:nvPr/>
        </p:nvSpPr>
        <p:spPr>
          <a:xfrm>
            <a:off x="548640" y="2743200"/>
            <a:ext cx="11094415"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NUDGE  ·  USENIX SECURITY 2026</a:t>
            </a:r>
            <a:endParaRPr lang="en-US" sz="1200" dirty="0"/>
          </a:p>
        </p:txBody>
      </p:sp>
      <p:sp>
        <p:nvSpPr>
          <p:cNvPr id="15" name="Nudge coverage"/>
          <p:cNvSpPr/>
          <p:nvPr/>
        </p:nvSpPr>
        <p:spPr>
          <a:xfrm>
            <a:off x="548640" y="3044952"/>
            <a:ext cx="8247888" cy="502920"/>
          </a:xfrm>
          <a:prstGeom prst="roundRect">
            <a:avLst>
              <a:gd name="adj" fmla="val 14545"/>
            </a:avLst>
          </a:prstGeom>
          <a:solidFill>
            <a:schemeClr val="accent6"/>
          </a:solidFill>
          <a:ln/>
        </p:spPr>
      </p:sp>
      <p:sp>
        <p:nvSpPr>
          <p:cNvPr id="16" name="Text 14"/>
          <p:cNvSpPr txBox="1"/>
          <p:nvPr/>
        </p:nvSpPr>
        <p:spPr>
          <a:xfrm>
            <a:off x="731520" y="3044952"/>
            <a:ext cx="7973568" cy="502920"/>
          </a:xfrm>
          <a:prstGeom prst="rect">
            <a:avLst/>
          </a:prstGeom>
          <a:noFill/>
          <a:ln/>
        </p:spPr>
        <p:txBody>
          <a:bodyPr wrap="square" lIns="0" tIns="0" rIns="0" bIns="0" rtlCol="0" anchor="ctr"/>
          <a:lstStyle/>
          <a:p>
            <a:pPr marL="0" indent="0" algn="l">
              <a:lnSpc>
                <a:spcPct val="100000"/>
              </a:lnSpc>
              <a:buNone/>
            </a:pPr>
            <a:r>
              <a:rPr lang="en-US" sz="1500" dirty="0">
                <a:solidFill>
                  <a:schemeClr val="tx1"/>
                </a:solidFill>
                <a:latin typeface="Manrope" pitchFamily="34" charset="0"/>
                <a:ea typeface="Manrope" pitchFamily="34" charset="-122"/>
                <a:cs typeface="Manrope" pitchFamily="34" charset="-120"/>
              </a:rPr>
              <a:t>three servers, power iteration on secret shares</a:t>
            </a:r>
            <a:endParaRPr lang="en-US" sz="1500" dirty="0"/>
          </a:p>
        </p:txBody>
      </p:sp>
      <p:sp>
        <p:nvSpPr>
          <p:cNvPr id="17" name="Nudge gap"/>
          <p:cNvSpPr/>
          <p:nvPr/>
        </p:nvSpPr>
        <p:spPr>
          <a:xfrm>
            <a:off x="9107424" y="3044952"/>
            <a:ext cx="2542032" cy="502920"/>
          </a:xfrm>
          <a:prstGeom prst="roundRect">
            <a:avLst>
              <a:gd name="adj" fmla="val 14545"/>
            </a:avLst>
          </a:prstGeom>
          <a:solidFill>
            <a:schemeClr val="bg1"/>
          </a:solidFill>
          <a:ln w="12700">
            <a:solidFill>
              <a:schemeClr val="accent3"/>
            </a:solidFill>
            <a:prstDash val="dash"/>
          </a:ln>
        </p:spPr>
      </p:sp>
      <p:sp>
        <p:nvSpPr>
          <p:cNvPr id="18" name="Text 16"/>
          <p:cNvSpPr txBox="1"/>
          <p:nvPr/>
        </p:nvSpPr>
        <p:spPr>
          <a:xfrm>
            <a:off x="9290304" y="3044952"/>
            <a:ext cx="2267712" cy="502920"/>
          </a:xfrm>
          <a:prstGeom prst="rect">
            <a:avLst/>
          </a:prstGeom>
          <a:noFill/>
          <a:ln/>
        </p:spPr>
        <p:txBody>
          <a:bodyPr wrap="square" lIns="0" tIns="0" rIns="0" bIns="0" rtlCol="0" anchor="ctr"/>
          <a:lstStyle/>
          <a:p>
            <a:pPr marL="0" indent="0" algn="l">
              <a:lnSpc>
                <a:spcPct val="100000"/>
              </a:lnSpc>
              <a:buNone/>
            </a:pPr>
            <a:r>
              <a:rPr lang="en-US" sz="1500" dirty="0">
                <a:solidFill>
                  <a:schemeClr val="tx2"/>
                </a:solidFill>
                <a:latin typeface="Manrope" pitchFamily="34" charset="0"/>
                <a:ea typeface="Manrope" pitchFamily="34" charset="-122"/>
                <a:cs typeface="Manrope" pitchFamily="34" charset="-120"/>
              </a:rPr>
              <a:t>stops at the scores</a:t>
            </a:r>
            <a:endParaRPr lang="en-US" sz="1500" dirty="0"/>
          </a:p>
        </p:txBody>
      </p:sp>
      <p:sp>
        <p:nvSpPr>
          <p:cNvPr id="19" name="Text 17"/>
          <p:cNvSpPr txBox="1"/>
          <p:nvPr/>
        </p:nvSpPr>
        <p:spPr>
          <a:xfrm>
            <a:off x="548640" y="3794760"/>
            <a:ext cx="11094415"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PIRSONA  ·  POPETS 2021</a:t>
            </a:r>
            <a:endParaRPr lang="en-US" sz="1200" dirty="0"/>
          </a:p>
        </p:txBody>
      </p:sp>
      <p:sp>
        <p:nvSpPr>
          <p:cNvPr id="20" name="Pirsona coverage"/>
          <p:cNvSpPr/>
          <p:nvPr/>
        </p:nvSpPr>
        <p:spPr>
          <a:xfrm>
            <a:off x="548640" y="4096512"/>
            <a:ext cx="11100816" cy="502920"/>
          </a:xfrm>
          <a:prstGeom prst="roundRect">
            <a:avLst>
              <a:gd name="adj" fmla="val 14545"/>
            </a:avLst>
          </a:prstGeom>
          <a:solidFill>
            <a:schemeClr val="bg2"/>
          </a:solidFill>
          <a:ln w="12700">
            <a:solidFill>
              <a:schemeClr val="accent3"/>
            </a:solidFill>
            <a:prstDash val="solid"/>
          </a:ln>
        </p:spPr>
      </p:sp>
      <p:sp>
        <p:nvSpPr>
          <p:cNvPr id="21" name="Text 19"/>
          <p:cNvSpPr txBox="1"/>
          <p:nvPr/>
        </p:nvSpPr>
        <p:spPr>
          <a:xfrm>
            <a:off x="731520" y="4096512"/>
            <a:ext cx="10826496" cy="502920"/>
          </a:xfrm>
          <a:prstGeom prst="rect">
            <a:avLst/>
          </a:prstGeom>
          <a:noFill/>
          <a:ln/>
        </p:spPr>
        <p:txBody>
          <a:bodyPr wrap="square" lIns="0" tIns="0" rIns="0" bIns="0" rtlCol="0" anchor="ctr"/>
          <a:lstStyle/>
          <a:p>
            <a:pPr marL="0" indent="0" algn="l">
              <a:lnSpc>
                <a:spcPct val="100000"/>
              </a:lnSpc>
              <a:buNone/>
            </a:pPr>
            <a:r>
              <a:rPr lang="en-US" sz="1500" dirty="0">
                <a:solidFill>
                  <a:schemeClr val="tx1"/>
                </a:solidFill>
                <a:latin typeface="Manrope" pitchFamily="34" charset="0"/>
                <a:ea typeface="Manrope" pitchFamily="34" charset="-122"/>
                <a:cs typeface="Manrope" pitchFamily="34" charset="-120"/>
              </a:rPr>
              <a:t>private retrieval for delivery, and the harvest that feeds training, with four-party Boolean training</a:t>
            </a:r>
            <a:endParaRPr lang="en-US" sz="1500" dirty="0"/>
          </a:p>
        </p:txBody>
      </p:sp>
      <p:sp>
        <p:nvSpPr>
          <p:cNvPr id="22" name="Nudge quote"/>
          <p:cNvSpPr txBox="1"/>
          <p:nvPr/>
        </p:nvSpPr>
        <p:spPr>
          <a:xfrm>
            <a:off x="548640" y="5120640"/>
            <a:ext cx="9509760" cy="731520"/>
          </a:xfrm>
          <a:prstGeom prst="rect">
            <a:avLst/>
          </a:prstGeom>
          <a:noFill/>
          <a:ln/>
        </p:spPr>
        <p:txBody>
          <a:bodyPr wrap="square" lIns="0" tIns="0" rIns="0" bIns="0" rtlCol="0" anchor="t"/>
          <a:lstStyle/>
          <a:p>
            <a:pPr marL="0" indent="0" algn="l">
              <a:lnSpc>
                <a:spcPct val="108000"/>
              </a:lnSpc>
              <a:buNone/>
            </a:pPr>
            <a:r>
              <a:rPr lang="en-US" sz="1700" i="1" dirty="0">
                <a:solidFill>
                  <a:schemeClr val="tx1"/>
                </a:solidFill>
                <a:latin typeface="Manrope" pitchFamily="34" charset="0"/>
                <a:ea typeface="Manrope" pitchFamily="34" charset="-122"/>
                <a:cs typeface="Manrope" pitchFamily="34" charset="-120"/>
              </a:rPr>
              <a:t>“relies on other means (e.g., Apple’s private relay, Tor, or cryptographic private information retrieval) to let users fetch data items in a private way.”</a:t>
            </a:r>
            <a:endParaRPr lang="en-US" sz="1700" dirty="0"/>
          </a:p>
        </p:txBody>
      </p:sp>
      <p:sp>
        <p:nvSpPr>
          <p:cNvPr id="23" name="Text 21"/>
          <p:cNvSpPr txBox="1"/>
          <p:nvPr/>
        </p:nvSpPr>
        <p:spPr>
          <a:xfrm>
            <a:off x="548640" y="5870448"/>
            <a:ext cx="548640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Nudge, on what it does not do</a:t>
            </a:r>
            <a:endParaRPr lang="en-US" sz="11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What we built</a:t>
            </a:r>
            <a:endParaRPr lang="en-US" sz="3400" dirty="0"/>
          </a:p>
        </p:txBody>
      </p:sp>
      <p:sp>
        <p:nvSpPr>
          <p:cNvPr id="3" name="statement"/>
          <p:cNvSpPr txBox="1"/>
          <p:nvPr/>
        </p:nvSpPr>
        <p:spPr>
          <a:xfrm>
            <a:off x="548640" y="1554480"/>
            <a:ext cx="9875520" cy="1143000"/>
          </a:xfrm>
          <a:prstGeom prst="rect">
            <a:avLst/>
          </a:prstGeom>
          <a:noFill/>
          <a:ln/>
        </p:spPr>
        <p:txBody>
          <a:bodyPr wrap="square" lIns="0" tIns="0" rIns="0" bIns="0" rtlCol="0" anchor="t"/>
          <a:lstStyle/>
          <a:p>
            <a:pPr marL="0" indent="0" algn="l">
              <a:lnSpc>
                <a:spcPct val="105000"/>
              </a:lnSpc>
              <a:buNone/>
            </a:pPr>
            <a:r>
              <a:rPr lang="en-US" sz="3000" dirty="0">
                <a:solidFill>
                  <a:schemeClr val="tx1"/>
                </a:solidFill>
                <a:latin typeface="Manrope ExtraBold" pitchFamily="34" charset="0"/>
                <a:ea typeface="Manrope ExtraBold" pitchFamily="34" charset="-122"/>
                <a:cs typeface="Manrope ExtraBold" pitchFamily="34" charset="-120"/>
              </a:rPr>
              <a:t>Nudge’s private training, composed with Pirsona’s private delivery, and </a:t>
            </a:r>
            <a:r>
              <a:rPr lang="en-US" sz="3000" dirty="0">
                <a:solidFill>
                  <a:schemeClr val="accent1"/>
                </a:solidFill>
                <a:latin typeface="Manrope ExtraBold" pitchFamily="34" charset="0"/>
                <a:ea typeface="Manrope ExtraBold" pitchFamily="34" charset="-122"/>
                <a:cs typeface="Manrope ExtraBold" pitchFamily="34" charset="-120"/>
              </a:rPr>
              <a:t>measured</a:t>
            </a:r>
            <a:r>
              <a:rPr lang="en-US" sz="3000" dirty="0">
                <a:solidFill>
                  <a:schemeClr val="tx1"/>
                </a:solidFill>
                <a:latin typeface="Manrope ExtraBold" pitchFamily="34" charset="0"/>
                <a:ea typeface="Manrope ExtraBold" pitchFamily="34" charset="-122"/>
                <a:cs typeface="Manrope ExtraBold" pitchFamily="34" charset="-120"/>
              </a:rPr>
              <a:t>.</a:t>
            </a:r>
            <a:endParaRPr lang="en-US" sz="3000" dirty="0"/>
          </a:p>
        </p:txBody>
      </p:sp>
      <p:sp>
        <p:nvSpPr>
          <p:cNvPr id="4" name="divider"/>
          <p:cNvSpPr/>
          <p:nvPr/>
        </p:nvSpPr>
        <p:spPr>
          <a:xfrm>
            <a:off x="548640" y="3044952"/>
            <a:ext cx="11094415" cy="0"/>
          </a:xfrm>
          <a:prstGeom prst="line">
            <a:avLst/>
          </a:prstGeom>
          <a:noFill/>
          <a:ln w="12700">
            <a:solidFill>
              <a:schemeClr val="accent4"/>
            </a:solidFill>
            <a:prstDash val="solid"/>
          </a:ln>
        </p:spPr>
      </p:sp>
      <p:sp>
        <p:nvSpPr>
          <p:cNvPr id="5" name="Text 3"/>
          <p:cNvSpPr txBox="1"/>
          <p:nvPr/>
        </p:nvSpPr>
        <p:spPr>
          <a:xfrm>
            <a:off x="548640" y="3246120"/>
            <a:ext cx="2194560" cy="36576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WRITTEN</a:t>
            </a:r>
            <a:endParaRPr lang="en-US" sz="1200" dirty="0"/>
          </a:p>
        </p:txBody>
      </p:sp>
      <p:sp>
        <p:nvSpPr>
          <p:cNvPr id="6" name="Text 4"/>
          <p:cNvSpPr txBox="1"/>
          <p:nvPr/>
        </p:nvSpPr>
        <p:spPr>
          <a:xfrm>
            <a:off x="2834640" y="3209544"/>
            <a:ext cx="8778240" cy="457200"/>
          </a:xfrm>
          <a:prstGeom prst="rect">
            <a:avLst/>
          </a:prstGeom>
          <a:noFill/>
          <a:ln/>
        </p:spPr>
        <p:txBody>
          <a:bodyPr wrap="square" lIns="0" tIns="0" rIns="0" bIns="0" rtlCol="0" anchor="t"/>
          <a:lstStyle/>
          <a:p>
            <a:pPr marL="0" indent="0" algn="l">
              <a:lnSpc>
                <a:spcPct val="100000"/>
              </a:lnSpc>
              <a:buNone/>
            </a:pPr>
            <a:r>
              <a:rPr lang="en-US" sz="1900" dirty="0">
                <a:solidFill>
                  <a:schemeClr val="tx1"/>
                </a:solidFill>
                <a:latin typeface="Manrope" pitchFamily="34" charset="0"/>
                <a:ea typeface="Manrope" pitchFamily="34" charset="-122"/>
                <a:cs typeface="Manrope" pitchFamily="34" charset="-120"/>
              </a:rPr>
              <a:t>Every protocol in C++17, from the papers. No cryptographic library.</a:t>
            </a:r>
            <a:endParaRPr lang="en-US" sz="1900" dirty="0"/>
          </a:p>
        </p:txBody>
      </p:sp>
      <p:sp>
        <p:nvSpPr>
          <p:cNvPr id="7" name="divider"/>
          <p:cNvSpPr/>
          <p:nvPr/>
        </p:nvSpPr>
        <p:spPr>
          <a:xfrm>
            <a:off x="548640" y="3913632"/>
            <a:ext cx="11094415" cy="0"/>
          </a:xfrm>
          <a:prstGeom prst="line">
            <a:avLst/>
          </a:prstGeom>
          <a:noFill/>
          <a:ln w="12700">
            <a:solidFill>
              <a:schemeClr val="accent4"/>
            </a:solidFill>
            <a:prstDash val="solid"/>
          </a:ln>
        </p:spPr>
      </p:sp>
      <p:sp>
        <p:nvSpPr>
          <p:cNvPr id="8" name="Text 6"/>
          <p:cNvSpPr txBox="1"/>
          <p:nvPr/>
        </p:nvSpPr>
        <p:spPr>
          <a:xfrm>
            <a:off x="548640" y="4114800"/>
            <a:ext cx="2194560" cy="36576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CHECKED</a:t>
            </a:r>
            <a:endParaRPr lang="en-US" sz="1200" dirty="0"/>
          </a:p>
        </p:txBody>
      </p:sp>
      <p:sp>
        <p:nvSpPr>
          <p:cNvPr id="9" name="Text 7"/>
          <p:cNvSpPr txBox="1"/>
          <p:nvPr/>
        </p:nvSpPr>
        <p:spPr>
          <a:xfrm>
            <a:off x="2834640" y="4078224"/>
            <a:ext cx="8778240" cy="457200"/>
          </a:xfrm>
          <a:prstGeom prst="rect">
            <a:avLst/>
          </a:prstGeom>
          <a:noFill/>
          <a:ln/>
        </p:spPr>
        <p:txBody>
          <a:bodyPr wrap="square" lIns="0" tIns="0" rIns="0" bIns="0" rtlCol="0" anchor="t"/>
          <a:lstStyle/>
          <a:p>
            <a:pPr marL="0" indent="0" algn="l">
              <a:lnSpc>
                <a:spcPct val="100000"/>
              </a:lnSpc>
              <a:buNone/>
            </a:pPr>
            <a:r>
              <a:rPr lang="en-US" sz="1900" dirty="0">
                <a:solidFill>
                  <a:schemeClr val="tx1"/>
                </a:solidFill>
                <a:latin typeface="Manrope" pitchFamily="34" charset="0"/>
                <a:ea typeface="Manrope" pitchFamily="34" charset="-122"/>
                <a:cs typeface="Manrope" pitchFamily="34" charset="-120"/>
              </a:rPr>
              <a:t>18 test binaries, also run in a hardened build with undefined-behaviour traps and bounds checks.</a:t>
            </a:r>
            <a:endParaRPr lang="en-US" sz="1900" dirty="0"/>
          </a:p>
        </p:txBody>
      </p:sp>
      <p:sp>
        <p:nvSpPr>
          <p:cNvPr id="10" name="divider"/>
          <p:cNvSpPr/>
          <p:nvPr/>
        </p:nvSpPr>
        <p:spPr>
          <a:xfrm>
            <a:off x="548640" y="4782312"/>
            <a:ext cx="11094415" cy="0"/>
          </a:xfrm>
          <a:prstGeom prst="line">
            <a:avLst/>
          </a:prstGeom>
          <a:noFill/>
          <a:ln w="12700">
            <a:solidFill>
              <a:schemeClr val="accent4"/>
            </a:solidFill>
            <a:prstDash val="solid"/>
          </a:ln>
        </p:spPr>
      </p:sp>
      <p:sp>
        <p:nvSpPr>
          <p:cNvPr id="11" name="Text 9"/>
          <p:cNvSpPr txBox="1"/>
          <p:nvPr/>
        </p:nvSpPr>
        <p:spPr>
          <a:xfrm>
            <a:off x="548640" y="4983480"/>
            <a:ext cx="2194560" cy="36576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REPRODUCIBLE</a:t>
            </a:r>
            <a:endParaRPr lang="en-US" sz="1200" dirty="0"/>
          </a:p>
        </p:txBody>
      </p:sp>
      <p:sp>
        <p:nvSpPr>
          <p:cNvPr id="12" name="Text 10"/>
          <p:cNvSpPr txBox="1"/>
          <p:nvPr/>
        </p:nvSpPr>
        <p:spPr>
          <a:xfrm>
            <a:off x="2834640" y="4946904"/>
            <a:ext cx="8778240" cy="457200"/>
          </a:xfrm>
          <a:prstGeom prst="rect">
            <a:avLst/>
          </a:prstGeom>
          <a:noFill/>
          <a:ln/>
        </p:spPr>
        <p:txBody>
          <a:bodyPr wrap="square" lIns="0" tIns="0" rIns="0" bIns="0" rtlCol="0" anchor="t"/>
          <a:lstStyle/>
          <a:p>
            <a:pPr marL="0" indent="0" algn="l">
              <a:lnSpc>
                <a:spcPct val="100000"/>
              </a:lnSpc>
              <a:buNone/>
            </a:pPr>
            <a:r>
              <a:rPr lang="en-US" sz="1900" dirty="0">
                <a:solidFill>
                  <a:schemeClr val="tx1"/>
                </a:solidFill>
                <a:latin typeface="Manrope" pitchFamily="34" charset="0"/>
                <a:ea typeface="Manrope" pitchFamily="34" charset="-122"/>
                <a:cs typeface="Manrope" pitchFamily="34" charset="-120"/>
              </a:rPr>
              <a:t>One command, </a:t>
            </a:r>
            <a:r>
              <a:rPr lang="en-US" sz="1700" dirty="0">
                <a:solidFill>
                  <a:schemeClr val="tx1"/>
                </a:solidFill>
                <a:latin typeface="IBM Plex Mono" pitchFamily="34" charset="0"/>
                <a:ea typeface="IBM Plex Mono" pitchFamily="34" charset="-122"/>
                <a:cs typeface="IBM Plex Mono" pitchFamily="34" charset="-120"/>
              </a:rPr>
              <a:t>mingw32-make reproduce</a:t>
            </a:r>
            <a:r>
              <a:rPr lang="en-US" sz="1900" dirty="0">
                <a:solidFill>
                  <a:schemeClr val="tx1"/>
                </a:solidFill>
                <a:latin typeface="Manrope" pitchFamily="34" charset="0"/>
                <a:ea typeface="Manrope" pitchFamily="34" charset="-122"/>
                <a:cs typeface="Manrope" pitchFamily="34" charset="-120"/>
              </a:rPr>
              <a:t>, rebuilds every figure from committed data.</a:t>
            </a:r>
            <a:endParaRPr lang="en-US" sz="1900" dirty="0"/>
          </a:p>
        </p:txBody>
      </p:sp>
      <p:sp>
        <p:nvSpPr>
          <p:cNvPr id="13" name="divider"/>
          <p:cNvSpPr/>
          <p:nvPr/>
        </p:nvSpPr>
        <p:spPr>
          <a:xfrm>
            <a:off x="548640" y="5650992"/>
            <a:ext cx="11094415" cy="0"/>
          </a:xfrm>
          <a:prstGeom prst="line">
            <a:avLst/>
          </a:prstGeom>
          <a:noFill/>
          <a:ln w="12700">
            <a:solidFill>
              <a:schemeClr val="accent4"/>
            </a:solidFill>
            <a:prstDash val="solid"/>
          </a:ln>
        </p:spPr>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Private training</a:t>
            </a:r>
            <a:endParaRPr lang="en-US" sz="3400" dirty="0"/>
          </a:p>
        </p:txBody>
      </p:sp>
      <p:sp>
        <p:nvSpPr>
          <p:cNvPr id="3" name="Text 1"/>
          <p:cNvSpPr txBox="1"/>
          <p:nvPr/>
        </p:nvSpPr>
        <p:spPr>
          <a:xfrm>
            <a:off x="548640" y="1508760"/>
            <a:ext cx="4937760" cy="548640"/>
          </a:xfrm>
          <a:prstGeom prst="rect">
            <a:avLst/>
          </a:prstGeom>
          <a:noFill/>
          <a:ln/>
        </p:spPr>
        <p:txBody>
          <a:bodyPr wrap="square" lIns="0" tIns="0" rIns="0" bIns="0" rtlCol="0" anchor="t"/>
          <a:lstStyle/>
          <a:p>
            <a:pPr marL="0" indent="0" algn="l">
              <a:lnSpc>
                <a:spcPct val="100000"/>
              </a:lnSpc>
              <a:buNone/>
            </a:pPr>
            <a:r>
              <a:rPr lang="en-US" sz="2600" dirty="0">
                <a:solidFill>
                  <a:schemeClr val="tx1"/>
                </a:solidFill>
                <a:latin typeface="Manrope ExtraBold" pitchFamily="34" charset="0"/>
                <a:ea typeface="Manrope ExtraBold" pitchFamily="34" charset="-122"/>
                <a:cs typeface="Manrope ExtraBold" pitchFamily="34" charset="-120"/>
              </a:rPr>
              <a:t>x  =  x₀ + x₁ + x₂</a:t>
            </a:r>
            <a:endParaRPr lang="en-US" sz="2600" dirty="0"/>
          </a:p>
        </p:txBody>
      </p:sp>
      <p:sp>
        <p:nvSpPr>
          <p:cNvPr id="4" name="P₀"/>
          <p:cNvSpPr/>
          <p:nvPr/>
        </p:nvSpPr>
        <p:spPr>
          <a:xfrm>
            <a:off x="548640" y="2286000"/>
            <a:ext cx="1481328" cy="960120"/>
          </a:xfrm>
          <a:prstGeom prst="roundRect">
            <a:avLst>
              <a:gd name="adj" fmla="val 9524"/>
            </a:avLst>
          </a:prstGeom>
          <a:solidFill>
            <a:schemeClr val="bg2"/>
          </a:solidFill>
          <a:ln/>
        </p:spPr>
      </p:sp>
      <p:sp>
        <p:nvSpPr>
          <p:cNvPr id="5" name="Text 3"/>
          <p:cNvSpPr txBox="1"/>
          <p:nvPr/>
        </p:nvSpPr>
        <p:spPr>
          <a:xfrm>
            <a:off x="713232" y="2404872"/>
            <a:ext cx="1280160" cy="777240"/>
          </a:xfrm>
          <a:prstGeom prst="rect">
            <a:avLst/>
          </a:prstGeom>
          <a:noFill/>
          <a:ln/>
        </p:spPr>
        <p:txBody>
          <a:bodyPr wrap="square" lIns="0" tIns="0" rIns="0" bIns="0" rtlCol="0" anchor="t"/>
          <a:lstStyle/>
          <a:p>
            <a:pPr marL="0" indent="0" algn="l">
              <a:lnSpc>
                <a:spcPct val="100000"/>
              </a:lnSpc>
              <a:buNone/>
            </a:pPr>
            <a:r>
              <a:rPr lang="en-US" sz="2000" b="1" dirty="0">
                <a:solidFill>
                  <a:schemeClr val="tx1"/>
                </a:solidFill>
                <a:latin typeface="Manrope" pitchFamily="34" charset="0"/>
                <a:ea typeface="Manrope" pitchFamily="34" charset="-122"/>
                <a:cs typeface="Manrope" pitchFamily="34" charset="-120"/>
              </a:rPr>
              <a:t>P₀</a:t>
            </a:r>
            <a:endParaRPr lang="en-US" sz="20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holds x₀, x₁</a:t>
            </a:r>
            <a:endParaRPr lang="en-US" sz="2000" dirty="0"/>
          </a:p>
        </p:txBody>
      </p:sp>
      <p:sp>
        <p:nvSpPr>
          <p:cNvPr id="6" name="P₁"/>
          <p:cNvSpPr/>
          <p:nvPr/>
        </p:nvSpPr>
        <p:spPr>
          <a:xfrm>
            <a:off x="2249424" y="2286000"/>
            <a:ext cx="1481328" cy="960120"/>
          </a:xfrm>
          <a:prstGeom prst="roundRect">
            <a:avLst>
              <a:gd name="adj" fmla="val 9524"/>
            </a:avLst>
          </a:prstGeom>
          <a:solidFill>
            <a:schemeClr val="bg2"/>
          </a:solidFill>
          <a:ln/>
        </p:spPr>
      </p:sp>
      <p:sp>
        <p:nvSpPr>
          <p:cNvPr id="7" name="Text 5"/>
          <p:cNvSpPr txBox="1"/>
          <p:nvPr/>
        </p:nvSpPr>
        <p:spPr>
          <a:xfrm>
            <a:off x="2414016" y="2404872"/>
            <a:ext cx="1280160" cy="777240"/>
          </a:xfrm>
          <a:prstGeom prst="rect">
            <a:avLst/>
          </a:prstGeom>
          <a:noFill/>
          <a:ln/>
        </p:spPr>
        <p:txBody>
          <a:bodyPr wrap="square" lIns="0" tIns="0" rIns="0" bIns="0" rtlCol="0" anchor="t"/>
          <a:lstStyle/>
          <a:p>
            <a:pPr marL="0" indent="0" algn="l">
              <a:lnSpc>
                <a:spcPct val="100000"/>
              </a:lnSpc>
              <a:buNone/>
            </a:pPr>
            <a:r>
              <a:rPr lang="en-US" sz="2000" b="1" dirty="0">
                <a:solidFill>
                  <a:schemeClr val="tx1"/>
                </a:solidFill>
                <a:latin typeface="Manrope" pitchFamily="34" charset="0"/>
                <a:ea typeface="Manrope" pitchFamily="34" charset="-122"/>
                <a:cs typeface="Manrope" pitchFamily="34" charset="-120"/>
              </a:rPr>
              <a:t>P₁</a:t>
            </a:r>
            <a:endParaRPr lang="en-US" sz="20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holds x₁, x₂</a:t>
            </a:r>
            <a:endParaRPr lang="en-US" sz="2000" dirty="0"/>
          </a:p>
        </p:txBody>
      </p:sp>
      <p:sp>
        <p:nvSpPr>
          <p:cNvPr id="8" name="P₂"/>
          <p:cNvSpPr/>
          <p:nvPr/>
        </p:nvSpPr>
        <p:spPr>
          <a:xfrm>
            <a:off x="3950208" y="2286000"/>
            <a:ext cx="1481328" cy="960120"/>
          </a:xfrm>
          <a:prstGeom prst="roundRect">
            <a:avLst>
              <a:gd name="adj" fmla="val 9524"/>
            </a:avLst>
          </a:prstGeom>
          <a:solidFill>
            <a:schemeClr val="bg2"/>
          </a:solidFill>
          <a:ln/>
        </p:spPr>
      </p:sp>
      <p:sp>
        <p:nvSpPr>
          <p:cNvPr id="9" name="Text 7"/>
          <p:cNvSpPr txBox="1"/>
          <p:nvPr/>
        </p:nvSpPr>
        <p:spPr>
          <a:xfrm>
            <a:off x="4114800" y="2404872"/>
            <a:ext cx="1280160" cy="777240"/>
          </a:xfrm>
          <a:prstGeom prst="rect">
            <a:avLst/>
          </a:prstGeom>
          <a:noFill/>
          <a:ln/>
        </p:spPr>
        <p:txBody>
          <a:bodyPr wrap="square" lIns="0" tIns="0" rIns="0" bIns="0" rtlCol="0" anchor="t"/>
          <a:lstStyle/>
          <a:p>
            <a:pPr marL="0" indent="0" algn="l">
              <a:lnSpc>
                <a:spcPct val="100000"/>
              </a:lnSpc>
              <a:buNone/>
            </a:pPr>
            <a:r>
              <a:rPr lang="en-US" sz="2000" b="1" dirty="0">
                <a:solidFill>
                  <a:schemeClr val="tx1"/>
                </a:solidFill>
                <a:latin typeface="Manrope" pitchFamily="34" charset="0"/>
                <a:ea typeface="Manrope" pitchFamily="34" charset="-122"/>
                <a:cs typeface="Manrope" pitchFamily="34" charset="-120"/>
              </a:rPr>
              <a:t>P₂</a:t>
            </a:r>
            <a:endParaRPr lang="en-US" sz="20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holds x₂, x₀</a:t>
            </a:r>
            <a:endParaRPr lang="en-US" sz="2000" dirty="0"/>
          </a:p>
        </p:txBody>
      </p:sp>
      <p:sp>
        <p:nvSpPr>
          <p:cNvPr id="10" name="Text 8"/>
          <p:cNvSpPr txBox="1"/>
          <p:nvPr/>
        </p:nvSpPr>
        <p:spPr>
          <a:xfrm>
            <a:off x="548640" y="3474720"/>
            <a:ext cx="4937760" cy="914400"/>
          </a:xfrm>
          <a:prstGeom prst="rect">
            <a:avLst/>
          </a:prstGeom>
          <a:noFill/>
          <a:ln/>
        </p:spPr>
        <p:txBody>
          <a:bodyPr wrap="square" lIns="0" tIns="0" rIns="0" bIns="0" rtlCol="0" anchor="t"/>
          <a:lstStyle/>
          <a:p>
            <a:pPr marL="0" indent="0" algn="l">
              <a:lnSpc>
                <a:spcPct val="110000"/>
              </a:lnSpc>
              <a:buNone/>
            </a:pPr>
            <a:r>
              <a:rPr lang="en-US" sz="1500" dirty="0">
                <a:solidFill>
                  <a:schemeClr val="tx2"/>
                </a:solidFill>
                <a:latin typeface="Manrope" pitchFamily="34" charset="0"/>
                <a:ea typeface="Manrope" pitchFamily="34" charset="-122"/>
                <a:cs typeface="Manrope" pitchFamily="34" charset="-120"/>
              </a:rPr>
              <a:t>One server sees two uniformly random pieces. Any two can reconstruct, so we assume at most one is compromised.</a:t>
            </a:r>
            <a:endParaRPr lang="en-US" sz="1500" dirty="0"/>
          </a:p>
        </p:txBody>
      </p:sp>
      <p:sp>
        <p:nvSpPr>
          <p:cNvPr id="11" name="loop panel"/>
          <p:cNvSpPr/>
          <p:nvPr/>
        </p:nvSpPr>
        <p:spPr>
          <a:xfrm>
            <a:off x="5897880" y="1508760"/>
            <a:ext cx="5742432" cy="3794760"/>
          </a:xfrm>
          <a:prstGeom prst="roundRect">
            <a:avLst>
              <a:gd name="adj" fmla="val 3855"/>
            </a:avLst>
          </a:prstGeom>
          <a:solidFill>
            <a:schemeClr val="bg2"/>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80760" y="1691640"/>
          <a:ext cx="5394960" cy="914400"/>
        </p:xfrm>
        <a:graphic>
          <a:graphicData uri="http://schemas.openxmlformats.org/drawingml/2006/table">
            <a:tbl>
              <a:tblPr/>
              <a:tblGrid>
                <a:gridCol w="34290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tblGrid>
              <a:tr h="365760">
                <a:tc>
                  <a:txBody>
                    <a:bodyPr/>
                    <a:lstStyle/>
                    <a:p>
                      <a:pPr marL="0" indent="0">
                        <a:buNone/>
                      </a:pPr>
                      <a:r>
                        <a:rPr lang="en-US" sz="1500" dirty="0">
                          <a:solidFill>
                            <a:schemeClr val="tx1"/>
                          </a:solidFill>
                          <a:latin typeface="IBM Plex Mono" pitchFamily="34" charset="0"/>
                          <a:ea typeface="IBM Plex Mono" pitchFamily="34" charset="-122"/>
                          <a:cs typeface="IBM Plex Mono" pitchFamily="34" charset="-120"/>
                        </a:rPr>
                        <a:t>for each of 16 components</a:t>
                      </a:r>
                      <a:endParaRPr lang="en-US" sz="15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r">
                        <a:buNone/>
                      </a:pPr>
                      <a:endParaRPr lang="en-US" sz="13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0"/>
                  </a:ext>
                </a:extLst>
              </a:tr>
              <a:tr h="365760">
                <a:tc>
                  <a:txBody>
                    <a:bodyPr/>
                    <a:lstStyle/>
                    <a:p>
                      <a:pPr marL="0" indent="0">
                        <a:buNone/>
                      </a:pPr>
                      <a:r>
                        <a:rPr lang="en-US" sz="1500" dirty="0">
                          <a:solidFill>
                            <a:schemeClr val="tx1"/>
                          </a:solidFill>
                          <a:latin typeface="IBM Plex Mono" pitchFamily="34" charset="0"/>
                          <a:ea typeface="IBM Plex Mono" pitchFamily="34" charset="-122"/>
                          <a:cs typeface="IBM Plex Mono" pitchFamily="34" charset="-120"/>
                        </a:rPr>
                        <a:t>  v ← random start</a:t>
                      </a:r>
                      <a:endParaRPr lang="en-US" sz="15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r">
                        <a:buNone/>
                      </a:pPr>
                      <a:endParaRPr lang="en-US" sz="13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1"/>
                  </a:ext>
                </a:extLst>
              </a:tr>
              <a:tr h="365760">
                <a:tc>
                  <a:txBody>
                    <a:bodyPr/>
                    <a:lstStyle/>
                    <a:p>
                      <a:pPr marL="0" indent="0">
                        <a:buNone/>
                      </a:pPr>
                      <a:r>
                        <a:rPr lang="en-US" sz="1500" dirty="0">
                          <a:solidFill>
                            <a:schemeClr val="tx1"/>
                          </a:solidFill>
                          <a:latin typeface="IBM Plex Mono" pitchFamily="34" charset="0"/>
                          <a:ea typeface="IBM Plex Mono" pitchFamily="34" charset="-122"/>
                          <a:cs typeface="IBM Plex Mono" pitchFamily="34" charset="-120"/>
                        </a:rPr>
                        <a:t>  repeat 10 times</a:t>
                      </a:r>
                      <a:endParaRPr lang="en-US" sz="15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r">
                        <a:buNone/>
                      </a:pPr>
                      <a:endParaRPr lang="en-US" sz="13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2"/>
                  </a:ext>
                </a:extLst>
              </a:tr>
              <a:tr h="365760">
                <a:tc>
                  <a:txBody>
                    <a:bodyPr/>
                    <a:lstStyle/>
                    <a:p>
                      <a:pPr marL="0" indent="0">
                        <a:buNone/>
                      </a:pPr>
                      <a:r>
                        <a:rPr lang="en-US" sz="1500" dirty="0">
                          <a:solidFill>
                            <a:schemeClr val="tx1"/>
                          </a:solidFill>
                          <a:latin typeface="IBM Plex Mono" pitchFamily="34" charset="0"/>
                          <a:ea typeface="IBM Plex Mono" pitchFamily="34" charset="-122"/>
                          <a:cs typeface="IBM Plex Mono" pitchFamily="34" charset="-120"/>
                        </a:rPr>
                        <a:t>    w ← U · v</a:t>
                      </a:r>
                      <a:endParaRPr lang="en-US" sz="15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r">
                        <a:buNone/>
                      </a:pPr>
                      <a:r>
                        <a:rPr lang="en-US" sz="1300" dirty="0">
                          <a:solidFill>
                            <a:schemeClr val="tx2"/>
                          </a:solidFill>
                          <a:latin typeface="IBM Plex Mono" pitchFamily="34" charset="0"/>
                          <a:ea typeface="IBM Plex Mono" pitchFamily="34" charset="-122"/>
                          <a:cs typeface="IBM Plex Mono" pitchFamily="34" charset="-120"/>
                        </a:rPr>
                        <a:t>1 round</a:t>
                      </a:r>
                      <a:endParaRPr lang="en-US" sz="13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3"/>
                  </a:ext>
                </a:extLst>
              </a:tr>
              <a:tr h="365760">
                <a:tc>
                  <a:txBody>
                    <a:bodyPr/>
                    <a:lstStyle/>
                    <a:p>
                      <a:pPr marL="0" indent="0">
                        <a:buNone/>
                      </a:pPr>
                      <a:r>
                        <a:rPr lang="en-US" sz="1500" dirty="0">
                          <a:solidFill>
                            <a:schemeClr val="tx1"/>
                          </a:solidFill>
                          <a:latin typeface="IBM Plex Mono" pitchFamily="34" charset="0"/>
                          <a:ea typeface="IBM Plex Mono" pitchFamily="34" charset="-122"/>
                          <a:cs typeface="IBM Plex Mono" pitchFamily="34" charset="-120"/>
                        </a:rPr>
                        <a:t>    v ← transpose(U) · w</a:t>
                      </a:r>
                      <a:endParaRPr lang="en-US" sz="15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r">
                        <a:buNone/>
                      </a:pPr>
                      <a:r>
                        <a:rPr lang="en-US" sz="1300" dirty="0">
                          <a:solidFill>
                            <a:schemeClr val="tx2"/>
                          </a:solidFill>
                          <a:latin typeface="IBM Plex Mono" pitchFamily="34" charset="0"/>
                          <a:ea typeface="IBM Plex Mono" pitchFamily="34" charset="-122"/>
                          <a:cs typeface="IBM Plex Mono" pitchFamily="34" charset="-120"/>
                        </a:rPr>
                        <a:t>1 round</a:t>
                      </a:r>
                      <a:endParaRPr lang="en-US" sz="13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4"/>
                  </a:ext>
                </a:extLst>
              </a:tr>
              <a:tr h="365760">
                <a:tc>
                  <a:txBody>
                    <a:bodyPr/>
                    <a:lstStyle/>
                    <a:p>
                      <a:pPr marL="0" indent="0">
                        <a:buNone/>
                      </a:pPr>
                      <a:r>
                        <a:rPr lang="en-US" sz="1500" dirty="0">
                          <a:solidFill>
                            <a:schemeClr val="tx1"/>
                          </a:solidFill>
                          <a:latin typeface="IBM Plex Mono" pitchFamily="34" charset="0"/>
                          <a:ea typeface="IBM Plex Mono" pitchFamily="34" charset="-122"/>
                          <a:cs typeface="IBM Plex Mono" pitchFamily="34" charset="-120"/>
                        </a:rPr>
                        <a:t>    v ← Trunc(v)</a:t>
                      </a:r>
                      <a:endParaRPr lang="en-US" sz="15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r">
                        <a:buNone/>
                      </a:pPr>
                      <a:r>
                        <a:rPr lang="en-US" sz="1300" dirty="0">
                          <a:solidFill>
                            <a:schemeClr val="accent1"/>
                          </a:solidFill>
                          <a:latin typeface="IBM Plex Mono" pitchFamily="34" charset="0"/>
                          <a:ea typeface="IBM Plex Mono" pitchFamily="34" charset="-122"/>
                          <a:cs typeface="IBM Plex Mono" pitchFamily="34" charset="-120"/>
                        </a:rPr>
                        <a:t>3 rounds</a:t>
                      </a:r>
                      <a:endParaRPr lang="en-US" sz="13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5"/>
                  </a:ext>
                </a:extLst>
              </a:tr>
              <a:tr h="365760">
                <a:tc>
                  <a:txBody>
                    <a:bodyPr/>
                    <a:lstStyle/>
                    <a:p>
                      <a:pPr marL="0" indent="0">
                        <a:buNone/>
                      </a:pPr>
                      <a:r>
                        <a:rPr lang="en-US" sz="1500" dirty="0">
                          <a:solidFill>
                            <a:schemeClr val="tx1"/>
                          </a:solidFill>
                          <a:latin typeface="IBM Plex Mono" pitchFamily="34" charset="0"/>
                          <a:ea typeface="IBM Plex Mono" pitchFamily="34" charset="-122"/>
                          <a:cs typeface="IBM Plex Mono" pitchFamily="34" charset="-120"/>
                        </a:rPr>
                        <a:t>    v ← SetOrthogonal(v, B)</a:t>
                      </a:r>
                      <a:endParaRPr lang="en-US" sz="15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r">
                        <a:buNone/>
                      </a:pPr>
                      <a:r>
                        <a:rPr lang="en-US" sz="1300" dirty="0">
                          <a:solidFill>
                            <a:schemeClr val="tx2"/>
                          </a:solidFill>
                          <a:latin typeface="IBM Plex Mono" pitchFamily="34" charset="0"/>
                          <a:ea typeface="IBM Plex Mono" pitchFamily="34" charset="-122"/>
                          <a:cs typeface="IBM Plex Mono" pitchFamily="34" charset="-120"/>
                        </a:rPr>
                        <a:t>local, then Trunc</a:t>
                      </a:r>
                      <a:endParaRPr lang="en-US" sz="13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6"/>
                  </a:ext>
                </a:extLst>
              </a:tr>
              <a:tr h="365760">
                <a:tc>
                  <a:txBody>
                    <a:bodyPr/>
                    <a:lstStyle/>
                    <a:p>
                      <a:pPr marL="0" indent="0">
                        <a:buNone/>
                      </a:pPr>
                      <a:r>
                        <a:rPr lang="en-US" sz="1500" dirty="0">
                          <a:solidFill>
                            <a:schemeClr val="tx1"/>
                          </a:solidFill>
                          <a:latin typeface="IBM Plex Mono" pitchFamily="34" charset="0"/>
                          <a:ea typeface="IBM Plex Mono" pitchFamily="34" charset="-122"/>
                          <a:cs typeface="IBM Plex Mono" pitchFamily="34" charset="-120"/>
                        </a:rPr>
                        <a:t>    v ← Normalize(v)</a:t>
                      </a:r>
                      <a:endParaRPr lang="en-US" sz="15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r">
                        <a:buNone/>
                      </a:pPr>
                      <a:r>
                        <a:rPr lang="en-US" sz="1300" dirty="0">
                          <a:solidFill>
                            <a:schemeClr val="tx2"/>
                          </a:solidFill>
                          <a:latin typeface="IBM Plex Mono" pitchFamily="34" charset="0"/>
                          <a:ea typeface="IBM Plex Mono" pitchFamily="34" charset="-122"/>
                          <a:cs typeface="IBM Plex Mono" pitchFamily="34" charset="-120"/>
                        </a:rPr>
                        <a:t>Trunc inside</a:t>
                      </a:r>
                      <a:endParaRPr lang="en-US" sz="13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7"/>
                  </a:ext>
                </a:extLst>
              </a:tr>
              <a:tr h="365760">
                <a:tc>
                  <a:txBody>
                    <a:bodyPr/>
                    <a:lstStyle/>
                    <a:p>
                      <a:pPr marL="0" indent="0">
                        <a:buNone/>
                      </a:pPr>
                      <a:r>
                        <a:rPr lang="en-US" sz="1500" dirty="0">
                          <a:solidFill>
                            <a:schemeClr val="accent1"/>
                          </a:solidFill>
                          <a:latin typeface="IBM Plex Mono" pitchFamily="34" charset="0"/>
                          <a:ea typeface="IBM Plex Mono" pitchFamily="34" charset="-122"/>
                          <a:cs typeface="IBM Plex Mono" pitchFamily="34" charset="-120"/>
                        </a:rPr>
                        <a:t>  open v as the next row of B</a:t>
                      </a:r>
                      <a:endParaRPr lang="en-US" sz="15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r">
                        <a:buNone/>
                      </a:pPr>
                      <a:r>
                        <a:rPr lang="en-US" sz="1300" dirty="0">
                          <a:solidFill>
                            <a:schemeClr val="accent1"/>
                          </a:solidFill>
                          <a:latin typeface="IBM Plex Mono" pitchFamily="34" charset="0"/>
                          <a:ea typeface="IBM Plex Mono" pitchFamily="34" charset="-122"/>
                          <a:cs typeface="IBM Plex Mono" pitchFamily="34" charset="-120"/>
                        </a:rPr>
                        <a:t>public by design</a:t>
                      </a:r>
                      <a:endParaRPr lang="en-US" sz="1300" dirty="0">
                        <a:latin typeface="IBM Plex Mono" charset="0"/>
                        <a:ea typeface="IBM Plex Mono" charset="0"/>
                        <a:cs typeface="IBM Plex Mono" charset="0"/>
                      </a:endParaRPr>
                    </a:p>
                  </a:txBody>
                  <a:tcPr marL="36576" marR="36576"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8"/>
                  </a:ext>
                </a:extLst>
              </a:tr>
            </a:tbl>
          </a:graphicData>
        </a:graphic>
      </p:graphicFrame>
      <p:sp>
        <p:nvSpPr>
          <p:cNvPr id="13" name="Text 10"/>
          <p:cNvSpPr txBox="1"/>
          <p:nvPr/>
        </p:nvSpPr>
        <p:spPr>
          <a:xfrm>
            <a:off x="548640" y="5440680"/>
            <a:ext cx="11094415" cy="640080"/>
          </a:xfrm>
          <a:prstGeom prst="rect">
            <a:avLst/>
          </a:prstGeom>
          <a:noFill/>
          <a:ln/>
        </p:spPr>
        <p:txBody>
          <a:bodyPr wrap="square" lIns="0" tIns="0" rIns="0" bIns="0" rtlCol="0" anchor="t"/>
          <a:lstStyle/>
          <a:p>
            <a:pPr marL="0" indent="0" algn="l">
              <a:lnSpc>
                <a:spcPct val="108000"/>
              </a:lnSpc>
              <a:buNone/>
            </a:pPr>
            <a:r>
              <a:rPr lang="en-US" sz="1700" dirty="0">
                <a:solidFill>
                  <a:schemeClr val="tx1"/>
                </a:solidFill>
                <a:latin typeface="Manrope" pitchFamily="34" charset="0"/>
                <a:ea typeface="Manrope" pitchFamily="34" charset="-122"/>
                <a:cs typeface="Manrope" pitchFamily="34" charset="-120"/>
              </a:rPr>
              <a:t>Matrix-vector products cost one round each, whatever the size of U. Truncation and normalisation take most of the rounds.</a:t>
            </a:r>
            <a:endParaRPr lang="en-US" sz="17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Private delivery</a:t>
            </a:r>
            <a:endParaRPr lang="en-US" sz="3400" dirty="0"/>
          </a:p>
        </p:txBody>
      </p:sp>
      <p:sp>
        <p:nvSpPr>
          <p:cNvPr id="3" name="step 1"/>
          <p:cNvSpPr/>
          <p:nvPr/>
        </p:nvSpPr>
        <p:spPr>
          <a:xfrm>
            <a:off x="548640" y="1554480"/>
            <a:ext cx="2487168" cy="1600200"/>
          </a:xfrm>
          <a:prstGeom prst="roundRect">
            <a:avLst>
              <a:gd name="adj" fmla="val 5714"/>
            </a:avLst>
          </a:prstGeom>
          <a:solidFill>
            <a:schemeClr val="bg2"/>
          </a:solidFill>
          <a:ln/>
        </p:spPr>
      </p:sp>
      <p:sp>
        <p:nvSpPr>
          <p:cNvPr id="4" name="Text 2"/>
          <p:cNvSpPr txBox="1"/>
          <p:nvPr/>
        </p:nvSpPr>
        <p:spPr>
          <a:xfrm>
            <a:off x="731520" y="1700784"/>
            <a:ext cx="91440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01</a:t>
            </a:r>
            <a:endParaRPr lang="en-US" sz="1100" dirty="0"/>
          </a:p>
        </p:txBody>
      </p:sp>
      <p:sp>
        <p:nvSpPr>
          <p:cNvPr id="5" name="Text 3"/>
          <p:cNvSpPr txBox="1"/>
          <p:nvPr/>
        </p:nvSpPr>
        <p:spPr>
          <a:xfrm>
            <a:off x="731520" y="1993392"/>
            <a:ext cx="2139696" cy="1051560"/>
          </a:xfrm>
          <a:prstGeom prst="rect">
            <a:avLst/>
          </a:prstGeom>
          <a:noFill/>
          <a:ln/>
        </p:spPr>
        <p:txBody>
          <a:bodyPr wrap="square" lIns="0" tIns="0" rIns="0" bIns="0" rtlCol="0" anchor="t"/>
          <a:lstStyle/>
          <a:p>
            <a:pPr marL="0" indent="0" algn="l">
              <a:lnSpc>
                <a:spcPct val="105000"/>
              </a:lnSpc>
              <a:buNone/>
            </a:pPr>
            <a:r>
              <a:rPr lang="en-US" sz="1700" b="1" dirty="0">
                <a:solidFill>
                  <a:schemeClr val="tx1"/>
                </a:solidFill>
                <a:latin typeface="Manrope" pitchFamily="34" charset="0"/>
                <a:ea typeface="Manrope" pitchFamily="34" charset="-122"/>
                <a:cs typeface="Manrope" pitchFamily="34" charset="-120"/>
              </a:rPr>
              <a:t>Servers</a:t>
            </a:r>
            <a:endParaRPr lang="en-US" sz="1700" dirty="0"/>
          </a:p>
          <a:p>
            <a:pPr marL="0" indent="0" algn="l">
              <a:lnSpc>
                <a:spcPct val="105000"/>
              </a:lnSpc>
              <a:buNone/>
            </a:pPr>
            <a:r>
              <a:rPr lang="en-US" sz="1700" dirty="0">
                <a:solidFill>
                  <a:schemeClr val="tx1"/>
                </a:solidFill>
                <a:latin typeface="Manrope" pitchFamily="34" charset="0"/>
                <a:ea typeface="Manrope" pitchFamily="34" charset="-122"/>
                <a:cs typeface="Manrope" pitchFamily="34" charset="-120"/>
              </a:rPr>
              <a:t>score shares </a:t>
            </a:r>
            <a:r>
              <a:rPr lang="en-US" sz="1700" dirty="0">
                <a:solidFill>
                  <a:schemeClr val="tx1"/>
                </a:solidFill>
                <a:latin typeface="Cambria Math" pitchFamily="34" charset="0"/>
                <a:ea typeface="Cambria Math" pitchFamily="34" charset="-122"/>
                <a:cs typeface="Cambria Math" pitchFamily="34" charset="-120"/>
              </a:rPr>
              <a:t>⟦</a:t>
            </a:r>
            <a:r>
              <a:rPr lang="en-US" sz="1700" dirty="0">
                <a:solidFill>
                  <a:schemeClr val="tx1"/>
                </a:solidFill>
                <a:latin typeface="Manrope" pitchFamily="34" charset="0"/>
                <a:ea typeface="Manrope" pitchFamily="34" charset="-122"/>
                <a:cs typeface="Manrope" pitchFamily="34" charset="-120"/>
              </a:rPr>
              <a:t>a</a:t>
            </a:r>
            <a:r>
              <a:rPr lang="en-US" sz="1700" dirty="0">
                <a:solidFill>
                  <a:schemeClr val="tx1"/>
                </a:solidFill>
                <a:latin typeface="Cambria Math" pitchFamily="34" charset="0"/>
                <a:ea typeface="Cambria Math" pitchFamily="34" charset="-122"/>
                <a:cs typeface="Cambria Math" pitchFamily="34" charset="-120"/>
              </a:rPr>
              <a:t>⟧</a:t>
            </a:r>
            <a:r>
              <a:rPr lang="en-US" sz="1700" dirty="0">
                <a:solidFill>
                  <a:schemeClr val="tx1"/>
                </a:solidFill>
                <a:latin typeface="Manrope" pitchFamily="34" charset="0"/>
                <a:ea typeface="Manrope" pitchFamily="34" charset="-122"/>
                <a:cs typeface="Manrope" pitchFamily="34" charset="-120"/>
              </a:rPr>
              <a:t> · B, computed locally, no rounds</a:t>
            </a:r>
            <a:endParaRPr lang="en-US" sz="1700" dirty="0"/>
          </a:p>
        </p:txBody>
      </p:sp>
      <p:sp>
        <p:nvSpPr>
          <p:cNvPr id="6" name="arrow"/>
          <p:cNvSpPr/>
          <p:nvPr/>
        </p:nvSpPr>
        <p:spPr>
          <a:xfrm>
            <a:off x="3090672" y="2354580"/>
            <a:ext cx="274320" cy="914"/>
          </a:xfrm>
          <a:prstGeom prst="line">
            <a:avLst/>
          </a:prstGeom>
          <a:noFill/>
          <a:ln w="15875">
            <a:solidFill>
              <a:schemeClr val="accent3"/>
            </a:solidFill>
            <a:prstDash val="solid"/>
            <a:tailEnd type="triangle"/>
          </a:ln>
        </p:spPr>
      </p:sp>
      <p:sp>
        <p:nvSpPr>
          <p:cNvPr id="7" name="step 2"/>
          <p:cNvSpPr/>
          <p:nvPr/>
        </p:nvSpPr>
        <p:spPr>
          <a:xfrm>
            <a:off x="3419856" y="1554480"/>
            <a:ext cx="2487168" cy="1600200"/>
          </a:xfrm>
          <a:prstGeom prst="roundRect">
            <a:avLst>
              <a:gd name="adj" fmla="val 5714"/>
            </a:avLst>
          </a:prstGeom>
          <a:solidFill>
            <a:schemeClr val="accent2"/>
          </a:solidFill>
          <a:ln/>
        </p:spPr>
      </p:sp>
      <p:sp>
        <p:nvSpPr>
          <p:cNvPr id="8" name="Text 6"/>
          <p:cNvSpPr txBox="1"/>
          <p:nvPr/>
        </p:nvSpPr>
        <p:spPr>
          <a:xfrm>
            <a:off x="3602736" y="1700784"/>
            <a:ext cx="91440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02</a:t>
            </a:r>
            <a:endParaRPr lang="en-US" sz="1100" dirty="0"/>
          </a:p>
        </p:txBody>
      </p:sp>
      <p:sp>
        <p:nvSpPr>
          <p:cNvPr id="9" name="Text 7"/>
          <p:cNvSpPr txBox="1"/>
          <p:nvPr/>
        </p:nvSpPr>
        <p:spPr>
          <a:xfrm>
            <a:off x="3602736" y="1993392"/>
            <a:ext cx="2139696" cy="1051560"/>
          </a:xfrm>
          <a:prstGeom prst="rect">
            <a:avLst/>
          </a:prstGeom>
          <a:noFill/>
          <a:ln/>
        </p:spPr>
        <p:txBody>
          <a:bodyPr wrap="square" lIns="0" tIns="0" rIns="0" bIns="0" rtlCol="0" anchor="t"/>
          <a:lstStyle/>
          <a:p>
            <a:pPr marL="0" indent="0" algn="l">
              <a:lnSpc>
                <a:spcPct val="105000"/>
              </a:lnSpc>
              <a:buNone/>
            </a:pPr>
            <a:r>
              <a:rPr lang="en-US" sz="1700" b="1" dirty="0">
                <a:solidFill>
                  <a:schemeClr val="tx1"/>
                </a:solidFill>
                <a:latin typeface="Manrope" pitchFamily="34" charset="0"/>
                <a:ea typeface="Manrope" pitchFamily="34" charset="-122"/>
                <a:cs typeface="Manrope" pitchFamily="34" charset="-120"/>
              </a:rPr>
              <a:t>User</a:t>
            </a:r>
            <a:endParaRPr lang="en-US" sz="1700" dirty="0"/>
          </a:p>
          <a:p>
            <a:pPr marL="0" indent="0" algn="l">
              <a:lnSpc>
                <a:spcPct val="105000"/>
              </a:lnSpc>
              <a:buNone/>
            </a:pPr>
            <a:r>
              <a:rPr lang="en-US" sz="1700" dirty="0">
                <a:solidFill>
                  <a:schemeClr val="tx1"/>
                </a:solidFill>
                <a:latin typeface="Manrope" pitchFamily="34" charset="0"/>
                <a:ea typeface="Manrope" pitchFamily="34" charset="-122"/>
                <a:cs typeface="Manrope" pitchFamily="34" charset="-120"/>
              </a:rPr>
              <a:t>adds the shares and picks the top 10 on the device</a:t>
            </a:r>
            <a:endParaRPr lang="en-US" sz="1700" dirty="0"/>
          </a:p>
        </p:txBody>
      </p:sp>
      <p:sp>
        <p:nvSpPr>
          <p:cNvPr id="10" name="arrow"/>
          <p:cNvSpPr/>
          <p:nvPr/>
        </p:nvSpPr>
        <p:spPr>
          <a:xfrm>
            <a:off x="5961888" y="2354580"/>
            <a:ext cx="274320" cy="914"/>
          </a:xfrm>
          <a:prstGeom prst="line">
            <a:avLst/>
          </a:prstGeom>
          <a:noFill/>
          <a:ln w="15875">
            <a:solidFill>
              <a:schemeClr val="accent3"/>
            </a:solidFill>
            <a:prstDash val="solid"/>
            <a:tailEnd type="triangle"/>
          </a:ln>
        </p:spPr>
      </p:sp>
      <p:sp>
        <p:nvSpPr>
          <p:cNvPr id="11" name="step 3"/>
          <p:cNvSpPr/>
          <p:nvPr/>
        </p:nvSpPr>
        <p:spPr>
          <a:xfrm>
            <a:off x="6291072" y="1554480"/>
            <a:ext cx="2487168" cy="1600200"/>
          </a:xfrm>
          <a:prstGeom prst="roundRect">
            <a:avLst>
              <a:gd name="adj" fmla="val 5714"/>
            </a:avLst>
          </a:prstGeom>
          <a:solidFill>
            <a:schemeClr val="bg2"/>
          </a:solidFill>
          <a:ln/>
        </p:spPr>
      </p:sp>
      <p:sp>
        <p:nvSpPr>
          <p:cNvPr id="12" name="Text 10"/>
          <p:cNvSpPr txBox="1"/>
          <p:nvPr/>
        </p:nvSpPr>
        <p:spPr>
          <a:xfrm>
            <a:off x="6473952" y="1700784"/>
            <a:ext cx="91440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03</a:t>
            </a:r>
            <a:endParaRPr lang="en-US" sz="1100" dirty="0"/>
          </a:p>
        </p:txBody>
      </p:sp>
      <p:sp>
        <p:nvSpPr>
          <p:cNvPr id="13" name="Text 11"/>
          <p:cNvSpPr txBox="1"/>
          <p:nvPr/>
        </p:nvSpPr>
        <p:spPr>
          <a:xfrm>
            <a:off x="6473952" y="1993392"/>
            <a:ext cx="2139696" cy="1051560"/>
          </a:xfrm>
          <a:prstGeom prst="rect">
            <a:avLst/>
          </a:prstGeom>
          <a:noFill/>
          <a:ln/>
        </p:spPr>
        <p:txBody>
          <a:bodyPr wrap="square" lIns="0" tIns="0" rIns="0" bIns="0" rtlCol="0" anchor="t"/>
          <a:lstStyle/>
          <a:p>
            <a:pPr marL="0" indent="0" algn="l">
              <a:lnSpc>
                <a:spcPct val="105000"/>
              </a:lnSpc>
              <a:buNone/>
            </a:pPr>
            <a:r>
              <a:rPr lang="en-US" sz="1700" b="1" dirty="0">
                <a:solidFill>
                  <a:schemeClr val="tx1"/>
                </a:solidFill>
                <a:latin typeface="Manrope" pitchFamily="34" charset="0"/>
                <a:ea typeface="Manrope" pitchFamily="34" charset="-122"/>
                <a:cs typeface="Manrope" pitchFamily="34" charset="-120"/>
              </a:rPr>
              <a:t>User to P₀, P₁</a:t>
            </a:r>
            <a:endParaRPr lang="en-US" sz="1700" dirty="0"/>
          </a:p>
          <a:p>
            <a:pPr marL="0" indent="0" algn="l">
              <a:lnSpc>
                <a:spcPct val="105000"/>
              </a:lnSpc>
              <a:buNone/>
            </a:pPr>
            <a:r>
              <a:rPr lang="en-US" sz="1700" dirty="0">
                <a:solidFill>
                  <a:schemeClr val="tx1"/>
                </a:solidFill>
                <a:latin typeface="Manrope" pitchFamily="34" charset="0"/>
                <a:ea typeface="Manrope" pitchFamily="34" charset="-122"/>
                <a:cs typeface="Manrope" pitchFamily="34" charset="-120"/>
              </a:rPr>
              <a:t>one short key per server, per fetch</a:t>
            </a:r>
            <a:endParaRPr lang="en-US" sz="1700" dirty="0"/>
          </a:p>
        </p:txBody>
      </p:sp>
      <p:sp>
        <p:nvSpPr>
          <p:cNvPr id="14" name="arrow"/>
          <p:cNvSpPr/>
          <p:nvPr/>
        </p:nvSpPr>
        <p:spPr>
          <a:xfrm>
            <a:off x="8833104" y="2354580"/>
            <a:ext cx="274320" cy="914"/>
          </a:xfrm>
          <a:prstGeom prst="line">
            <a:avLst/>
          </a:prstGeom>
          <a:noFill/>
          <a:ln w="15875">
            <a:solidFill>
              <a:schemeClr val="accent3"/>
            </a:solidFill>
            <a:prstDash val="solid"/>
            <a:tailEnd type="triangle"/>
          </a:ln>
        </p:spPr>
      </p:sp>
      <p:sp>
        <p:nvSpPr>
          <p:cNvPr id="15" name="step 4"/>
          <p:cNvSpPr/>
          <p:nvPr/>
        </p:nvSpPr>
        <p:spPr>
          <a:xfrm>
            <a:off x="9162288" y="1554480"/>
            <a:ext cx="2487168" cy="1600200"/>
          </a:xfrm>
          <a:prstGeom prst="roundRect">
            <a:avLst>
              <a:gd name="adj" fmla="val 5714"/>
            </a:avLst>
          </a:prstGeom>
          <a:solidFill>
            <a:schemeClr val="bg2"/>
          </a:solidFill>
          <a:ln/>
        </p:spPr>
      </p:sp>
      <p:sp>
        <p:nvSpPr>
          <p:cNvPr id="16" name="Text 14"/>
          <p:cNvSpPr txBox="1"/>
          <p:nvPr/>
        </p:nvSpPr>
        <p:spPr>
          <a:xfrm>
            <a:off x="9345168" y="1700784"/>
            <a:ext cx="91440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04</a:t>
            </a:r>
            <a:endParaRPr lang="en-US" sz="1100" dirty="0"/>
          </a:p>
        </p:txBody>
      </p:sp>
      <p:sp>
        <p:nvSpPr>
          <p:cNvPr id="17" name="Text 15"/>
          <p:cNvSpPr txBox="1"/>
          <p:nvPr/>
        </p:nvSpPr>
        <p:spPr>
          <a:xfrm>
            <a:off x="9345168" y="1993392"/>
            <a:ext cx="2139696" cy="1051560"/>
          </a:xfrm>
          <a:prstGeom prst="rect">
            <a:avLst/>
          </a:prstGeom>
          <a:noFill/>
          <a:ln/>
        </p:spPr>
        <p:txBody>
          <a:bodyPr wrap="square" lIns="0" tIns="0" rIns="0" bIns="0" rtlCol="0" anchor="t"/>
          <a:lstStyle/>
          <a:p>
            <a:pPr marL="0" indent="0" algn="l">
              <a:lnSpc>
                <a:spcPct val="105000"/>
              </a:lnSpc>
              <a:buNone/>
            </a:pPr>
            <a:r>
              <a:rPr lang="en-US" sz="1700" b="1" dirty="0">
                <a:solidFill>
                  <a:schemeClr val="tx1"/>
                </a:solidFill>
                <a:latin typeface="Manrope" pitchFamily="34" charset="0"/>
                <a:ea typeface="Manrope" pitchFamily="34" charset="-122"/>
                <a:cs typeface="Manrope" pitchFamily="34" charset="-120"/>
              </a:rPr>
              <a:t>P₀ and P₁</a:t>
            </a:r>
            <a:endParaRPr lang="en-US" sz="1700" dirty="0"/>
          </a:p>
          <a:p>
            <a:pPr marL="0" indent="0" algn="l">
              <a:lnSpc>
                <a:spcPct val="105000"/>
              </a:lnSpc>
              <a:buNone/>
            </a:pPr>
            <a:r>
              <a:rPr lang="en-US" sz="1700" dirty="0">
                <a:solidFill>
                  <a:schemeClr val="tx1"/>
                </a:solidFill>
                <a:latin typeface="Manrope" pitchFamily="34" charset="0"/>
                <a:ea typeface="Manrope" pitchFamily="34" charset="-122"/>
                <a:cs typeface="Manrope" pitchFamily="34" charset="-120"/>
              </a:rPr>
              <a:t>each expands its key over all 2,048 records</a:t>
            </a:r>
            <a:endParaRPr lang="en-US" sz="1700" dirty="0"/>
          </a:p>
        </p:txBody>
      </p:sp>
      <p:sp>
        <p:nvSpPr>
          <p:cNvPr id="18" name="stat value"/>
          <p:cNvSpPr txBox="1"/>
          <p:nvPr/>
        </p:nvSpPr>
        <p:spPr>
          <a:xfrm>
            <a:off x="548640" y="3931920"/>
            <a:ext cx="3108960" cy="731520"/>
          </a:xfrm>
          <a:prstGeom prst="rect">
            <a:avLst/>
          </a:prstGeom>
          <a:noFill/>
          <a:ln/>
        </p:spPr>
        <p:txBody>
          <a:bodyPr wrap="square" lIns="0" tIns="0" rIns="0" bIns="0" rtlCol="0" anchor="t"/>
          <a:lstStyle/>
          <a:p>
            <a:pPr marL="0" indent="0" algn="l">
              <a:lnSpc>
                <a:spcPct val="100000"/>
              </a:lnSpc>
              <a:buNone/>
            </a:pPr>
            <a:r>
              <a:rPr lang="en-US" sz="4600" dirty="0">
                <a:solidFill>
                  <a:schemeClr val="accent1"/>
                </a:solidFill>
                <a:latin typeface="Manrope ExtraBold" pitchFamily="34" charset="0"/>
                <a:ea typeface="Manrope ExtraBold" pitchFamily="34" charset="-122"/>
                <a:cs typeface="Manrope ExtraBold" pitchFamily="34" charset="-120"/>
              </a:rPr>
              <a:t>227 B</a:t>
            </a:r>
            <a:endParaRPr lang="en-US" sz="4600" dirty="0"/>
          </a:p>
        </p:txBody>
      </p:sp>
      <p:sp>
        <p:nvSpPr>
          <p:cNvPr id="19" name="stat label"/>
          <p:cNvSpPr txBox="1"/>
          <p:nvPr/>
        </p:nvSpPr>
        <p:spPr>
          <a:xfrm>
            <a:off x="548640" y="4681728"/>
            <a:ext cx="31089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key each server receives, for a 2,048-record catalogue</a:t>
            </a:r>
            <a:endParaRPr lang="en-US" sz="1400" dirty="0"/>
          </a:p>
        </p:txBody>
      </p:sp>
      <p:sp>
        <p:nvSpPr>
          <p:cNvPr id="20" name="stat value"/>
          <p:cNvSpPr txBox="1"/>
          <p:nvPr/>
        </p:nvSpPr>
        <p:spPr>
          <a:xfrm>
            <a:off x="4069080" y="3931920"/>
            <a:ext cx="3108960" cy="731520"/>
          </a:xfrm>
          <a:prstGeom prst="rect">
            <a:avLst/>
          </a:prstGeom>
          <a:noFill/>
          <a:ln/>
        </p:spPr>
        <p:txBody>
          <a:bodyPr wrap="square" lIns="0" tIns="0" rIns="0" bIns="0" rtlCol="0" anchor="t"/>
          <a:lstStyle/>
          <a:p>
            <a:pPr marL="0" indent="0" algn="l">
              <a:lnSpc>
                <a:spcPct val="100000"/>
              </a:lnSpc>
              <a:buNone/>
            </a:pPr>
            <a:r>
              <a:rPr lang="en-US" sz="4600" dirty="0">
                <a:solidFill>
                  <a:schemeClr val="tx1"/>
                </a:solidFill>
                <a:latin typeface="Manrope ExtraBold" pitchFamily="34" charset="0"/>
                <a:ea typeface="Manrope ExtraBold" pitchFamily="34" charset="-122"/>
                <a:cs typeface="Manrope ExtraBold" pitchFamily="34" charset="-120"/>
              </a:rPr>
              <a:t>16,384 B</a:t>
            </a:r>
            <a:endParaRPr lang="en-US" sz="4600" dirty="0"/>
          </a:p>
        </p:txBody>
      </p:sp>
      <p:sp>
        <p:nvSpPr>
          <p:cNvPr id="21" name="stat label"/>
          <p:cNvSpPr txBox="1"/>
          <p:nvPr/>
        </p:nvSpPr>
        <p:spPr>
          <a:xfrm>
            <a:off x="4069080" y="4681728"/>
            <a:ext cx="31089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naive one-hot query it replaces</a:t>
            </a:r>
            <a:endParaRPr lang="en-US" sz="1400" dirty="0"/>
          </a:p>
        </p:txBody>
      </p:sp>
      <p:sp>
        <p:nvSpPr>
          <p:cNvPr id="22" name="Text 20"/>
          <p:cNvSpPr txBox="1"/>
          <p:nvPr/>
        </p:nvSpPr>
        <p:spPr>
          <a:xfrm>
            <a:off x="7635240" y="4041648"/>
            <a:ext cx="4005072" cy="1463040"/>
          </a:xfrm>
          <a:prstGeom prst="rect">
            <a:avLst/>
          </a:prstGeom>
          <a:noFill/>
          <a:ln/>
        </p:spPr>
        <p:txBody>
          <a:bodyPr wrap="square" lIns="0" tIns="0" rIns="0" bIns="0" rtlCol="0" anchor="t"/>
          <a:lstStyle/>
          <a:p>
            <a:pPr marL="0" indent="0" algn="l">
              <a:lnSpc>
                <a:spcPct val="110000"/>
              </a:lnSpc>
              <a:buNone/>
            </a:pPr>
            <a:r>
              <a:rPr lang="en-US" sz="1600" dirty="0">
                <a:solidFill>
                  <a:schemeClr val="tx1"/>
                </a:solidFill>
                <a:latin typeface="Manrope" pitchFamily="34" charset="0"/>
                <a:ea typeface="Manrope" pitchFamily="34" charset="-122"/>
                <a:cs typeface="Manrope" pitchFamily="34" charset="-120"/>
              </a:rPr>
              <a:t>Each key on its own is pseudorandom. The difference of the two answers is the record, and neither server learns which one it was.</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Closing the loop</a:t>
            </a:r>
            <a:endParaRPr lang="en-US" sz="3400" dirty="0"/>
          </a:p>
        </p:txBody>
      </p:sp>
      <p:sp>
        <p:nvSpPr>
          <p:cNvPr id="3" name="Training box"/>
          <p:cNvSpPr/>
          <p:nvPr/>
        </p:nvSpPr>
        <p:spPr>
          <a:xfrm>
            <a:off x="548640" y="1645920"/>
            <a:ext cx="2194560" cy="914400"/>
          </a:xfrm>
          <a:prstGeom prst="roundRect">
            <a:avLst>
              <a:gd name="adj" fmla="val 10000"/>
            </a:avLst>
          </a:prstGeom>
          <a:solidFill>
            <a:schemeClr val="bg2"/>
          </a:solidFill>
          <a:ln/>
        </p:spPr>
      </p:sp>
      <p:sp>
        <p:nvSpPr>
          <p:cNvPr id="4" name="Training label"/>
          <p:cNvSpPr txBox="1"/>
          <p:nvPr/>
        </p:nvSpPr>
        <p:spPr>
          <a:xfrm>
            <a:off x="713232" y="1773936"/>
            <a:ext cx="1920240" cy="731520"/>
          </a:xfrm>
          <a:prstGeom prst="rect">
            <a:avLst/>
          </a:prstGeom>
          <a:noFill/>
          <a:ln/>
        </p:spPr>
        <p:txBody>
          <a:bodyPr wrap="square" lIns="0" tIns="0" rIns="0" bIns="0" rtlCol="0" anchor="t"/>
          <a:lstStyle/>
          <a:p>
            <a:pPr marL="0" indent="0" algn="l">
              <a:lnSpc>
                <a:spcPct val="100000"/>
              </a:lnSpc>
              <a:buNone/>
            </a:pPr>
            <a:r>
              <a:rPr lang="en-US" sz="1700" b="1" dirty="0">
                <a:solidFill>
                  <a:schemeClr val="tx1"/>
                </a:solidFill>
                <a:latin typeface="Manrope" pitchFamily="34" charset="0"/>
                <a:ea typeface="Manrope" pitchFamily="34" charset="-122"/>
                <a:cs typeface="Manrope" pitchFamily="34" charset="-120"/>
              </a:rPr>
              <a:t>Training</a:t>
            </a:r>
            <a:endParaRPr lang="en-US" sz="1700" dirty="0"/>
          </a:p>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P₀ P₁ P₂</a:t>
            </a:r>
            <a:endParaRPr lang="en-US" sz="1700" dirty="0"/>
          </a:p>
        </p:txBody>
      </p:sp>
      <p:sp>
        <p:nvSpPr>
          <p:cNvPr id="5" name="Serving box"/>
          <p:cNvSpPr/>
          <p:nvPr/>
        </p:nvSpPr>
        <p:spPr>
          <a:xfrm>
            <a:off x="5029200" y="1645920"/>
            <a:ext cx="2194560" cy="914400"/>
          </a:xfrm>
          <a:prstGeom prst="roundRect">
            <a:avLst>
              <a:gd name="adj" fmla="val 10000"/>
            </a:avLst>
          </a:prstGeom>
          <a:solidFill>
            <a:schemeClr val="bg2"/>
          </a:solidFill>
          <a:ln/>
        </p:spPr>
      </p:sp>
      <p:sp>
        <p:nvSpPr>
          <p:cNvPr id="6" name="Serving label"/>
          <p:cNvSpPr txBox="1"/>
          <p:nvPr/>
        </p:nvSpPr>
        <p:spPr>
          <a:xfrm>
            <a:off x="5193792" y="1773936"/>
            <a:ext cx="1920240" cy="731520"/>
          </a:xfrm>
          <a:prstGeom prst="rect">
            <a:avLst/>
          </a:prstGeom>
          <a:noFill/>
          <a:ln/>
        </p:spPr>
        <p:txBody>
          <a:bodyPr wrap="square" lIns="0" tIns="0" rIns="0" bIns="0" rtlCol="0" anchor="t"/>
          <a:lstStyle/>
          <a:p>
            <a:pPr marL="0" indent="0" algn="l">
              <a:lnSpc>
                <a:spcPct val="100000"/>
              </a:lnSpc>
              <a:buNone/>
            </a:pPr>
            <a:r>
              <a:rPr lang="en-US" sz="1700" b="1" dirty="0">
                <a:solidFill>
                  <a:schemeClr val="tx1"/>
                </a:solidFill>
                <a:latin typeface="Manrope" pitchFamily="34" charset="0"/>
                <a:ea typeface="Manrope" pitchFamily="34" charset="-122"/>
                <a:cs typeface="Manrope" pitchFamily="34" charset="-120"/>
              </a:rPr>
              <a:t>Serving</a:t>
            </a:r>
            <a:endParaRPr lang="en-US" sz="1700" dirty="0"/>
          </a:p>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P₀ P₁ P₂</a:t>
            </a:r>
            <a:endParaRPr lang="en-US" sz="1700" dirty="0"/>
          </a:p>
        </p:txBody>
      </p:sp>
      <p:sp>
        <p:nvSpPr>
          <p:cNvPr id="7" name="User box"/>
          <p:cNvSpPr/>
          <p:nvPr/>
        </p:nvSpPr>
        <p:spPr>
          <a:xfrm>
            <a:off x="5029200" y="4937760"/>
            <a:ext cx="2194560" cy="914400"/>
          </a:xfrm>
          <a:prstGeom prst="roundRect">
            <a:avLst>
              <a:gd name="adj" fmla="val 10000"/>
            </a:avLst>
          </a:prstGeom>
          <a:solidFill>
            <a:schemeClr val="accent2"/>
          </a:solidFill>
          <a:ln/>
        </p:spPr>
      </p:sp>
      <p:sp>
        <p:nvSpPr>
          <p:cNvPr id="8" name="User label"/>
          <p:cNvSpPr txBox="1"/>
          <p:nvPr/>
        </p:nvSpPr>
        <p:spPr>
          <a:xfrm>
            <a:off x="5193792" y="5065776"/>
            <a:ext cx="1920240" cy="731520"/>
          </a:xfrm>
          <a:prstGeom prst="rect">
            <a:avLst/>
          </a:prstGeom>
          <a:noFill/>
          <a:ln/>
        </p:spPr>
        <p:txBody>
          <a:bodyPr wrap="square" lIns="0" tIns="0" rIns="0" bIns="0" rtlCol="0" anchor="t"/>
          <a:lstStyle/>
          <a:p>
            <a:pPr marL="0" indent="0" algn="l">
              <a:lnSpc>
                <a:spcPct val="100000"/>
              </a:lnSpc>
              <a:buNone/>
            </a:pPr>
            <a:r>
              <a:rPr lang="en-US" sz="1700" b="1" dirty="0">
                <a:solidFill>
                  <a:schemeClr val="tx1"/>
                </a:solidFill>
                <a:latin typeface="Manrope" pitchFamily="34" charset="0"/>
                <a:ea typeface="Manrope" pitchFamily="34" charset="-122"/>
                <a:cs typeface="Manrope" pitchFamily="34" charset="-120"/>
              </a:rPr>
              <a:t>User</a:t>
            </a:r>
            <a:endParaRPr lang="en-US" sz="1700" dirty="0"/>
          </a:p>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own device</a:t>
            </a:r>
            <a:endParaRPr lang="en-US" sz="1700" dirty="0"/>
          </a:p>
        </p:txBody>
      </p:sp>
      <p:sp>
        <p:nvSpPr>
          <p:cNvPr id="9" name="Delivery box"/>
          <p:cNvSpPr/>
          <p:nvPr/>
        </p:nvSpPr>
        <p:spPr>
          <a:xfrm>
            <a:off x="548640" y="4937760"/>
            <a:ext cx="2194560" cy="914400"/>
          </a:xfrm>
          <a:prstGeom prst="roundRect">
            <a:avLst>
              <a:gd name="adj" fmla="val 10000"/>
            </a:avLst>
          </a:prstGeom>
          <a:solidFill>
            <a:schemeClr val="bg2"/>
          </a:solidFill>
          <a:ln/>
        </p:spPr>
      </p:sp>
      <p:sp>
        <p:nvSpPr>
          <p:cNvPr id="10" name="Delivery label"/>
          <p:cNvSpPr txBox="1"/>
          <p:nvPr/>
        </p:nvSpPr>
        <p:spPr>
          <a:xfrm>
            <a:off x="713232" y="5065776"/>
            <a:ext cx="1920240" cy="731520"/>
          </a:xfrm>
          <a:prstGeom prst="rect">
            <a:avLst/>
          </a:prstGeom>
          <a:noFill/>
          <a:ln/>
        </p:spPr>
        <p:txBody>
          <a:bodyPr wrap="square" lIns="0" tIns="0" rIns="0" bIns="0" rtlCol="0" anchor="t"/>
          <a:lstStyle/>
          <a:p>
            <a:pPr marL="0" indent="0" algn="l">
              <a:lnSpc>
                <a:spcPct val="100000"/>
              </a:lnSpc>
              <a:buNone/>
            </a:pPr>
            <a:r>
              <a:rPr lang="en-US" sz="1700" b="1" dirty="0">
                <a:solidFill>
                  <a:schemeClr val="tx1"/>
                </a:solidFill>
                <a:latin typeface="Manrope" pitchFamily="34" charset="0"/>
                <a:ea typeface="Manrope" pitchFamily="34" charset="-122"/>
                <a:cs typeface="Manrope" pitchFamily="34" charset="-120"/>
              </a:rPr>
              <a:t>Delivery</a:t>
            </a:r>
            <a:endParaRPr lang="en-US" sz="1700" dirty="0"/>
          </a:p>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P₀ P₁</a:t>
            </a:r>
            <a:endParaRPr lang="en-US" sz="1700" dirty="0"/>
          </a:p>
        </p:txBody>
      </p:sp>
      <p:sp>
        <p:nvSpPr>
          <p:cNvPr id="11" name="training to serving"/>
          <p:cNvSpPr/>
          <p:nvPr/>
        </p:nvSpPr>
        <p:spPr>
          <a:xfrm>
            <a:off x="2852928" y="2103120"/>
            <a:ext cx="2066544" cy="914"/>
          </a:xfrm>
          <a:prstGeom prst="line">
            <a:avLst/>
          </a:prstGeom>
          <a:noFill/>
          <a:ln w="19050">
            <a:solidFill>
              <a:schemeClr val="accent3"/>
            </a:solidFill>
            <a:prstDash val="solid"/>
            <a:tailEnd type="triangle"/>
          </a:ln>
        </p:spPr>
      </p:sp>
      <p:sp>
        <p:nvSpPr>
          <p:cNvPr id="12" name="serving to user"/>
          <p:cNvSpPr/>
          <p:nvPr/>
        </p:nvSpPr>
        <p:spPr>
          <a:xfrm>
            <a:off x="6126480" y="2670048"/>
            <a:ext cx="914" cy="2157984"/>
          </a:xfrm>
          <a:prstGeom prst="line">
            <a:avLst/>
          </a:prstGeom>
          <a:noFill/>
          <a:ln w="19050">
            <a:solidFill>
              <a:schemeClr val="accent3"/>
            </a:solidFill>
            <a:prstDash val="solid"/>
            <a:tailEnd type="triangle"/>
          </a:ln>
        </p:spPr>
      </p:sp>
      <p:sp>
        <p:nvSpPr>
          <p:cNvPr id="13" name="user to delivery"/>
          <p:cNvSpPr/>
          <p:nvPr/>
        </p:nvSpPr>
        <p:spPr>
          <a:xfrm flipH="1">
            <a:off x="2852928" y="5394960"/>
            <a:ext cx="2066544" cy="914"/>
          </a:xfrm>
          <a:prstGeom prst="line">
            <a:avLst/>
          </a:prstGeom>
          <a:noFill/>
          <a:ln w="19050">
            <a:solidFill>
              <a:schemeClr val="accent3"/>
            </a:solidFill>
            <a:prstDash val="solid"/>
            <a:tailEnd type="triangle"/>
          </a:ln>
        </p:spPr>
      </p:sp>
      <p:sp>
        <p:nvSpPr>
          <p:cNvPr id="14" name="harvest"/>
          <p:cNvSpPr/>
          <p:nvPr/>
        </p:nvSpPr>
        <p:spPr>
          <a:xfrm flipV="1">
            <a:off x="1645920" y="2670048"/>
            <a:ext cx="914" cy="2157984"/>
          </a:xfrm>
          <a:prstGeom prst="line">
            <a:avLst/>
          </a:prstGeom>
          <a:noFill/>
          <a:ln w="25400">
            <a:solidFill>
              <a:schemeClr val="accent1"/>
            </a:solidFill>
            <a:prstDash val="dash"/>
            <a:tailEnd type="triangle"/>
          </a:ln>
        </p:spPr>
      </p:sp>
      <p:sp>
        <p:nvSpPr>
          <p:cNvPr id="15" name="Text 13"/>
          <p:cNvSpPr txBox="1"/>
          <p:nvPr/>
        </p:nvSpPr>
        <p:spPr>
          <a:xfrm>
            <a:off x="2926080" y="1719072"/>
            <a:ext cx="1920240" cy="274320"/>
          </a:xfrm>
          <a:prstGeom prst="rect">
            <a:avLst/>
          </a:prstGeom>
          <a:noFill/>
          <a:ln/>
        </p:spPr>
        <p:txBody>
          <a:bodyPr wrap="square" lIns="0" tIns="0" rIns="0" bIns="0" rtlCol="0" anchor="t"/>
          <a:lstStyle/>
          <a:p>
            <a:pPr marL="0" indent="0" algn="ctr">
              <a:lnSpc>
                <a:spcPct val="100000"/>
              </a:lnSpc>
              <a:buNone/>
            </a:pPr>
            <a:r>
              <a:rPr lang="en-US" sz="1300" dirty="0">
                <a:solidFill>
                  <a:schemeClr val="tx2"/>
                </a:solidFill>
                <a:latin typeface="Manrope" pitchFamily="34" charset="0"/>
                <a:ea typeface="Manrope" pitchFamily="34" charset="-122"/>
                <a:cs typeface="Manrope" pitchFamily="34" charset="-120"/>
              </a:rPr>
              <a:t>B public, </a:t>
            </a:r>
            <a:r>
              <a:rPr lang="en-US" sz="1300" dirty="0">
                <a:solidFill>
                  <a:schemeClr val="tx2"/>
                </a:solidFill>
                <a:latin typeface="Cambria Math" pitchFamily="34" charset="0"/>
                <a:ea typeface="Cambria Math" pitchFamily="34" charset="-122"/>
                <a:cs typeface="Cambria Math" pitchFamily="34" charset="-120"/>
              </a:rPr>
              <a:t>⟦</a:t>
            </a:r>
            <a:r>
              <a:rPr lang="en-US" sz="1300" dirty="0">
                <a:solidFill>
                  <a:schemeClr val="tx2"/>
                </a:solidFill>
                <a:latin typeface="Manrope" pitchFamily="34" charset="0"/>
                <a:ea typeface="Manrope" pitchFamily="34" charset="-122"/>
                <a:cs typeface="Manrope" pitchFamily="34" charset="-120"/>
              </a:rPr>
              <a:t>A</a:t>
            </a:r>
            <a:r>
              <a:rPr lang="en-US" sz="1300" dirty="0">
                <a:solidFill>
                  <a:schemeClr val="tx2"/>
                </a:solidFill>
                <a:latin typeface="Cambria Math" pitchFamily="34" charset="0"/>
                <a:ea typeface="Cambria Math" pitchFamily="34" charset="-122"/>
                <a:cs typeface="Cambria Math" pitchFamily="34" charset="-120"/>
              </a:rPr>
              <a:t>⟧</a:t>
            </a:r>
            <a:r>
              <a:rPr lang="en-US" sz="1300" dirty="0">
                <a:solidFill>
                  <a:schemeClr val="tx2"/>
                </a:solidFill>
                <a:latin typeface="Manrope" pitchFamily="34" charset="0"/>
                <a:ea typeface="Manrope" pitchFamily="34" charset="-122"/>
                <a:cs typeface="Manrope" pitchFamily="34" charset="-120"/>
              </a:rPr>
              <a:t> shared</a:t>
            </a:r>
            <a:endParaRPr lang="en-US" sz="1300" dirty="0"/>
          </a:p>
        </p:txBody>
      </p:sp>
      <p:sp>
        <p:nvSpPr>
          <p:cNvPr id="16" name="Text 14"/>
          <p:cNvSpPr txBox="1"/>
          <p:nvPr/>
        </p:nvSpPr>
        <p:spPr>
          <a:xfrm>
            <a:off x="6236208" y="3611880"/>
            <a:ext cx="1463040" cy="274320"/>
          </a:xfrm>
          <a:prstGeom prst="rect">
            <a:avLst/>
          </a:prstGeom>
          <a:noFill/>
          <a:ln/>
        </p:spPr>
        <p:txBody>
          <a:bodyPr wrap="square" lIns="0" tIns="0" rIns="0" bIns="0" rtlCol="0" anchor="t"/>
          <a:lstStyle/>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score shares</a:t>
            </a:r>
            <a:endParaRPr lang="en-US" sz="1300" dirty="0"/>
          </a:p>
        </p:txBody>
      </p:sp>
      <p:sp>
        <p:nvSpPr>
          <p:cNvPr id="17" name="Text 15"/>
          <p:cNvSpPr txBox="1"/>
          <p:nvPr/>
        </p:nvSpPr>
        <p:spPr>
          <a:xfrm>
            <a:off x="2926080" y="5486400"/>
            <a:ext cx="1920240" cy="274320"/>
          </a:xfrm>
          <a:prstGeom prst="rect">
            <a:avLst/>
          </a:prstGeom>
          <a:noFill/>
          <a:ln/>
        </p:spPr>
        <p:txBody>
          <a:bodyPr wrap="square" lIns="0" tIns="0" rIns="0" bIns="0" rtlCol="0" anchor="t"/>
          <a:lstStyle/>
          <a:p>
            <a:pPr marL="0" indent="0" algn="ctr">
              <a:lnSpc>
                <a:spcPct val="100000"/>
              </a:lnSpc>
              <a:buNone/>
            </a:pPr>
            <a:r>
              <a:rPr lang="en-US" sz="1300" dirty="0">
                <a:solidFill>
                  <a:schemeClr val="tx2"/>
                </a:solidFill>
                <a:latin typeface="Manrope" pitchFamily="34" charset="0"/>
                <a:ea typeface="Manrope" pitchFamily="34" charset="-122"/>
                <a:cs typeface="Manrope" pitchFamily="34" charset="-120"/>
              </a:rPr>
              <a:t>one key pair per fetch</a:t>
            </a:r>
            <a:endParaRPr lang="en-US" sz="1300" dirty="0"/>
          </a:p>
        </p:txBody>
      </p:sp>
      <p:sp>
        <p:nvSpPr>
          <p:cNvPr id="18" name="Text 16"/>
          <p:cNvSpPr txBox="1"/>
          <p:nvPr/>
        </p:nvSpPr>
        <p:spPr>
          <a:xfrm>
            <a:off x="1773936" y="3364992"/>
            <a:ext cx="2011680" cy="822960"/>
          </a:xfrm>
          <a:prstGeom prst="rect">
            <a:avLst/>
          </a:prstGeom>
          <a:noFill/>
          <a:ln/>
        </p:spPr>
        <p:txBody>
          <a:bodyPr wrap="square" lIns="0" tIns="0" rIns="0" bIns="0" rtlCol="0" anchor="t"/>
          <a:lstStyle/>
          <a:p>
            <a:pPr marL="0" indent="0" algn="l">
              <a:lnSpc>
                <a:spcPct val="100000"/>
              </a:lnSpc>
              <a:buNone/>
            </a:pPr>
            <a:r>
              <a:rPr lang="en-US" sz="1300" b="1" dirty="0">
                <a:solidFill>
                  <a:schemeClr val="accent1"/>
                </a:solidFill>
                <a:latin typeface="Manrope" pitchFamily="34" charset="0"/>
                <a:ea typeface="Manrope" pitchFamily="34" charset="-122"/>
                <a:cs typeface="Manrope" pitchFamily="34" charset="-120"/>
              </a:rPr>
              <a:t>harvest</a:t>
            </a:r>
            <a:endParaRPr lang="en-US" sz="13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shared counts of</a:t>
            </a:r>
            <a:endParaRPr lang="en-US" sz="1300" dirty="0"/>
          </a:p>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what was fetched</a:t>
            </a:r>
            <a:endParaRPr lang="en-US" sz="1300" dirty="0"/>
          </a:p>
        </p:txBody>
      </p:sp>
      <p:sp>
        <p:nvSpPr>
          <p:cNvPr id="19" name="status panel"/>
          <p:cNvSpPr/>
          <p:nvPr/>
        </p:nvSpPr>
        <p:spPr>
          <a:xfrm>
            <a:off x="7680960" y="1645920"/>
            <a:ext cx="3959352" cy="4206240"/>
          </a:xfrm>
          <a:prstGeom prst="roundRect">
            <a:avLst>
              <a:gd name="adj" fmla="val 3695"/>
            </a:avLst>
          </a:prstGeom>
          <a:solidFill>
            <a:schemeClr val="bg2"/>
          </a:solidFill>
          <a:ln/>
        </p:spPr>
      </p:sp>
      <p:sp>
        <p:nvSpPr>
          <p:cNvPr id="20" name="Text 18"/>
          <p:cNvSpPr txBox="1"/>
          <p:nvPr/>
        </p:nvSpPr>
        <p:spPr>
          <a:xfrm>
            <a:off x="7909560" y="1828800"/>
            <a:ext cx="356616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WHAT RUNS TODAY</a:t>
            </a:r>
            <a:endParaRPr lang="en-US" sz="1100" dirty="0"/>
          </a:p>
        </p:txBody>
      </p:sp>
      <p:sp>
        <p:nvSpPr>
          <p:cNvPr id="21" name="Text 19"/>
          <p:cNvSpPr txBox="1"/>
          <p:nvPr/>
        </p:nvSpPr>
        <p:spPr>
          <a:xfrm>
            <a:off x="7909560" y="2194560"/>
            <a:ext cx="3520440" cy="3520440"/>
          </a:xfrm>
          <a:prstGeom prst="rect">
            <a:avLst/>
          </a:prstGeom>
          <a:noFill/>
          <a:ln/>
        </p:spPr>
        <p:txBody>
          <a:bodyPr wrap="square" lIns="0" tIns="0" rIns="0" bIns="0" rtlCol="0" anchor="t"/>
          <a:lstStyle/>
          <a:p>
            <a:pPr marL="0" indent="0" algn="l">
              <a:lnSpc>
                <a:spcPct val="110000"/>
              </a:lnSpc>
              <a:buNone/>
            </a:pPr>
            <a:r>
              <a:rPr lang="en-US" sz="1500" dirty="0">
                <a:solidFill>
                  <a:schemeClr val="tx1"/>
                </a:solidFill>
                <a:latin typeface="Manrope" pitchFamily="34" charset="0"/>
                <a:ea typeface="Manrope" pitchFamily="34" charset="-122"/>
                <a:cs typeface="Manrope" pitchFamily="34" charset="-120"/>
              </a:rPr>
              <a:t>The harvest, its conversion and the weight check are built and tested. A test drives real private fetches through them into the training code.</a:t>
            </a:r>
            <a:endParaRPr lang="en-US" sz="1500" dirty="0"/>
          </a:p>
          <a:p>
            <a:pPr marL="0" indent="0" algn="l">
              <a:lnSpc>
                <a:spcPct val="110000"/>
              </a:lnSpc>
              <a:buNone/>
            </a:pPr>
            <a:r>
              <a:rPr lang="en-US" sz="800" dirty="0">
                <a:solidFill>
                  <a:schemeClr val="tx1"/>
                </a:solidFill>
                <a:latin typeface="Manrope" pitchFamily="34" charset="0"/>
                <a:ea typeface="Manrope" pitchFamily="34" charset="-122"/>
                <a:cs typeface="Manrope" pitchFamily="34" charset="-120"/>
              </a:rPr>
              <a:t> </a:t>
            </a:r>
            <a:endParaRPr lang="en-US" sz="1500" dirty="0"/>
          </a:p>
          <a:p>
            <a:pPr marL="0" indent="0" algn="l">
              <a:lnSpc>
                <a:spcPct val="110000"/>
              </a:lnSpc>
              <a:buNone/>
            </a:pPr>
            <a:r>
              <a:rPr lang="en-US" sz="1500" dirty="0">
                <a:solidFill>
                  <a:schemeClr val="accent1"/>
                </a:solidFill>
                <a:latin typeface="Manrope" pitchFamily="34" charset="0"/>
                <a:ea typeface="Manrope" pitchFamily="34" charset="-122"/>
                <a:cs typeface="Manrope" pitchFamily="34" charset="-120"/>
              </a:rPr>
              <a:t>The running servers do not yet retrain from harvested counts. Every model in this talk was trained on ratings read from disk.</a:t>
            </a:r>
            <a:endParaRPr lang="en-US" sz="1500" dirty="0"/>
          </a:p>
          <a:p>
            <a:pPr marL="0" indent="0" algn="l">
              <a:lnSpc>
                <a:spcPct val="110000"/>
              </a:lnSpc>
              <a:buNone/>
            </a:pPr>
            <a:r>
              <a:rPr lang="en-US" sz="800" dirty="0">
                <a:solidFill>
                  <a:schemeClr val="tx1"/>
                </a:solidFill>
                <a:latin typeface="Manrope" pitchFamily="34" charset="0"/>
                <a:ea typeface="Manrope" pitchFamily="34" charset="-122"/>
                <a:cs typeface="Manrope" pitchFamily="34" charset="-120"/>
              </a:rPr>
              <a:t> </a:t>
            </a:r>
            <a:endParaRPr lang="en-US" sz="1500" dirty="0"/>
          </a:p>
          <a:p>
            <a:pPr marL="0" indent="0" algn="l">
              <a:lnSpc>
                <a:spcPct val="110000"/>
              </a:lnSpc>
              <a:buNone/>
            </a:pPr>
            <a:r>
              <a:rPr lang="en-US" sz="1500" dirty="0">
                <a:solidFill>
                  <a:schemeClr val="tx2"/>
                </a:solidFill>
                <a:latin typeface="Manrope" pitchFamily="34" charset="0"/>
                <a:ea typeface="Manrope" pitchFamily="34" charset="-122"/>
                <a:cs typeface="Manrope" pitchFamily="34" charset="-120"/>
              </a:rPr>
              <a:t>Cost: one round per training refresh to convert, one round per query to check the weight.</a:t>
            </a:r>
            <a:endParaRPr lang="en-US" sz="15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It runs end to end</a:t>
            </a:r>
            <a:endParaRPr lang="en-US" sz="3400" dirty="0"/>
          </a:p>
        </p:txBody>
      </p:sp>
      <p:sp>
        <p:nvSpPr>
          <p:cNvPr id="3" name="terminal"/>
          <p:cNvSpPr/>
          <p:nvPr/>
        </p:nvSpPr>
        <p:spPr>
          <a:xfrm>
            <a:off x="548640" y="1463040"/>
            <a:ext cx="8001000" cy="4160520"/>
          </a:xfrm>
          <a:prstGeom prst="roundRect">
            <a:avLst>
              <a:gd name="adj" fmla="val 3516"/>
            </a:avLst>
          </a:prstGeom>
          <a:solidFill>
            <a:schemeClr val="bg2"/>
          </a:solidFill>
          <a:ln/>
        </p:spPr>
      </p:sp>
      <p:sp>
        <p:nvSpPr>
          <p:cNvPr id="4" name="Text 2"/>
          <p:cNvSpPr txBox="1"/>
          <p:nvPr/>
        </p:nvSpPr>
        <p:spPr>
          <a:xfrm>
            <a:off x="777240" y="1618488"/>
            <a:ext cx="7589520" cy="3840480"/>
          </a:xfrm>
          <a:prstGeom prst="rect">
            <a:avLst/>
          </a:prstGeom>
          <a:noFill/>
          <a:ln/>
        </p:spPr>
        <p:txBody>
          <a:bodyPr wrap="square" lIns="0" tIns="0" rIns="0" bIns="0" rtlCol="0" anchor="t"/>
          <a:lstStyle/>
          <a:p>
            <a:pPr marL="0" indent="0" algn="l">
              <a:lnSpc>
                <a:spcPct val="100000"/>
              </a:lnSpc>
              <a:buNone/>
            </a:pPr>
            <a:r>
              <a:rPr lang="en-US" sz="1150" dirty="0">
                <a:solidFill>
                  <a:schemeClr val="tx2"/>
                </a:solidFill>
                <a:latin typeface="IBM Plex Mono" pitchFamily="34" charset="0"/>
                <a:ea typeface="IBM Plex Mono" pitchFamily="34" charset="-122"/>
                <a:cs typeface="IBM Plex Mono" pitchFamily="34" charset="-120"/>
              </a:rPr>
              <a:t>$ demo --user 42 --k 10 \</a:t>
            </a:r>
            <a:endParaRPr lang="en-US" sz="1150" dirty="0"/>
          </a:p>
          <a:p>
            <a:pPr marL="0" indent="0" algn="l">
              <a:lnSpc>
                <a:spcPct val="100000"/>
              </a:lnSpc>
              <a:buNone/>
            </a:pPr>
            <a:r>
              <a:rPr lang="en-US" sz="1150" dirty="0">
                <a:solidFill>
                  <a:schemeClr val="tx2"/>
                </a:solidFill>
                <a:latin typeface="IBM Plex Mono" pitchFamily="34" charset="0"/>
                <a:ea typeface="IBM Plex Mono" pitchFamily="34" charset="-122"/>
                <a:cs typeface="IBM Plex Mono" pitchFamily="34" charset="-120"/>
              </a:rPr>
              <a:t>    --a A_private_fss_b128_ell10.bin --b B_private_fss_b128_ell10.bin</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 </a:t>
            </a:r>
            <a:endParaRPr lang="en-US" sz="1150" dirty="0"/>
          </a:p>
          <a:p>
            <a:pPr marL="0" indent="0" algn="l">
              <a:lnSpc>
                <a:spcPct val="100000"/>
              </a:lnSpc>
              <a:buNone/>
            </a:pPr>
            <a:r>
              <a:rPr lang="en-US" sz="1150" dirty="0">
                <a:solidFill>
                  <a:schemeClr val="tx2"/>
                </a:solidFill>
                <a:latin typeface="IBM Plex Mono" pitchFamily="34" charset="0"/>
                <a:ea typeface="IBM Plex Mono" pitchFamily="34" charset="-122"/>
                <a:cs typeface="IBM Plex Mono" pitchFamily="34" charset="-120"/>
              </a:rPr>
              <a:t>rank item   score (2t-scaled)      title (fetched privately)</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0    0      3985510293721          Toy Story (1995)</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1    94     3253835172460          Aladdin (1992)</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2    172    3003783912317          Princess Bride, The (1987)</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3    285    2832029832122          English Patient, The (1996)</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4    236    2784941524260          Jerry Maguire (1996)</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5    70     2682062760624          Lion King, The (1994)</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6    203    2626050118158          Back to the Future (1985)</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7    14     2564579331556          Mr. Holland's Opus (1995)</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8    317    2432749438261          Schindler's List (1993)</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9    116    2292504447885          Rock, The (1996)</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 </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ranking agrees with model/out/top10_u42_private_fss_b128_ell10.txt on all 10</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positions, in order.</a:t>
            </a:r>
            <a:endParaRPr lang="en-US" sz="1150" dirty="0"/>
          </a:p>
          <a:p>
            <a:pPr marL="0" indent="0" algn="l">
              <a:lnSpc>
                <a:spcPct val="100000"/>
              </a:lnSpc>
              <a:buNone/>
            </a:pPr>
            <a:r>
              <a:rPr lang="en-US" sz="1150" dirty="0">
                <a:solidFill>
                  <a:schemeClr val="accent1"/>
                </a:solidFill>
                <a:latin typeface="IBM Plex Mono" pitchFamily="34" charset="0"/>
                <a:ea typeface="IBM Plex Mono" pitchFamily="34" charset="-122"/>
                <a:cs typeface="IBM Plex Mono" pitchFamily="34" charset="-120"/>
              </a:rPr>
              <a:t>All 10 records fetched privately and verified byte-exact</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against a cleartext lookup. Each fetch cost one 227-byte DPF key</a:t>
            </a:r>
            <a:endParaRPr lang="en-US" sz="1150" dirty="0"/>
          </a:p>
          <a:p>
            <a:pPr marL="0" indent="0" algn="l">
              <a:lnSpc>
                <a:spcPct val="100000"/>
              </a:lnSpc>
              <a:buNone/>
            </a:pPr>
            <a:r>
              <a:rPr lang="en-US" sz="1150" dirty="0">
                <a:solidFill>
                  <a:schemeClr val="tx1"/>
                </a:solidFill>
                <a:latin typeface="IBM Plex Mono" pitchFamily="34" charset="0"/>
                <a:ea typeface="IBM Plex Mono" pitchFamily="34" charset="-122"/>
                <a:cs typeface="IBM Plex Mono" pitchFamily="34" charset="-120"/>
              </a:rPr>
              <a:t>per server against a 2048-entry domain.</a:t>
            </a:r>
            <a:endParaRPr lang="en-US" sz="1150" dirty="0"/>
          </a:p>
        </p:txBody>
      </p:sp>
      <p:sp>
        <p:nvSpPr>
          <p:cNvPr id="5" name="stat value"/>
          <p:cNvSpPr txBox="1"/>
          <p:nvPr/>
        </p:nvSpPr>
        <p:spPr>
          <a:xfrm>
            <a:off x="9006840" y="1554480"/>
            <a:ext cx="2651760" cy="594360"/>
          </a:xfrm>
          <a:prstGeom prst="rect">
            <a:avLst/>
          </a:prstGeom>
          <a:noFill/>
          <a:ln/>
        </p:spPr>
        <p:txBody>
          <a:bodyPr wrap="square" lIns="0" tIns="0" rIns="0" bIns="0" rtlCol="0" anchor="t"/>
          <a:lstStyle/>
          <a:p>
            <a:pPr marL="0" indent="0" algn="l">
              <a:lnSpc>
                <a:spcPct val="100000"/>
              </a:lnSpc>
              <a:buNone/>
            </a:pPr>
            <a:r>
              <a:rPr lang="en-US" sz="3600" dirty="0">
                <a:solidFill>
                  <a:schemeClr val="accent1"/>
                </a:solidFill>
                <a:latin typeface="Manrope ExtraBold" pitchFamily="34" charset="0"/>
                <a:ea typeface="Manrope ExtraBold" pitchFamily="34" charset="-122"/>
                <a:cs typeface="Manrope ExtraBold" pitchFamily="34" charset="-120"/>
              </a:rPr>
              <a:t>10 of 10</a:t>
            </a:r>
            <a:endParaRPr lang="en-US" sz="3600" dirty="0"/>
          </a:p>
        </p:txBody>
      </p:sp>
      <p:sp>
        <p:nvSpPr>
          <p:cNvPr id="6" name="stat label"/>
          <p:cNvSpPr txBox="1"/>
          <p:nvPr/>
        </p:nvSpPr>
        <p:spPr>
          <a:xfrm>
            <a:off x="9006840" y="2167128"/>
            <a:ext cx="26517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ranking positions match an independent reference</a:t>
            </a:r>
            <a:endParaRPr lang="en-US" sz="1400" dirty="0"/>
          </a:p>
        </p:txBody>
      </p:sp>
      <p:sp>
        <p:nvSpPr>
          <p:cNvPr id="7" name="stat value"/>
          <p:cNvSpPr txBox="1"/>
          <p:nvPr/>
        </p:nvSpPr>
        <p:spPr>
          <a:xfrm>
            <a:off x="9006840" y="3017520"/>
            <a:ext cx="2651760" cy="594360"/>
          </a:xfrm>
          <a:prstGeom prst="rect">
            <a:avLst/>
          </a:prstGeom>
          <a:noFill/>
          <a:ln/>
        </p:spPr>
        <p:txBody>
          <a:bodyPr wrap="square" lIns="0" tIns="0" rIns="0" bIns="0" rtlCol="0" anchor="t"/>
          <a:lstStyle/>
          <a:p>
            <a:pPr marL="0" indent="0" algn="l">
              <a:lnSpc>
                <a:spcPct val="100000"/>
              </a:lnSpc>
              <a:buNone/>
            </a:pPr>
            <a:r>
              <a:rPr lang="en-US" sz="3200" dirty="0">
                <a:solidFill>
                  <a:schemeClr val="tx1"/>
                </a:solidFill>
                <a:latin typeface="Manrope ExtraBold" pitchFamily="34" charset="0"/>
                <a:ea typeface="Manrope ExtraBold" pitchFamily="34" charset="-122"/>
                <a:cs typeface="Manrope ExtraBold" pitchFamily="34" charset="-120"/>
              </a:rPr>
              <a:t>byte-exact</a:t>
            </a:r>
            <a:endParaRPr lang="en-US" sz="3200" dirty="0"/>
          </a:p>
        </p:txBody>
      </p:sp>
      <p:sp>
        <p:nvSpPr>
          <p:cNvPr id="8" name="stat label"/>
          <p:cNvSpPr txBox="1"/>
          <p:nvPr/>
        </p:nvSpPr>
        <p:spPr>
          <a:xfrm>
            <a:off x="9006840" y="3630168"/>
            <a:ext cx="26517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every fetched record, against a cleartext lookup</a:t>
            </a:r>
            <a:endParaRPr lang="en-US" sz="1400" dirty="0"/>
          </a:p>
        </p:txBody>
      </p:sp>
      <p:sp>
        <p:nvSpPr>
          <p:cNvPr id="9" name="stat value"/>
          <p:cNvSpPr txBox="1"/>
          <p:nvPr/>
        </p:nvSpPr>
        <p:spPr>
          <a:xfrm>
            <a:off x="9006840" y="4480560"/>
            <a:ext cx="2651760" cy="594360"/>
          </a:xfrm>
          <a:prstGeom prst="rect">
            <a:avLst/>
          </a:prstGeom>
          <a:noFill/>
          <a:ln/>
        </p:spPr>
        <p:txBody>
          <a:bodyPr wrap="square" lIns="0" tIns="0" rIns="0" bIns="0" rtlCol="0" anchor="t"/>
          <a:lstStyle/>
          <a:p>
            <a:pPr marL="0" indent="0" algn="l">
              <a:lnSpc>
                <a:spcPct val="100000"/>
              </a:lnSpc>
              <a:buNone/>
            </a:pPr>
            <a:r>
              <a:rPr lang="en-US" sz="3200" dirty="0">
                <a:solidFill>
                  <a:schemeClr val="tx1"/>
                </a:solidFill>
                <a:latin typeface="Manrope ExtraBold" pitchFamily="34" charset="0"/>
                <a:ea typeface="Manrope ExtraBold" pitchFamily="34" charset="-122"/>
                <a:cs typeface="Manrope ExtraBold" pitchFamily="34" charset="-120"/>
              </a:rPr>
              <a:t>no leak</a:t>
            </a:r>
            <a:endParaRPr lang="en-US" sz="3200" dirty="0"/>
          </a:p>
        </p:txBody>
      </p:sp>
      <p:sp>
        <p:nvSpPr>
          <p:cNvPr id="10" name="stat label"/>
          <p:cNvSpPr txBox="1"/>
          <p:nvPr/>
        </p:nvSpPr>
        <p:spPr>
          <a:xfrm>
            <a:off x="9006840" y="5093208"/>
            <a:ext cx="26517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model was trained with the normaliser that reveals nothing</a:t>
            </a:r>
            <a:endParaRPr lang="en-US" sz="1400" dirty="0"/>
          </a:p>
        </p:txBody>
      </p:sp>
      <p:sp>
        <p:nvSpPr>
          <p:cNvPr id="11" name="Text 9"/>
          <p:cNvSpPr txBox="1"/>
          <p:nvPr/>
        </p:nvSpPr>
        <p:spPr>
          <a:xfrm>
            <a:off x="548640" y="5715000"/>
            <a:ext cx="8001000" cy="457200"/>
          </a:xfrm>
          <a:prstGeom prst="rect">
            <a:avLst/>
          </a:prstGeom>
          <a:noFill/>
          <a:ln/>
        </p:spPr>
        <p:txBody>
          <a:bodyPr wrap="square" lIns="0" tIns="0" rIns="0" bIns="0" rtlCol="0" anchor="t"/>
          <a:lstStyle/>
          <a:p>
            <a:pPr marL="0" indent="0" algn="l">
              <a:lnSpc>
                <a:spcPct val="105000"/>
              </a:lnSpc>
              <a:buNone/>
            </a:pPr>
            <a:r>
              <a:rPr lang="en-US" sz="1050" dirty="0">
                <a:solidFill>
                  <a:schemeClr val="tx2"/>
                </a:solidFill>
                <a:latin typeface="IBM Plex Mono" pitchFamily="34" charset="0"/>
                <a:ea typeface="IBM Plex Mono" pitchFamily="34" charset="-122"/>
                <a:cs typeface="IBM Plex Mono" pitchFamily="34" charset="-120"/>
              </a:rPr>
              <a:t>Real output of the demo, captured from the program, not retyped. Model: spec-faithful training, 128-bit ring, 10 iterations.</a:t>
            </a:r>
            <a:endParaRPr lang="en-US" sz="105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A fetch is a projection</a:t>
            </a:r>
            <a:endParaRPr lang="en-US" sz="3400" dirty="0"/>
          </a:p>
        </p:txBody>
      </p:sp>
      <p:sp>
        <p:nvSpPr>
          <p:cNvPr id="3" name="item space"/>
          <p:cNvSpPr/>
          <p:nvPr/>
        </p:nvSpPr>
        <p:spPr>
          <a:xfrm>
            <a:off x="548640" y="1463040"/>
            <a:ext cx="6309360" cy="4434840"/>
          </a:xfrm>
          <a:prstGeom prst="roundRect">
            <a:avLst>
              <a:gd name="adj" fmla="val 3299"/>
            </a:avLst>
          </a:prstGeom>
          <a:solidFill>
            <a:schemeClr val="bg2"/>
          </a:solidFill>
          <a:ln/>
        </p:spPr>
      </p:sp>
      <p:sp>
        <p:nvSpPr>
          <p:cNvPr id="4" name="your vector"/>
          <p:cNvSpPr/>
          <p:nvPr/>
        </p:nvSpPr>
        <p:spPr>
          <a:xfrm flipV="1">
            <a:off x="1371600" y="3020146"/>
            <a:ext cx="4012307" cy="2191934"/>
          </a:xfrm>
          <a:prstGeom prst="line">
            <a:avLst/>
          </a:prstGeom>
          <a:noFill/>
          <a:ln w="31750">
            <a:solidFill>
              <a:schemeClr val="accent1"/>
            </a:solidFill>
            <a:prstDash val="solid"/>
            <a:tailEnd type="triangle"/>
          </a:ln>
        </p:spPr>
      </p:sp>
      <p:sp>
        <p:nvSpPr>
          <p:cNvPr id="5" name="estimate"/>
          <p:cNvSpPr/>
          <p:nvPr/>
        </p:nvSpPr>
        <p:spPr>
          <a:xfrm flipV="1">
            <a:off x="1371600" y="2993069"/>
            <a:ext cx="3078342" cy="2219011"/>
          </a:xfrm>
          <a:prstGeom prst="line">
            <a:avLst/>
          </a:prstGeom>
          <a:noFill/>
          <a:ln w="22225">
            <a:solidFill>
              <a:schemeClr val="tx1"/>
            </a:solidFill>
            <a:prstDash val="dash"/>
            <a:tailEnd type="triangle"/>
          </a:ln>
        </p:spPr>
      </p:sp>
      <p:sp>
        <p:nvSpPr>
          <p:cNvPr id="6" name="item"/>
          <p:cNvSpPr/>
          <p:nvPr/>
        </p:nvSpPr>
        <p:spPr>
          <a:xfrm>
            <a:off x="5576836" y="2932940"/>
            <a:ext cx="91440" cy="91440"/>
          </a:xfrm>
          <a:prstGeom prst="ellipse">
            <a:avLst/>
          </a:prstGeom>
          <a:solidFill>
            <a:schemeClr val="accent3"/>
          </a:solidFill>
          <a:ln/>
        </p:spPr>
      </p:sp>
      <p:sp>
        <p:nvSpPr>
          <p:cNvPr id="7" name="item"/>
          <p:cNvSpPr/>
          <p:nvPr/>
        </p:nvSpPr>
        <p:spPr>
          <a:xfrm>
            <a:off x="5436996" y="4426475"/>
            <a:ext cx="91440" cy="91440"/>
          </a:xfrm>
          <a:prstGeom prst="ellipse">
            <a:avLst/>
          </a:prstGeom>
          <a:solidFill>
            <a:schemeClr val="accent3"/>
          </a:solidFill>
          <a:ln/>
        </p:spPr>
      </p:sp>
      <p:sp>
        <p:nvSpPr>
          <p:cNvPr id="8" name="item"/>
          <p:cNvSpPr/>
          <p:nvPr/>
        </p:nvSpPr>
        <p:spPr>
          <a:xfrm>
            <a:off x="1232601" y="4076794"/>
            <a:ext cx="91440" cy="91440"/>
          </a:xfrm>
          <a:prstGeom prst="ellipse">
            <a:avLst/>
          </a:prstGeom>
          <a:solidFill>
            <a:schemeClr val="accent3"/>
          </a:solidFill>
          <a:ln/>
        </p:spPr>
      </p:sp>
      <p:sp>
        <p:nvSpPr>
          <p:cNvPr id="9" name="item"/>
          <p:cNvSpPr/>
          <p:nvPr/>
        </p:nvSpPr>
        <p:spPr>
          <a:xfrm>
            <a:off x="5464648" y="2052977"/>
            <a:ext cx="91440" cy="91440"/>
          </a:xfrm>
          <a:prstGeom prst="ellipse">
            <a:avLst/>
          </a:prstGeom>
          <a:solidFill>
            <a:schemeClr val="accent3"/>
          </a:solidFill>
          <a:ln/>
        </p:spPr>
      </p:sp>
      <p:sp>
        <p:nvSpPr>
          <p:cNvPr id="10" name="item"/>
          <p:cNvSpPr/>
          <p:nvPr/>
        </p:nvSpPr>
        <p:spPr>
          <a:xfrm>
            <a:off x="5086518" y="4163801"/>
            <a:ext cx="91440" cy="91440"/>
          </a:xfrm>
          <a:prstGeom prst="ellipse">
            <a:avLst/>
          </a:prstGeom>
          <a:solidFill>
            <a:schemeClr val="accent3"/>
          </a:solidFill>
          <a:ln/>
        </p:spPr>
      </p:sp>
      <p:sp>
        <p:nvSpPr>
          <p:cNvPr id="11" name="item"/>
          <p:cNvSpPr/>
          <p:nvPr/>
        </p:nvSpPr>
        <p:spPr>
          <a:xfrm>
            <a:off x="861812" y="5377360"/>
            <a:ext cx="91440" cy="91440"/>
          </a:xfrm>
          <a:prstGeom prst="ellipse">
            <a:avLst/>
          </a:prstGeom>
          <a:solidFill>
            <a:schemeClr val="accent3"/>
          </a:solidFill>
          <a:ln/>
        </p:spPr>
      </p:sp>
      <p:sp>
        <p:nvSpPr>
          <p:cNvPr id="12" name="item"/>
          <p:cNvSpPr/>
          <p:nvPr/>
        </p:nvSpPr>
        <p:spPr>
          <a:xfrm>
            <a:off x="3316354" y="5224176"/>
            <a:ext cx="91440" cy="91440"/>
          </a:xfrm>
          <a:prstGeom prst="ellipse">
            <a:avLst/>
          </a:prstGeom>
          <a:solidFill>
            <a:schemeClr val="accent3"/>
          </a:solidFill>
          <a:ln/>
        </p:spPr>
      </p:sp>
      <p:sp>
        <p:nvSpPr>
          <p:cNvPr id="13" name="item"/>
          <p:cNvSpPr/>
          <p:nvPr/>
        </p:nvSpPr>
        <p:spPr>
          <a:xfrm>
            <a:off x="5293036" y="3931624"/>
            <a:ext cx="91440" cy="91440"/>
          </a:xfrm>
          <a:prstGeom prst="ellipse">
            <a:avLst/>
          </a:prstGeom>
          <a:solidFill>
            <a:schemeClr val="accent3"/>
          </a:solidFill>
          <a:ln/>
        </p:spPr>
      </p:sp>
      <p:sp>
        <p:nvSpPr>
          <p:cNvPr id="14" name="item"/>
          <p:cNvSpPr/>
          <p:nvPr/>
        </p:nvSpPr>
        <p:spPr>
          <a:xfrm>
            <a:off x="2429284" y="3955473"/>
            <a:ext cx="91440" cy="91440"/>
          </a:xfrm>
          <a:prstGeom prst="ellipse">
            <a:avLst/>
          </a:prstGeom>
          <a:solidFill>
            <a:schemeClr val="accent3"/>
          </a:solidFill>
          <a:ln/>
        </p:spPr>
      </p:sp>
      <p:sp>
        <p:nvSpPr>
          <p:cNvPr id="15" name="item"/>
          <p:cNvSpPr/>
          <p:nvPr/>
        </p:nvSpPr>
        <p:spPr>
          <a:xfrm>
            <a:off x="4361576" y="3801160"/>
            <a:ext cx="91440" cy="91440"/>
          </a:xfrm>
          <a:prstGeom prst="ellipse">
            <a:avLst/>
          </a:prstGeom>
          <a:solidFill>
            <a:schemeClr val="accent3"/>
          </a:solidFill>
          <a:ln/>
        </p:spPr>
      </p:sp>
      <p:sp>
        <p:nvSpPr>
          <p:cNvPr id="16" name="item"/>
          <p:cNvSpPr/>
          <p:nvPr/>
        </p:nvSpPr>
        <p:spPr>
          <a:xfrm>
            <a:off x="5761566" y="4985664"/>
            <a:ext cx="91440" cy="91440"/>
          </a:xfrm>
          <a:prstGeom prst="ellipse">
            <a:avLst/>
          </a:prstGeom>
          <a:solidFill>
            <a:schemeClr val="accent3"/>
          </a:solidFill>
          <a:ln/>
        </p:spPr>
      </p:sp>
      <p:sp>
        <p:nvSpPr>
          <p:cNvPr id="17" name="item"/>
          <p:cNvSpPr/>
          <p:nvPr/>
        </p:nvSpPr>
        <p:spPr>
          <a:xfrm>
            <a:off x="877505" y="4475730"/>
            <a:ext cx="91440" cy="91440"/>
          </a:xfrm>
          <a:prstGeom prst="ellipse">
            <a:avLst/>
          </a:prstGeom>
          <a:solidFill>
            <a:schemeClr val="accent3"/>
          </a:solidFill>
          <a:ln/>
        </p:spPr>
      </p:sp>
      <p:sp>
        <p:nvSpPr>
          <p:cNvPr id="18" name="item"/>
          <p:cNvSpPr/>
          <p:nvPr/>
        </p:nvSpPr>
        <p:spPr>
          <a:xfrm>
            <a:off x="5982489" y="4380233"/>
            <a:ext cx="91440" cy="91440"/>
          </a:xfrm>
          <a:prstGeom prst="ellipse">
            <a:avLst/>
          </a:prstGeom>
          <a:solidFill>
            <a:schemeClr val="accent3"/>
          </a:solidFill>
          <a:ln/>
        </p:spPr>
      </p:sp>
      <p:sp>
        <p:nvSpPr>
          <p:cNvPr id="19" name="item"/>
          <p:cNvSpPr/>
          <p:nvPr/>
        </p:nvSpPr>
        <p:spPr>
          <a:xfrm>
            <a:off x="5715345" y="5203737"/>
            <a:ext cx="91440" cy="91440"/>
          </a:xfrm>
          <a:prstGeom prst="ellipse">
            <a:avLst/>
          </a:prstGeom>
          <a:solidFill>
            <a:schemeClr val="accent3"/>
          </a:solidFill>
          <a:ln/>
        </p:spPr>
      </p:sp>
      <p:sp>
        <p:nvSpPr>
          <p:cNvPr id="20" name="item"/>
          <p:cNvSpPr/>
          <p:nvPr/>
        </p:nvSpPr>
        <p:spPr>
          <a:xfrm>
            <a:off x="5945361" y="3187824"/>
            <a:ext cx="91440" cy="91440"/>
          </a:xfrm>
          <a:prstGeom prst="ellipse">
            <a:avLst/>
          </a:prstGeom>
          <a:solidFill>
            <a:schemeClr val="accent3"/>
          </a:solidFill>
          <a:ln/>
        </p:spPr>
      </p:sp>
      <p:sp>
        <p:nvSpPr>
          <p:cNvPr id="21" name="item"/>
          <p:cNvSpPr/>
          <p:nvPr/>
        </p:nvSpPr>
        <p:spPr>
          <a:xfrm>
            <a:off x="965784" y="3652344"/>
            <a:ext cx="91440" cy="91440"/>
          </a:xfrm>
          <a:prstGeom prst="ellipse">
            <a:avLst/>
          </a:prstGeom>
          <a:solidFill>
            <a:schemeClr val="accent3"/>
          </a:solidFill>
          <a:ln/>
        </p:spPr>
      </p:sp>
      <p:sp>
        <p:nvSpPr>
          <p:cNvPr id="22" name="item"/>
          <p:cNvSpPr/>
          <p:nvPr/>
        </p:nvSpPr>
        <p:spPr>
          <a:xfrm>
            <a:off x="1592559" y="4292158"/>
            <a:ext cx="91440" cy="91440"/>
          </a:xfrm>
          <a:prstGeom prst="ellipse">
            <a:avLst/>
          </a:prstGeom>
          <a:solidFill>
            <a:schemeClr val="accent3"/>
          </a:solidFill>
          <a:ln/>
        </p:spPr>
      </p:sp>
      <p:sp>
        <p:nvSpPr>
          <p:cNvPr id="23" name="item"/>
          <p:cNvSpPr/>
          <p:nvPr/>
        </p:nvSpPr>
        <p:spPr>
          <a:xfrm>
            <a:off x="1007999" y="5198249"/>
            <a:ext cx="91440" cy="91440"/>
          </a:xfrm>
          <a:prstGeom prst="ellipse">
            <a:avLst/>
          </a:prstGeom>
          <a:solidFill>
            <a:schemeClr val="accent3"/>
          </a:solidFill>
          <a:ln/>
        </p:spPr>
      </p:sp>
      <p:sp>
        <p:nvSpPr>
          <p:cNvPr id="24" name="item"/>
          <p:cNvSpPr/>
          <p:nvPr/>
        </p:nvSpPr>
        <p:spPr>
          <a:xfrm>
            <a:off x="4327759" y="5269781"/>
            <a:ext cx="91440" cy="91440"/>
          </a:xfrm>
          <a:prstGeom prst="ellipse">
            <a:avLst/>
          </a:prstGeom>
          <a:solidFill>
            <a:schemeClr val="accent3"/>
          </a:solidFill>
          <a:ln/>
        </p:spPr>
      </p:sp>
      <p:sp>
        <p:nvSpPr>
          <p:cNvPr id="25" name="item"/>
          <p:cNvSpPr/>
          <p:nvPr/>
        </p:nvSpPr>
        <p:spPr>
          <a:xfrm>
            <a:off x="2568848" y="4967951"/>
            <a:ext cx="91440" cy="91440"/>
          </a:xfrm>
          <a:prstGeom prst="ellipse">
            <a:avLst/>
          </a:prstGeom>
          <a:solidFill>
            <a:schemeClr val="accent3"/>
          </a:solidFill>
          <a:ln/>
        </p:spPr>
      </p:sp>
      <p:sp>
        <p:nvSpPr>
          <p:cNvPr id="26" name="item"/>
          <p:cNvSpPr/>
          <p:nvPr/>
        </p:nvSpPr>
        <p:spPr>
          <a:xfrm>
            <a:off x="6456736" y="4547523"/>
            <a:ext cx="91440" cy="91440"/>
          </a:xfrm>
          <a:prstGeom prst="ellipse">
            <a:avLst/>
          </a:prstGeom>
          <a:solidFill>
            <a:schemeClr val="accent3"/>
          </a:solidFill>
          <a:ln/>
        </p:spPr>
      </p:sp>
      <p:sp>
        <p:nvSpPr>
          <p:cNvPr id="27" name="item"/>
          <p:cNvSpPr/>
          <p:nvPr/>
        </p:nvSpPr>
        <p:spPr>
          <a:xfrm>
            <a:off x="6303963" y="2847192"/>
            <a:ext cx="91440" cy="91440"/>
          </a:xfrm>
          <a:prstGeom prst="ellipse">
            <a:avLst/>
          </a:prstGeom>
          <a:solidFill>
            <a:schemeClr val="accent3"/>
          </a:solidFill>
          <a:ln/>
        </p:spPr>
      </p:sp>
      <p:sp>
        <p:nvSpPr>
          <p:cNvPr id="28" name="item"/>
          <p:cNvSpPr/>
          <p:nvPr/>
        </p:nvSpPr>
        <p:spPr>
          <a:xfrm>
            <a:off x="4574587" y="2288242"/>
            <a:ext cx="91440" cy="91440"/>
          </a:xfrm>
          <a:prstGeom prst="ellipse">
            <a:avLst/>
          </a:prstGeom>
          <a:solidFill>
            <a:schemeClr val="accent3"/>
          </a:solidFill>
          <a:ln/>
        </p:spPr>
      </p:sp>
      <p:sp>
        <p:nvSpPr>
          <p:cNvPr id="29" name="item"/>
          <p:cNvSpPr/>
          <p:nvPr/>
        </p:nvSpPr>
        <p:spPr>
          <a:xfrm>
            <a:off x="6523014" y="4064667"/>
            <a:ext cx="91440" cy="91440"/>
          </a:xfrm>
          <a:prstGeom prst="ellipse">
            <a:avLst/>
          </a:prstGeom>
          <a:solidFill>
            <a:schemeClr val="accent3"/>
          </a:solidFill>
          <a:ln/>
        </p:spPr>
      </p:sp>
      <p:sp>
        <p:nvSpPr>
          <p:cNvPr id="30" name="item"/>
          <p:cNvSpPr/>
          <p:nvPr/>
        </p:nvSpPr>
        <p:spPr>
          <a:xfrm>
            <a:off x="4954220" y="2845293"/>
            <a:ext cx="91440" cy="91440"/>
          </a:xfrm>
          <a:prstGeom prst="ellipse">
            <a:avLst/>
          </a:prstGeom>
          <a:solidFill>
            <a:schemeClr val="accent3"/>
          </a:solidFill>
          <a:ln/>
        </p:spPr>
      </p:sp>
      <p:sp>
        <p:nvSpPr>
          <p:cNvPr id="31" name="item"/>
          <p:cNvSpPr/>
          <p:nvPr/>
        </p:nvSpPr>
        <p:spPr>
          <a:xfrm>
            <a:off x="4572881" y="4687511"/>
            <a:ext cx="91440" cy="91440"/>
          </a:xfrm>
          <a:prstGeom prst="ellipse">
            <a:avLst/>
          </a:prstGeom>
          <a:solidFill>
            <a:schemeClr val="accent3"/>
          </a:solidFill>
          <a:ln/>
        </p:spPr>
      </p:sp>
      <p:sp>
        <p:nvSpPr>
          <p:cNvPr id="32" name="item"/>
          <p:cNvSpPr/>
          <p:nvPr/>
        </p:nvSpPr>
        <p:spPr>
          <a:xfrm>
            <a:off x="5763882" y="5502243"/>
            <a:ext cx="91440" cy="91440"/>
          </a:xfrm>
          <a:prstGeom prst="ellipse">
            <a:avLst/>
          </a:prstGeom>
          <a:solidFill>
            <a:schemeClr val="accent3"/>
          </a:solidFill>
          <a:ln/>
        </p:spPr>
      </p:sp>
      <p:sp>
        <p:nvSpPr>
          <p:cNvPr id="33" name="item"/>
          <p:cNvSpPr/>
          <p:nvPr/>
        </p:nvSpPr>
        <p:spPr>
          <a:xfrm>
            <a:off x="5610208" y="1752284"/>
            <a:ext cx="91440" cy="91440"/>
          </a:xfrm>
          <a:prstGeom prst="ellipse">
            <a:avLst/>
          </a:prstGeom>
          <a:solidFill>
            <a:schemeClr val="accent3"/>
          </a:solidFill>
          <a:ln/>
        </p:spPr>
      </p:sp>
      <p:sp>
        <p:nvSpPr>
          <p:cNvPr id="34" name="item"/>
          <p:cNvSpPr/>
          <p:nvPr/>
        </p:nvSpPr>
        <p:spPr>
          <a:xfrm>
            <a:off x="3231569" y="3111118"/>
            <a:ext cx="91440" cy="91440"/>
          </a:xfrm>
          <a:prstGeom prst="ellipse">
            <a:avLst/>
          </a:prstGeom>
          <a:solidFill>
            <a:schemeClr val="accent3"/>
          </a:solidFill>
          <a:ln/>
        </p:spPr>
      </p:sp>
      <p:sp>
        <p:nvSpPr>
          <p:cNvPr id="35" name="item"/>
          <p:cNvSpPr/>
          <p:nvPr/>
        </p:nvSpPr>
        <p:spPr>
          <a:xfrm>
            <a:off x="5654648" y="2741049"/>
            <a:ext cx="91440" cy="91440"/>
          </a:xfrm>
          <a:prstGeom prst="ellipse">
            <a:avLst/>
          </a:prstGeom>
          <a:solidFill>
            <a:schemeClr val="accent3"/>
          </a:solidFill>
          <a:ln/>
        </p:spPr>
      </p:sp>
      <p:sp>
        <p:nvSpPr>
          <p:cNvPr id="36" name="item"/>
          <p:cNvSpPr/>
          <p:nvPr/>
        </p:nvSpPr>
        <p:spPr>
          <a:xfrm>
            <a:off x="4706079" y="5045263"/>
            <a:ext cx="91440" cy="91440"/>
          </a:xfrm>
          <a:prstGeom prst="ellipse">
            <a:avLst/>
          </a:prstGeom>
          <a:solidFill>
            <a:schemeClr val="accent3"/>
          </a:solidFill>
          <a:ln/>
        </p:spPr>
      </p:sp>
      <p:sp>
        <p:nvSpPr>
          <p:cNvPr id="37" name="item"/>
          <p:cNvSpPr/>
          <p:nvPr/>
        </p:nvSpPr>
        <p:spPr>
          <a:xfrm>
            <a:off x="1282509" y="4381548"/>
            <a:ext cx="91440" cy="91440"/>
          </a:xfrm>
          <a:prstGeom prst="ellipse">
            <a:avLst/>
          </a:prstGeom>
          <a:solidFill>
            <a:schemeClr val="accent3"/>
          </a:solidFill>
          <a:ln/>
        </p:spPr>
      </p:sp>
      <p:sp>
        <p:nvSpPr>
          <p:cNvPr id="38" name="item"/>
          <p:cNvSpPr/>
          <p:nvPr/>
        </p:nvSpPr>
        <p:spPr>
          <a:xfrm>
            <a:off x="2335188" y="4921740"/>
            <a:ext cx="91440" cy="91440"/>
          </a:xfrm>
          <a:prstGeom prst="ellipse">
            <a:avLst/>
          </a:prstGeom>
          <a:solidFill>
            <a:schemeClr val="accent3"/>
          </a:solidFill>
          <a:ln/>
        </p:spPr>
      </p:sp>
      <p:sp>
        <p:nvSpPr>
          <p:cNvPr id="39" name="item"/>
          <p:cNvSpPr/>
          <p:nvPr/>
        </p:nvSpPr>
        <p:spPr>
          <a:xfrm>
            <a:off x="868083" y="5061444"/>
            <a:ext cx="91440" cy="91440"/>
          </a:xfrm>
          <a:prstGeom prst="ellipse">
            <a:avLst/>
          </a:prstGeom>
          <a:solidFill>
            <a:schemeClr val="accent3"/>
          </a:solidFill>
          <a:ln/>
        </p:spPr>
      </p:sp>
      <p:sp>
        <p:nvSpPr>
          <p:cNvPr id="40" name="item"/>
          <p:cNvSpPr/>
          <p:nvPr/>
        </p:nvSpPr>
        <p:spPr>
          <a:xfrm>
            <a:off x="1700643" y="3509805"/>
            <a:ext cx="91440" cy="91440"/>
          </a:xfrm>
          <a:prstGeom prst="ellipse">
            <a:avLst/>
          </a:prstGeom>
          <a:solidFill>
            <a:schemeClr val="accent3"/>
          </a:solidFill>
          <a:ln/>
        </p:spPr>
      </p:sp>
      <p:sp>
        <p:nvSpPr>
          <p:cNvPr id="41" name="item"/>
          <p:cNvSpPr/>
          <p:nvPr/>
        </p:nvSpPr>
        <p:spPr>
          <a:xfrm>
            <a:off x="1614886" y="3565749"/>
            <a:ext cx="91440" cy="91440"/>
          </a:xfrm>
          <a:prstGeom prst="ellipse">
            <a:avLst/>
          </a:prstGeom>
          <a:solidFill>
            <a:schemeClr val="accent3"/>
          </a:solidFill>
          <a:ln/>
        </p:spPr>
      </p:sp>
      <p:sp>
        <p:nvSpPr>
          <p:cNvPr id="42" name="item"/>
          <p:cNvSpPr/>
          <p:nvPr/>
        </p:nvSpPr>
        <p:spPr>
          <a:xfrm>
            <a:off x="3104419" y="3450377"/>
            <a:ext cx="91440" cy="91440"/>
          </a:xfrm>
          <a:prstGeom prst="ellipse">
            <a:avLst/>
          </a:prstGeom>
          <a:solidFill>
            <a:schemeClr val="accent3"/>
          </a:solidFill>
          <a:ln/>
        </p:spPr>
      </p:sp>
      <p:sp>
        <p:nvSpPr>
          <p:cNvPr id="43" name="item"/>
          <p:cNvSpPr/>
          <p:nvPr/>
        </p:nvSpPr>
        <p:spPr>
          <a:xfrm>
            <a:off x="2068015" y="3341475"/>
            <a:ext cx="91440" cy="91440"/>
          </a:xfrm>
          <a:prstGeom prst="ellipse">
            <a:avLst/>
          </a:prstGeom>
          <a:solidFill>
            <a:schemeClr val="accent3"/>
          </a:solidFill>
          <a:ln/>
        </p:spPr>
      </p:sp>
      <p:sp>
        <p:nvSpPr>
          <p:cNvPr id="44" name="item"/>
          <p:cNvSpPr/>
          <p:nvPr/>
        </p:nvSpPr>
        <p:spPr>
          <a:xfrm>
            <a:off x="6167830" y="2397246"/>
            <a:ext cx="91440" cy="91440"/>
          </a:xfrm>
          <a:prstGeom prst="ellipse">
            <a:avLst/>
          </a:prstGeom>
          <a:solidFill>
            <a:schemeClr val="accent3"/>
          </a:solidFill>
          <a:ln/>
        </p:spPr>
      </p:sp>
      <p:sp>
        <p:nvSpPr>
          <p:cNvPr id="45" name="item"/>
          <p:cNvSpPr/>
          <p:nvPr/>
        </p:nvSpPr>
        <p:spPr>
          <a:xfrm>
            <a:off x="5963344" y="3737346"/>
            <a:ext cx="91440" cy="91440"/>
          </a:xfrm>
          <a:prstGeom prst="ellipse">
            <a:avLst/>
          </a:prstGeom>
          <a:solidFill>
            <a:schemeClr val="accent3"/>
          </a:solidFill>
          <a:ln/>
        </p:spPr>
      </p:sp>
      <p:sp>
        <p:nvSpPr>
          <p:cNvPr id="46" name="item"/>
          <p:cNvSpPr/>
          <p:nvPr/>
        </p:nvSpPr>
        <p:spPr>
          <a:xfrm>
            <a:off x="3980211" y="4388409"/>
            <a:ext cx="91440" cy="91440"/>
          </a:xfrm>
          <a:prstGeom prst="ellipse">
            <a:avLst/>
          </a:prstGeom>
          <a:solidFill>
            <a:schemeClr val="accent3"/>
          </a:solidFill>
          <a:ln/>
        </p:spPr>
      </p:sp>
      <p:sp>
        <p:nvSpPr>
          <p:cNvPr id="47" name="item"/>
          <p:cNvSpPr/>
          <p:nvPr/>
        </p:nvSpPr>
        <p:spPr>
          <a:xfrm>
            <a:off x="2766455" y="4859144"/>
            <a:ext cx="91440" cy="91440"/>
          </a:xfrm>
          <a:prstGeom prst="ellipse">
            <a:avLst/>
          </a:prstGeom>
          <a:solidFill>
            <a:schemeClr val="accent3"/>
          </a:solidFill>
          <a:ln/>
        </p:spPr>
      </p:sp>
      <p:sp>
        <p:nvSpPr>
          <p:cNvPr id="48" name="item"/>
          <p:cNvSpPr/>
          <p:nvPr/>
        </p:nvSpPr>
        <p:spPr>
          <a:xfrm>
            <a:off x="3784960" y="4460264"/>
            <a:ext cx="91440" cy="91440"/>
          </a:xfrm>
          <a:prstGeom prst="ellipse">
            <a:avLst/>
          </a:prstGeom>
          <a:solidFill>
            <a:schemeClr val="accent3"/>
          </a:solidFill>
          <a:ln/>
        </p:spPr>
      </p:sp>
      <p:sp>
        <p:nvSpPr>
          <p:cNvPr id="49" name="item"/>
          <p:cNvSpPr/>
          <p:nvPr/>
        </p:nvSpPr>
        <p:spPr>
          <a:xfrm>
            <a:off x="2995073" y="5085282"/>
            <a:ext cx="91440" cy="91440"/>
          </a:xfrm>
          <a:prstGeom prst="ellipse">
            <a:avLst/>
          </a:prstGeom>
          <a:solidFill>
            <a:schemeClr val="accent3"/>
          </a:solidFill>
          <a:ln/>
        </p:spPr>
      </p:sp>
      <p:sp>
        <p:nvSpPr>
          <p:cNvPr id="50" name="fetched item"/>
          <p:cNvSpPr/>
          <p:nvPr/>
        </p:nvSpPr>
        <p:spPr>
          <a:xfrm>
            <a:off x="3578943" y="3167556"/>
            <a:ext cx="201168" cy="201168"/>
          </a:xfrm>
          <a:prstGeom prst="ellipse">
            <a:avLst/>
          </a:prstGeom>
          <a:solidFill>
            <a:schemeClr val="tx1"/>
          </a:solidFill>
          <a:ln w="19050">
            <a:solidFill>
              <a:schemeClr val="bg1"/>
            </a:solidFill>
            <a:prstDash val="solid"/>
          </a:ln>
        </p:spPr>
      </p:sp>
      <p:sp>
        <p:nvSpPr>
          <p:cNvPr id="51" name="fetched item"/>
          <p:cNvSpPr/>
          <p:nvPr/>
        </p:nvSpPr>
        <p:spPr>
          <a:xfrm>
            <a:off x="4374229" y="2848897"/>
            <a:ext cx="201168" cy="201168"/>
          </a:xfrm>
          <a:prstGeom prst="ellipse">
            <a:avLst/>
          </a:prstGeom>
          <a:solidFill>
            <a:schemeClr val="tx1"/>
          </a:solidFill>
          <a:ln w="19050">
            <a:solidFill>
              <a:schemeClr val="bg1"/>
            </a:solidFill>
            <a:prstDash val="solid"/>
          </a:ln>
        </p:spPr>
      </p:sp>
      <p:sp>
        <p:nvSpPr>
          <p:cNvPr id="52" name="fetched item"/>
          <p:cNvSpPr/>
          <p:nvPr/>
        </p:nvSpPr>
        <p:spPr>
          <a:xfrm>
            <a:off x="3334204" y="3930193"/>
            <a:ext cx="201168" cy="201168"/>
          </a:xfrm>
          <a:prstGeom prst="ellipse">
            <a:avLst/>
          </a:prstGeom>
          <a:solidFill>
            <a:schemeClr val="tx1"/>
          </a:solidFill>
          <a:ln w="19050">
            <a:solidFill>
              <a:schemeClr val="bg1"/>
            </a:solidFill>
            <a:prstDash val="solid"/>
          </a:ln>
        </p:spPr>
      </p:sp>
      <p:sp>
        <p:nvSpPr>
          <p:cNvPr id="53" name="legend vector"/>
          <p:cNvSpPr/>
          <p:nvPr/>
        </p:nvSpPr>
        <p:spPr>
          <a:xfrm>
            <a:off x="822960" y="1865376"/>
            <a:ext cx="384048" cy="0"/>
          </a:xfrm>
          <a:prstGeom prst="line">
            <a:avLst/>
          </a:prstGeom>
          <a:noFill/>
          <a:ln w="31750">
            <a:solidFill>
              <a:schemeClr val="accent1"/>
            </a:solidFill>
            <a:prstDash val="solid"/>
          </a:ln>
        </p:spPr>
      </p:sp>
      <p:sp>
        <p:nvSpPr>
          <p:cNvPr id="54" name="Text 52"/>
          <p:cNvSpPr txBox="1"/>
          <p:nvPr/>
        </p:nvSpPr>
        <p:spPr>
          <a:xfrm>
            <a:off x="1353312" y="1773936"/>
            <a:ext cx="3017520" cy="228600"/>
          </a:xfrm>
          <a:prstGeom prst="rect">
            <a:avLst/>
          </a:prstGeom>
          <a:noFill/>
          <a:ln/>
        </p:spPr>
        <p:txBody>
          <a:bodyPr wrap="square" lIns="0" tIns="0" rIns="0" bIns="0" rtlCol="0" anchor="t"/>
          <a:lstStyle/>
          <a:p>
            <a:pPr marL="0" indent="0" algn="l">
              <a:lnSpc>
                <a:spcPct val="100000"/>
              </a:lnSpc>
              <a:buNone/>
            </a:pPr>
            <a:r>
              <a:rPr lang="en-US" sz="1300" dirty="0">
                <a:solidFill>
                  <a:schemeClr val="accent1"/>
                </a:solidFill>
                <a:latin typeface="Manrope" pitchFamily="34" charset="0"/>
                <a:ea typeface="Manrope" pitchFamily="34" charset="-122"/>
                <a:cs typeface="Manrope" pitchFamily="34" charset="-120"/>
              </a:rPr>
              <a:t>your vector, secret</a:t>
            </a:r>
            <a:endParaRPr lang="en-US" sz="1300" dirty="0"/>
          </a:p>
        </p:txBody>
      </p:sp>
      <p:sp>
        <p:nvSpPr>
          <p:cNvPr id="55" name="legend estimate"/>
          <p:cNvSpPr/>
          <p:nvPr/>
        </p:nvSpPr>
        <p:spPr>
          <a:xfrm>
            <a:off x="822960" y="2157984"/>
            <a:ext cx="384048" cy="0"/>
          </a:xfrm>
          <a:prstGeom prst="line">
            <a:avLst/>
          </a:prstGeom>
          <a:noFill/>
          <a:ln w="22225">
            <a:solidFill>
              <a:schemeClr val="tx1"/>
            </a:solidFill>
            <a:prstDash val="dash"/>
          </a:ln>
        </p:spPr>
      </p:sp>
      <p:sp>
        <p:nvSpPr>
          <p:cNvPr id="56" name="Text 54"/>
          <p:cNvSpPr txBox="1"/>
          <p:nvPr/>
        </p:nvSpPr>
        <p:spPr>
          <a:xfrm>
            <a:off x="1353312" y="2066544"/>
            <a:ext cx="3017520" cy="228600"/>
          </a:xfrm>
          <a:prstGeom prst="rect">
            <a:avLst/>
          </a:prstGeom>
          <a:noFill/>
          <a:ln/>
        </p:spPr>
        <p:txBody>
          <a:bodyPr wrap="square" lIns="0" tIns="0" rIns="0" bIns="0" rtlCol="0" anchor="t"/>
          <a:lstStyle/>
          <a:p>
            <a:pPr marL="0" indent="0" algn="l">
              <a:lnSpc>
                <a:spcPct val="100000"/>
              </a:lnSpc>
              <a:buNone/>
            </a:pPr>
            <a:r>
              <a:rPr lang="en-US" sz="1300" dirty="0">
                <a:solidFill>
                  <a:schemeClr val="tx1"/>
                </a:solidFill>
                <a:latin typeface="Manrope" pitchFamily="34" charset="0"/>
                <a:ea typeface="Manrope" pitchFamily="34" charset="-122"/>
                <a:cs typeface="Manrope" pitchFamily="34" charset="-120"/>
              </a:rPr>
              <a:t>the observer’s estimate, their mean</a:t>
            </a:r>
            <a:endParaRPr lang="en-US" sz="1300" dirty="0"/>
          </a:p>
        </p:txBody>
      </p:sp>
      <p:sp>
        <p:nvSpPr>
          <p:cNvPr id="57" name="legend fetched"/>
          <p:cNvSpPr/>
          <p:nvPr/>
        </p:nvSpPr>
        <p:spPr>
          <a:xfrm>
            <a:off x="914400" y="2359152"/>
            <a:ext cx="182880" cy="182880"/>
          </a:xfrm>
          <a:prstGeom prst="ellipse">
            <a:avLst/>
          </a:prstGeom>
          <a:solidFill>
            <a:schemeClr val="tx1"/>
          </a:solidFill>
          <a:ln/>
        </p:spPr>
      </p:sp>
      <p:sp>
        <p:nvSpPr>
          <p:cNvPr id="58" name="Text 56"/>
          <p:cNvSpPr txBox="1"/>
          <p:nvPr/>
        </p:nvSpPr>
        <p:spPr>
          <a:xfrm>
            <a:off x="1353312" y="2359152"/>
            <a:ext cx="3017520" cy="228600"/>
          </a:xfrm>
          <a:prstGeom prst="rect">
            <a:avLst/>
          </a:prstGeom>
          <a:noFill/>
          <a:ln/>
        </p:spPr>
        <p:txBody>
          <a:bodyPr wrap="square" lIns="0" tIns="0" rIns="0" bIns="0" rtlCol="0" anchor="t"/>
          <a:lstStyle/>
          <a:p>
            <a:pPr marL="0" indent="0" algn="l">
              <a:lnSpc>
                <a:spcPct val="100000"/>
              </a:lnSpc>
              <a:buNone/>
            </a:pPr>
            <a:r>
              <a:rPr lang="en-US" sz="1300" dirty="0">
                <a:solidFill>
                  <a:schemeClr val="tx1"/>
                </a:solidFill>
                <a:latin typeface="Manrope" pitchFamily="34" charset="0"/>
                <a:ea typeface="Manrope" pitchFamily="34" charset="-122"/>
                <a:cs typeface="Manrope" pitchFamily="34" charset="-120"/>
              </a:rPr>
              <a:t>an item you fetched</a:t>
            </a:r>
            <a:endParaRPr lang="en-US" sz="1300" dirty="0"/>
          </a:p>
        </p:txBody>
      </p:sp>
      <p:sp>
        <p:nvSpPr>
          <p:cNvPr id="59" name="legend item"/>
          <p:cNvSpPr/>
          <p:nvPr/>
        </p:nvSpPr>
        <p:spPr>
          <a:xfrm>
            <a:off x="960120" y="2697480"/>
            <a:ext cx="91440" cy="91440"/>
          </a:xfrm>
          <a:prstGeom prst="ellipse">
            <a:avLst/>
          </a:prstGeom>
          <a:solidFill>
            <a:schemeClr val="accent3"/>
          </a:solidFill>
          <a:ln/>
        </p:spPr>
      </p:sp>
      <p:sp>
        <p:nvSpPr>
          <p:cNvPr id="60" name="Text 58"/>
          <p:cNvSpPr txBox="1"/>
          <p:nvPr/>
        </p:nvSpPr>
        <p:spPr>
          <a:xfrm>
            <a:off x="1353312" y="2651760"/>
            <a:ext cx="3017520" cy="228600"/>
          </a:xfrm>
          <a:prstGeom prst="rect">
            <a:avLst/>
          </a:prstGeom>
          <a:noFill/>
          <a:ln/>
        </p:spPr>
        <p:txBody>
          <a:bodyPr wrap="square" lIns="0" tIns="0" rIns="0" bIns="0" rtlCol="0" anchor="t"/>
          <a:lstStyle/>
          <a:p>
            <a:pPr marL="0" indent="0" algn="l">
              <a:lnSpc>
                <a:spcPct val="100000"/>
              </a:lnSpc>
              <a:buNone/>
            </a:pPr>
            <a:r>
              <a:rPr lang="en-US" sz="1300" dirty="0">
                <a:solidFill>
                  <a:schemeClr val="tx2"/>
                </a:solidFill>
                <a:latin typeface="Manrope" pitchFamily="34" charset="0"/>
                <a:ea typeface="Manrope" pitchFamily="34" charset="-122"/>
                <a:cs typeface="Manrope" pitchFamily="34" charset="-120"/>
              </a:rPr>
              <a:t>any other item, at its public position</a:t>
            </a:r>
            <a:endParaRPr lang="en-US" sz="1300" dirty="0"/>
          </a:p>
        </p:txBody>
      </p:sp>
      <p:sp>
        <p:nvSpPr>
          <p:cNvPr id="61" name="Text 59"/>
          <p:cNvSpPr txBox="1"/>
          <p:nvPr/>
        </p:nvSpPr>
        <p:spPr>
          <a:xfrm>
            <a:off x="548640" y="6007608"/>
            <a:ext cx="6309360" cy="274320"/>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Schematic. The real item space has 16 dimensions.</a:t>
            </a:r>
            <a:endParaRPr lang="en-US" sz="1050" dirty="0"/>
          </a:p>
        </p:txBody>
      </p:sp>
      <p:sp>
        <p:nvSpPr>
          <p:cNvPr id="62" name="Text 60"/>
          <p:cNvSpPr txBox="1"/>
          <p:nvPr/>
        </p:nvSpPr>
        <p:spPr>
          <a:xfrm>
            <a:off x="7269480" y="1600200"/>
            <a:ext cx="548640"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01</a:t>
            </a:r>
            <a:endParaRPr lang="en-US" sz="1200" dirty="0"/>
          </a:p>
        </p:txBody>
      </p:sp>
      <p:sp>
        <p:nvSpPr>
          <p:cNvPr id="63" name="Text 61"/>
          <p:cNvSpPr txBox="1"/>
          <p:nvPr/>
        </p:nvSpPr>
        <p:spPr>
          <a:xfrm>
            <a:off x="7818120" y="1563624"/>
            <a:ext cx="3822192" cy="1097280"/>
          </a:xfrm>
          <a:prstGeom prst="rect">
            <a:avLst/>
          </a:prstGeom>
          <a:noFill/>
          <a:ln/>
        </p:spPr>
        <p:txBody>
          <a:bodyPr wrap="square" lIns="0" tIns="0" rIns="0" bIns="0" rtlCol="0" anchor="t"/>
          <a:lstStyle/>
          <a:p>
            <a:pPr marL="0" indent="0" algn="l">
              <a:lnSpc>
                <a:spcPct val="108000"/>
              </a:lnSpc>
              <a:buNone/>
            </a:pPr>
            <a:r>
              <a:rPr lang="en-US" sz="1800" dirty="0">
                <a:solidFill>
                  <a:schemeClr val="tx1"/>
                </a:solidFill>
                <a:latin typeface="Manrope" pitchFamily="34" charset="0"/>
                <a:ea typeface="Manrope" pitchFamily="34" charset="-122"/>
                <a:cs typeface="Manrope" pitchFamily="34" charset="-120"/>
              </a:rPr>
              <a:t>B is public, so every item has a position everyone can see.</a:t>
            </a:r>
            <a:endParaRPr lang="en-US" sz="1800" dirty="0"/>
          </a:p>
        </p:txBody>
      </p:sp>
      <p:sp>
        <p:nvSpPr>
          <p:cNvPr id="64" name="Text 62"/>
          <p:cNvSpPr txBox="1"/>
          <p:nvPr/>
        </p:nvSpPr>
        <p:spPr>
          <a:xfrm>
            <a:off x="7269480" y="2971800"/>
            <a:ext cx="548640"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02</a:t>
            </a:r>
            <a:endParaRPr lang="en-US" sz="1200" dirty="0"/>
          </a:p>
        </p:txBody>
      </p:sp>
      <p:sp>
        <p:nvSpPr>
          <p:cNvPr id="65" name="Text 63"/>
          <p:cNvSpPr txBox="1"/>
          <p:nvPr/>
        </p:nvSpPr>
        <p:spPr>
          <a:xfrm>
            <a:off x="7818120" y="2935224"/>
            <a:ext cx="3822192" cy="1097280"/>
          </a:xfrm>
          <a:prstGeom prst="rect">
            <a:avLst/>
          </a:prstGeom>
          <a:noFill/>
          <a:ln/>
        </p:spPr>
        <p:txBody>
          <a:bodyPr wrap="square" lIns="0" tIns="0" rIns="0" bIns="0" rtlCol="0" anchor="t"/>
          <a:lstStyle/>
          <a:p>
            <a:pPr marL="0" indent="0" algn="l">
              <a:lnSpc>
                <a:spcPct val="108000"/>
              </a:lnSpc>
              <a:buNone/>
            </a:pPr>
            <a:r>
              <a:rPr lang="en-US" sz="1800" dirty="0">
                <a:solidFill>
                  <a:schemeClr val="tx1"/>
                </a:solidFill>
                <a:latin typeface="Manrope" pitchFamily="34" charset="0"/>
                <a:ea typeface="Manrope" pitchFamily="34" charset="-122"/>
                <a:cs typeface="Manrope" pitchFamily="34" charset="-120"/>
              </a:rPr>
              <a:t>Your recommendations are the items pointing most nearly the way your secret vector points.</a:t>
            </a:r>
            <a:endParaRPr lang="en-US" sz="1800" dirty="0"/>
          </a:p>
        </p:txBody>
      </p:sp>
      <p:sp>
        <p:nvSpPr>
          <p:cNvPr id="66" name="Text 64"/>
          <p:cNvSpPr txBox="1"/>
          <p:nvPr/>
        </p:nvSpPr>
        <p:spPr>
          <a:xfrm>
            <a:off x="7269480" y="4343400"/>
            <a:ext cx="548640"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03</a:t>
            </a:r>
            <a:endParaRPr lang="en-US" sz="1200" dirty="0"/>
          </a:p>
        </p:txBody>
      </p:sp>
      <p:sp>
        <p:nvSpPr>
          <p:cNvPr id="67" name="Text 65"/>
          <p:cNvSpPr txBox="1"/>
          <p:nvPr/>
        </p:nvSpPr>
        <p:spPr>
          <a:xfrm>
            <a:off x="7818120" y="4306824"/>
            <a:ext cx="3822192" cy="1097280"/>
          </a:xfrm>
          <a:prstGeom prst="rect">
            <a:avLst/>
          </a:prstGeom>
          <a:noFill/>
          <a:ln/>
        </p:spPr>
        <p:txBody>
          <a:bodyPr wrap="square" lIns="0" tIns="0" rIns="0" bIns="0" rtlCol="0" anchor="t"/>
          <a:lstStyle/>
          <a:p>
            <a:pPr marL="0" indent="0" algn="l">
              <a:lnSpc>
                <a:spcPct val="108000"/>
              </a:lnSpc>
              <a:buNone/>
            </a:pPr>
            <a:r>
              <a:rPr lang="en-US" sz="1800" dirty="0">
                <a:solidFill>
                  <a:schemeClr val="tx1"/>
                </a:solidFill>
                <a:latin typeface="Manrope" pitchFamily="34" charset="0"/>
                <a:ea typeface="Manrope" pitchFamily="34" charset="-122"/>
                <a:cs typeface="Manrope" pitchFamily="34" charset="-120"/>
              </a:rPr>
              <a:t>So each fetch an observer sees is a direction near yours, not one bit.</a:t>
            </a:r>
            <a:endParaRPr lang="en-US" sz="1800" dirty="0"/>
          </a:p>
        </p:txBody>
      </p:sp>
      <p:sp>
        <p:nvSpPr>
          <p:cNvPr id="68"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The attack</a:t>
            </a:r>
            <a:endParaRPr lang="en-US" sz="3400" dirty="0"/>
          </a:p>
        </p:txBody>
      </p:sp>
      <p:sp>
        <p:nvSpPr>
          <p:cNvPr id="3" name="figure panel"/>
          <p:cNvSpPr/>
          <p:nvPr/>
        </p:nvSpPr>
        <p:spPr>
          <a:xfrm>
            <a:off x="548640" y="1463040"/>
            <a:ext cx="8183880" cy="3431554"/>
          </a:xfrm>
          <a:prstGeom prst="roundRect">
            <a:avLst>
              <a:gd name="adj" fmla="val 4263"/>
            </a:avLst>
          </a:prstGeom>
          <a:solidFill>
            <a:schemeClr val="accent5"/>
          </a:solidFill>
          <a:ln/>
        </p:spPr>
      </p:sp>
      <p:pic>
        <p:nvPicPr>
          <p:cNvPr id="4" name="Image 0" descr="Attack cosine and next-20 overlap against observed fetches"/>
          <p:cNvPicPr>
            <a:picLocks noChangeAspect="1"/>
          </p:cNvPicPr>
          <p:nvPr/>
        </p:nvPicPr>
        <p:blipFill>
          <a:blip r:embed="rId3"/>
          <a:stretch>
            <a:fillRect/>
          </a:stretch>
        </p:blipFill>
        <p:spPr>
          <a:xfrm>
            <a:off x="658368" y="1572768"/>
            <a:ext cx="7964424" cy="3212098"/>
          </a:xfrm>
          <a:prstGeom prst="rect">
            <a:avLst/>
          </a:prstGeom>
        </p:spPr>
      </p:pic>
      <p:sp>
        <p:nvSpPr>
          <p:cNvPr id="5" name="data source"/>
          <p:cNvSpPr txBox="1"/>
          <p:nvPr/>
        </p:nvSpPr>
        <p:spPr>
          <a:xfrm>
            <a:off x="548640" y="4986034"/>
            <a:ext cx="818388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bench/results/leakage_attack.jsonl  ·  all 943 users  ·  F1</a:t>
            </a:r>
            <a:endParaRPr lang="en-US" sz="1050" dirty="0"/>
          </a:p>
        </p:txBody>
      </p:sp>
      <p:sp>
        <p:nvSpPr>
          <p:cNvPr id="6" name="stat value"/>
          <p:cNvSpPr txBox="1"/>
          <p:nvPr/>
        </p:nvSpPr>
        <p:spPr>
          <a:xfrm>
            <a:off x="9098280" y="1463040"/>
            <a:ext cx="256032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0.55</a:t>
            </a:r>
            <a:endParaRPr lang="en-US" sz="4000" dirty="0"/>
          </a:p>
        </p:txBody>
      </p:sp>
      <p:sp>
        <p:nvSpPr>
          <p:cNvPr id="7" name="stat label"/>
          <p:cNvSpPr txBox="1"/>
          <p:nvPr/>
        </p:nvSpPr>
        <p:spPr>
          <a:xfrm>
            <a:off x="9098280" y="2167128"/>
            <a:ext cx="256032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cosine with your true vector after one fetch</a:t>
            </a:r>
            <a:endParaRPr lang="en-US" sz="1400" dirty="0"/>
          </a:p>
        </p:txBody>
      </p:sp>
      <p:sp>
        <p:nvSpPr>
          <p:cNvPr id="8" name="stat value"/>
          <p:cNvSpPr txBox="1"/>
          <p:nvPr/>
        </p:nvSpPr>
        <p:spPr>
          <a:xfrm>
            <a:off x="9098280" y="2880360"/>
            <a:ext cx="2560320" cy="685800"/>
          </a:xfrm>
          <a:prstGeom prst="rect">
            <a:avLst/>
          </a:prstGeom>
          <a:noFill/>
          <a:ln/>
        </p:spPr>
        <p:txBody>
          <a:bodyPr wrap="square" lIns="0" tIns="0" rIns="0" bIns="0" rtlCol="0" anchor="t"/>
          <a:lstStyle/>
          <a:p>
            <a:pPr marL="0" indent="0" algn="l">
              <a:lnSpc>
                <a:spcPct val="100000"/>
              </a:lnSpc>
              <a:buNone/>
            </a:pPr>
            <a:r>
              <a:rPr lang="en-US" sz="4000" dirty="0">
                <a:solidFill>
                  <a:schemeClr val="accent1"/>
                </a:solidFill>
                <a:latin typeface="Manrope ExtraBold" pitchFamily="34" charset="0"/>
                <a:ea typeface="Manrope ExtraBold" pitchFamily="34" charset="-122"/>
                <a:cs typeface="Manrope ExtraBold" pitchFamily="34" charset="-120"/>
              </a:rPr>
              <a:t>0.84</a:t>
            </a:r>
            <a:endParaRPr lang="en-US" sz="4000" dirty="0"/>
          </a:p>
        </p:txBody>
      </p:sp>
      <p:sp>
        <p:nvSpPr>
          <p:cNvPr id="9" name="stat label"/>
          <p:cNvSpPr txBox="1"/>
          <p:nvPr/>
        </p:nvSpPr>
        <p:spPr>
          <a:xfrm>
            <a:off x="9098280" y="3584448"/>
            <a:ext cx="256032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after ten fetches</a:t>
            </a:r>
            <a:endParaRPr lang="en-US" sz="1400" dirty="0"/>
          </a:p>
        </p:txBody>
      </p:sp>
      <p:sp>
        <p:nvSpPr>
          <p:cNvPr id="10" name="stat value"/>
          <p:cNvSpPr txBox="1"/>
          <p:nvPr/>
        </p:nvSpPr>
        <p:spPr>
          <a:xfrm>
            <a:off x="9098280" y="4023360"/>
            <a:ext cx="256032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56%</a:t>
            </a:r>
            <a:endParaRPr lang="en-US" sz="4000" dirty="0"/>
          </a:p>
        </p:txBody>
      </p:sp>
      <p:sp>
        <p:nvSpPr>
          <p:cNvPr id="11" name="stat label"/>
          <p:cNvSpPr txBox="1"/>
          <p:nvPr/>
        </p:nvSpPr>
        <p:spPr>
          <a:xfrm>
            <a:off x="9098280" y="4727448"/>
            <a:ext cx="2560320" cy="822960"/>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of your next twenty recommendations, predicted from those ten</a:t>
            </a:r>
            <a:endParaRPr lang="en-US" sz="1400" dirty="0"/>
          </a:p>
        </p:txBody>
      </p:sp>
      <p:sp>
        <p:nvSpPr>
          <p:cNvPr id="12" name="Text 9"/>
          <p:cNvSpPr txBox="1"/>
          <p:nvPr/>
        </p:nvSpPr>
        <p:spPr>
          <a:xfrm>
            <a:off x="548640" y="5440680"/>
            <a:ext cx="8229600" cy="457200"/>
          </a:xfrm>
          <a:prstGeom prst="rect">
            <a:avLst/>
          </a:prstGeom>
          <a:noFill/>
          <a:ln/>
        </p:spPr>
        <p:txBody>
          <a:bodyPr wrap="square" lIns="0" tIns="0" rIns="0" bIns="0" rtlCol="0" anchor="t"/>
          <a:lstStyle/>
          <a:p>
            <a:pPr marL="0" indent="0" algn="l">
              <a:lnSpc>
                <a:spcPct val="100000"/>
              </a:lnSpc>
              <a:buNone/>
            </a:pPr>
            <a:r>
              <a:rPr lang="en-US" sz="1800" dirty="0">
                <a:solidFill>
                  <a:schemeClr val="tx1"/>
                </a:solidFill>
                <a:latin typeface="Manrope" pitchFamily="34" charset="0"/>
                <a:ea typeface="Manrope" pitchFamily="34" charset="-122"/>
                <a:cs typeface="Manrope" pitchFamily="34" charset="-120"/>
              </a:rPr>
              <a:t>The observer sees only which items you fetched. No ratings, no scores.</a:t>
            </a:r>
            <a:endParaRPr lang="en-US" sz="18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The control</a:t>
            </a:r>
            <a:endParaRPr lang="en-US" sz="3400" dirty="0"/>
          </a:p>
        </p:txBody>
      </p:sp>
      <p:sp>
        <p:nvSpPr>
          <p:cNvPr id="3" name="figure panel"/>
          <p:cNvSpPr/>
          <p:nvPr/>
        </p:nvSpPr>
        <p:spPr>
          <a:xfrm>
            <a:off x="548640" y="1463040"/>
            <a:ext cx="5074920" cy="4158719"/>
          </a:xfrm>
          <a:prstGeom prst="roundRect">
            <a:avLst>
              <a:gd name="adj" fmla="val 3518"/>
            </a:avLst>
          </a:prstGeom>
          <a:solidFill>
            <a:schemeClr val="accent5"/>
          </a:solidFill>
          <a:ln/>
        </p:spPr>
      </p:sp>
      <p:pic>
        <p:nvPicPr>
          <p:cNvPr id="4" name="Image 0" descr="Attack cosine with the popularity and random controls"/>
          <p:cNvPicPr>
            <a:picLocks noChangeAspect="1"/>
          </p:cNvPicPr>
          <p:nvPr/>
        </p:nvPicPr>
        <p:blipFill>
          <a:blip r:embed="rId3"/>
          <a:stretch>
            <a:fillRect/>
          </a:stretch>
        </p:blipFill>
        <p:spPr>
          <a:xfrm>
            <a:off x="658368" y="1572768"/>
            <a:ext cx="4855464" cy="3939263"/>
          </a:xfrm>
          <a:prstGeom prst="rect">
            <a:avLst/>
          </a:prstGeom>
        </p:spPr>
      </p:pic>
      <p:sp>
        <p:nvSpPr>
          <p:cNvPr id="5" name="data source"/>
          <p:cNvSpPr txBox="1"/>
          <p:nvPr/>
        </p:nvSpPr>
        <p:spPr>
          <a:xfrm>
            <a:off x="548640" y="5713199"/>
            <a:ext cx="507492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leakage_attack.jsonl  ·  F1, left panel</a:t>
            </a:r>
            <a:endParaRPr lang="en-US" sz="1050" dirty="0"/>
          </a:p>
        </p:txBody>
      </p:sp>
      <p:sp>
        <p:nvSpPr>
          <p:cNvPr id="6" name="stat value"/>
          <p:cNvSpPr txBox="1"/>
          <p:nvPr/>
        </p:nvSpPr>
        <p:spPr>
          <a:xfrm>
            <a:off x="6172200" y="1508760"/>
            <a:ext cx="251460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0.84</a:t>
            </a:r>
            <a:endParaRPr lang="en-US" sz="4000" dirty="0"/>
          </a:p>
        </p:txBody>
      </p:sp>
      <p:sp>
        <p:nvSpPr>
          <p:cNvPr id="7" name="stat label"/>
          <p:cNvSpPr txBox="1"/>
          <p:nvPr/>
        </p:nvSpPr>
        <p:spPr>
          <a:xfrm>
            <a:off x="6172200" y="2212848"/>
            <a:ext cx="251460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attack, ten fetches</a:t>
            </a:r>
            <a:endParaRPr lang="en-US" sz="1400" dirty="0"/>
          </a:p>
        </p:txBody>
      </p:sp>
      <p:sp>
        <p:nvSpPr>
          <p:cNvPr id="8" name="stat value"/>
          <p:cNvSpPr txBox="1"/>
          <p:nvPr/>
        </p:nvSpPr>
        <p:spPr>
          <a:xfrm>
            <a:off x="9006840" y="1508760"/>
            <a:ext cx="265176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0.44</a:t>
            </a:r>
            <a:endParaRPr lang="en-US" sz="4000" dirty="0"/>
          </a:p>
        </p:txBody>
      </p:sp>
      <p:sp>
        <p:nvSpPr>
          <p:cNvPr id="9" name="stat label"/>
          <p:cNvSpPr txBox="1"/>
          <p:nvPr/>
        </p:nvSpPr>
        <p:spPr>
          <a:xfrm>
            <a:off x="9006840" y="2212848"/>
            <a:ext cx="26517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same method on the ten most popular items, ignoring the user</a:t>
            </a:r>
            <a:endParaRPr lang="en-US" sz="1400" dirty="0"/>
          </a:p>
        </p:txBody>
      </p:sp>
      <p:sp>
        <p:nvSpPr>
          <p:cNvPr id="10" name="divider"/>
          <p:cNvSpPr/>
          <p:nvPr/>
        </p:nvSpPr>
        <p:spPr>
          <a:xfrm>
            <a:off x="6172200" y="3200400"/>
            <a:ext cx="5486400" cy="0"/>
          </a:xfrm>
          <a:prstGeom prst="line">
            <a:avLst/>
          </a:prstGeom>
          <a:noFill/>
          <a:ln w="12700">
            <a:solidFill>
              <a:schemeClr val="accent4"/>
            </a:solidFill>
            <a:prstDash val="solid"/>
          </a:ln>
        </p:spPr>
      </p:sp>
      <p:sp>
        <p:nvSpPr>
          <p:cNvPr id="11" name="stat value"/>
          <p:cNvSpPr txBox="1"/>
          <p:nvPr/>
        </p:nvSpPr>
        <p:spPr>
          <a:xfrm>
            <a:off x="6172200" y="3429000"/>
            <a:ext cx="5486400" cy="868680"/>
          </a:xfrm>
          <a:prstGeom prst="rect">
            <a:avLst/>
          </a:prstGeom>
          <a:noFill/>
          <a:ln/>
        </p:spPr>
        <p:txBody>
          <a:bodyPr wrap="square" lIns="0" tIns="0" rIns="0" bIns="0" rtlCol="0" anchor="t"/>
          <a:lstStyle/>
          <a:p>
            <a:pPr marL="0" indent="0" algn="l">
              <a:lnSpc>
                <a:spcPct val="100000"/>
              </a:lnSpc>
              <a:buNone/>
            </a:pPr>
            <a:r>
              <a:rPr lang="en-US" sz="5400" dirty="0">
                <a:solidFill>
                  <a:schemeClr val="accent1"/>
                </a:solidFill>
                <a:latin typeface="Manrope ExtraBold" pitchFamily="34" charset="0"/>
                <a:ea typeface="Manrope ExtraBold" pitchFamily="34" charset="-122"/>
                <a:cs typeface="Manrope ExtraBold" pitchFamily="34" charset="-120"/>
              </a:rPr>
              <a:t>0.40</a:t>
            </a:r>
            <a:endParaRPr lang="en-US" sz="5400" dirty="0"/>
          </a:p>
        </p:txBody>
      </p:sp>
      <p:sp>
        <p:nvSpPr>
          <p:cNvPr id="12" name="stat label"/>
          <p:cNvSpPr txBox="1"/>
          <p:nvPr/>
        </p:nvSpPr>
        <p:spPr>
          <a:xfrm>
            <a:off x="6172200" y="4315968"/>
            <a:ext cx="548640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margin: what is learned about you, not about what is popular</a:t>
            </a:r>
            <a:endParaRPr lang="en-US" sz="1400" dirty="0"/>
          </a:p>
        </p:txBody>
      </p:sp>
      <p:sp>
        <p:nvSpPr>
          <p:cNvPr id="13" name="Text 10"/>
          <p:cNvSpPr txBox="1"/>
          <p:nvPr/>
        </p:nvSpPr>
        <p:spPr>
          <a:xfrm>
            <a:off x="6172200" y="5029200"/>
            <a:ext cx="5486400" cy="731520"/>
          </a:xfrm>
          <a:prstGeom prst="rect">
            <a:avLst/>
          </a:prstGeom>
          <a:noFill/>
          <a:ln/>
        </p:spPr>
        <p:txBody>
          <a:bodyPr wrap="square" lIns="0" tIns="0" rIns="0" bIns="0" rtlCol="0" anchor="t"/>
          <a:lstStyle/>
          <a:p>
            <a:pPr marL="0" indent="0" algn="l">
              <a:lnSpc>
                <a:spcPct val="110000"/>
              </a:lnSpc>
              <a:buNone/>
            </a:pPr>
            <a:r>
              <a:rPr lang="en-US" sz="1500" dirty="0">
                <a:solidFill>
                  <a:schemeClr val="tx2"/>
                </a:solidFill>
                <a:latin typeface="Manrope" pitchFamily="34" charset="0"/>
                <a:ea typeface="Manrope" pitchFamily="34" charset="-122"/>
                <a:cs typeface="Manrope" pitchFamily="34" charset="-120"/>
              </a:rPr>
              <a:t>The margin is 0.28 after one fetch and 0.38 to 0.42 from two to fifty. A random direction scores 0.003.</a:t>
            </a:r>
            <a:endParaRPr lang="en-US" sz="15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Defence one: decoys</a:t>
            </a:r>
            <a:endParaRPr lang="en-US" sz="3400" dirty="0"/>
          </a:p>
        </p:txBody>
      </p:sp>
      <p:sp>
        <p:nvSpPr>
          <p:cNvPr id="3" name="figure panel"/>
          <p:cNvSpPr/>
          <p:nvPr/>
        </p:nvSpPr>
        <p:spPr>
          <a:xfrm>
            <a:off x="548640" y="1463040"/>
            <a:ext cx="8412480" cy="3463428"/>
          </a:xfrm>
          <a:prstGeom prst="roundRect">
            <a:avLst>
              <a:gd name="adj" fmla="val 4224"/>
            </a:avLst>
          </a:prstGeom>
          <a:solidFill>
            <a:schemeClr val="accent5"/>
          </a:solidFill>
          <a:ln/>
        </p:spPr>
      </p:sp>
      <p:pic>
        <p:nvPicPr>
          <p:cNvPr id="4" name="Image 0" descr="Attack cosine against decoys per query and bandwidth"/>
          <p:cNvPicPr>
            <a:picLocks noChangeAspect="1"/>
          </p:cNvPicPr>
          <p:nvPr/>
        </p:nvPicPr>
        <p:blipFill>
          <a:blip r:embed="rId3"/>
          <a:stretch>
            <a:fillRect/>
          </a:stretch>
        </p:blipFill>
        <p:spPr>
          <a:xfrm>
            <a:off x="658368" y="1572768"/>
            <a:ext cx="8193024" cy="3243972"/>
          </a:xfrm>
          <a:prstGeom prst="rect">
            <a:avLst/>
          </a:prstGeom>
        </p:spPr>
      </p:pic>
      <p:sp>
        <p:nvSpPr>
          <p:cNvPr id="5" name="data source"/>
          <p:cNvSpPr txBox="1"/>
          <p:nvPr/>
        </p:nvSpPr>
        <p:spPr>
          <a:xfrm>
            <a:off x="548640" y="5017908"/>
            <a:ext cx="841248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leakage_attack.jsonl  ·  popularity-weighted decoys, k = 10  ·  F6</a:t>
            </a:r>
            <a:endParaRPr lang="en-US" sz="1050" dirty="0"/>
          </a:p>
        </p:txBody>
      </p:sp>
      <p:sp>
        <p:nvSpPr>
          <p:cNvPr id="6" name="stat value"/>
          <p:cNvSpPr txBox="1"/>
          <p:nvPr/>
        </p:nvSpPr>
        <p:spPr>
          <a:xfrm>
            <a:off x="9326880" y="1463040"/>
            <a:ext cx="2331720" cy="548640"/>
          </a:xfrm>
          <a:prstGeom prst="rect">
            <a:avLst/>
          </a:prstGeom>
          <a:noFill/>
          <a:ln/>
        </p:spPr>
        <p:txBody>
          <a:bodyPr wrap="square" lIns="0" tIns="0" rIns="0" bIns="0" rtlCol="0" anchor="t"/>
          <a:lstStyle/>
          <a:p>
            <a:pPr marL="0" indent="0" algn="l">
              <a:lnSpc>
                <a:spcPct val="100000"/>
              </a:lnSpc>
              <a:buNone/>
            </a:pPr>
            <a:r>
              <a:rPr lang="en-US" sz="3000" dirty="0">
                <a:solidFill>
                  <a:schemeClr val="tx1"/>
                </a:solidFill>
                <a:latin typeface="Manrope ExtraBold" pitchFamily="34" charset="0"/>
                <a:ea typeface="Manrope ExtraBold" pitchFamily="34" charset="-122"/>
                <a:cs typeface="Manrope ExtraBold" pitchFamily="34" charset="-120"/>
              </a:rPr>
              <a:t>40 decoys</a:t>
            </a:r>
            <a:endParaRPr lang="en-US" sz="3000" dirty="0"/>
          </a:p>
        </p:txBody>
      </p:sp>
      <p:sp>
        <p:nvSpPr>
          <p:cNvPr id="7" name="stat label"/>
          <p:cNvSpPr txBox="1"/>
          <p:nvPr/>
        </p:nvSpPr>
        <p:spPr>
          <a:xfrm>
            <a:off x="9326880" y="2029968"/>
            <a:ext cx="233172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five times the real traffic</a:t>
            </a:r>
            <a:endParaRPr lang="en-US" sz="1400" dirty="0"/>
          </a:p>
        </p:txBody>
      </p:sp>
      <p:sp>
        <p:nvSpPr>
          <p:cNvPr id="8" name="stat value"/>
          <p:cNvSpPr txBox="1"/>
          <p:nvPr/>
        </p:nvSpPr>
        <p:spPr>
          <a:xfrm>
            <a:off x="9326880" y="2743200"/>
            <a:ext cx="2331720" cy="685800"/>
          </a:xfrm>
          <a:prstGeom prst="rect">
            <a:avLst/>
          </a:prstGeom>
          <a:noFill/>
          <a:ln/>
        </p:spPr>
        <p:txBody>
          <a:bodyPr wrap="square" lIns="0" tIns="0" rIns="0" bIns="0" rtlCol="0" anchor="t"/>
          <a:lstStyle/>
          <a:p>
            <a:pPr marL="0" indent="0" algn="l">
              <a:lnSpc>
                <a:spcPct val="100000"/>
              </a:lnSpc>
              <a:buNone/>
            </a:pPr>
            <a:r>
              <a:rPr lang="en-US" sz="4000" dirty="0">
                <a:solidFill>
                  <a:schemeClr val="accent1"/>
                </a:solidFill>
                <a:latin typeface="Manrope ExtraBold" pitchFamily="34" charset="0"/>
                <a:ea typeface="Manrope ExtraBold" pitchFamily="34" charset="-122"/>
                <a:cs typeface="Manrope ExtraBold" pitchFamily="34" charset="-120"/>
              </a:rPr>
              <a:t>0.71</a:t>
            </a:r>
            <a:endParaRPr lang="en-US" sz="4000" dirty="0"/>
          </a:p>
        </p:txBody>
      </p:sp>
      <p:sp>
        <p:nvSpPr>
          <p:cNvPr id="9" name="stat label"/>
          <p:cNvSpPr txBox="1"/>
          <p:nvPr/>
        </p:nvSpPr>
        <p:spPr>
          <a:xfrm>
            <a:off x="9326880" y="3447288"/>
            <a:ext cx="233172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attack after them, from 0.84</a:t>
            </a:r>
            <a:endParaRPr lang="en-US" sz="1400" dirty="0"/>
          </a:p>
        </p:txBody>
      </p:sp>
      <p:sp>
        <p:nvSpPr>
          <p:cNvPr id="10" name="stat value"/>
          <p:cNvSpPr txBox="1"/>
          <p:nvPr/>
        </p:nvSpPr>
        <p:spPr>
          <a:xfrm>
            <a:off x="9326880" y="4114800"/>
            <a:ext cx="233172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0.44</a:t>
            </a:r>
            <a:endParaRPr lang="en-US" sz="4000" dirty="0"/>
          </a:p>
        </p:txBody>
      </p:sp>
      <p:sp>
        <p:nvSpPr>
          <p:cNvPr id="11" name="stat label"/>
          <p:cNvSpPr txBox="1"/>
          <p:nvPr/>
        </p:nvSpPr>
        <p:spPr>
          <a:xfrm>
            <a:off x="9326880" y="4818888"/>
            <a:ext cx="233172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floor a working defence must reach</a:t>
            </a:r>
            <a:endParaRPr lang="en-US" sz="1400" dirty="0"/>
          </a:p>
        </p:txBody>
      </p:sp>
      <p:sp>
        <p:nvSpPr>
          <p:cNvPr id="12" name="Text 9"/>
          <p:cNvSpPr txBox="1"/>
          <p:nvPr/>
        </p:nvSpPr>
        <p:spPr>
          <a:xfrm>
            <a:off x="548640" y="5440680"/>
            <a:ext cx="8412480" cy="457200"/>
          </a:xfrm>
          <a:prstGeom prst="rect">
            <a:avLst/>
          </a:prstGeom>
          <a:noFill/>
          <a:ln/>
        </p:spPr>
        <p:txBody>
          <a:bodyPr wrap="square" lIns="0" tIns="0" rIns="0" bIns="0" rtlCol="0" anchor="t"/>
          <a:lstStyle/>
          <a:p>
            <a:pPr marL="0" indent="0" algn="l">
              <a:lnSpc>
                <a:spcPct val="100000"/>
              </a:lnSpc>
              <a:buNone/>
            </a:pPr>
            <a:r>
              <a:rPr lang="en-US" sz="1800" dirty="0">
                <a:solidFill>
                  <a:schemeClr val="tx1"/>
                </a:solidFill>
                <a:latin typeface="Manrope" pitchFamily="34" charset="0"/>
                <a:ea typeface="Manrope" pitchFamily="34" charset="-122"/>
                <a:cs typeface="Manrope" pitchFamily="34" charset="-120"/>
              </a:rPr>
              <a:t>Popular decoys pull the estimate toward what is popular, which the control already knew.</a:t>
            </a:r>
            <a:endParaRPr lang="en-US" sz="18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Defence two: differential privacy</a:t>
            </a:r>
            <a:endParaRPr lang="en-US" sz="3400" dirty="0"/>
          </a:p>
        </p:txBody>
      </p:sp>
      <p:sp>
        <p:nvSpPr>
          <p:cNvPr id="3" name="mechanism panel"/>
          <p:cNvSpPr/>
          <p:nvPr/>
        </p:nvSpPr>
        <p:spPr>
          <a:xfrm>
            <a:off x="548640" y="1463040"/>
            <a:ext cx="6583680" cy="1965960"/>
          </a:xfrm>
          <a:prstGeom prst="roundRect">
            <a:avLst>
              <a:gd name="adj" fmla="val 7442"/>
            </a:avLst>
          </a:prstGeom>
          <a:solidFill>
            <a:schemeClr val="bg2"/>
          </a:solidFill>
          <a:ln/>
        </p:spPr>
      </p:sp>
      <p:sp>
        <p:nvSpPr>
          <p:cNvPr id="4" name="Text 2"/>
          <p:cNvSpPr txBox="1"/>
          <p:nvPr/>
        </p:nvSpPr>
        <p:spPr>
          <a:xfrm>
            <a:off x="822960" y="1691640"/>
            <a:ext cx="6035040" cy="731520"/>
          </a:xfrm>
          <a:prstGeom prst="rect">
            <a:avLst/>
          </a:prstGeom>
          <a:noFill/>
          <a:ln/>
        </p:spPr>
        <p:txBody>
          <a:bodyPr wrap="square" lIns="0" tIns="0" rIns="0" bIns="0" rtlCol="0" anchor="t"/>
          <a:lstStyle/>
          <a:p>
            <a:pPr marL="0" indent="0" algn="l">
              <a:lnSpc>
                <a:spcPct val="100000"/>
              </a:lnSpc>
              <a:buNone/>
            </a:pPr>
            <a:r>
              <a:rPr lang="en-US" sz="3600" dirty="0">
                <a:solidFill>
                  <a:schemeClr val="tx1"/>
                </a:solidFill>
                <a:latin typeface="Manrope ExtraBold" pitchFamily="34" charset="0"/>
                <a:ea typeface="Manrope ExtraBold" pitchFamily="34" charset="-122"/>
                <a:cs typeface="Manrope ExtraBold" pitchFamily="34" charset="-120"/>
              </a:rPr>
              <a:t>v ← (U</a:t>
            </a:r>
            <a:r>
              <a:rPr lang="en-US" sz="3600" baseline="30000" dirty="0">
                <a:solidFill>
                  <a:schemeClr val="tx1"/>
                </a:solidFill>
                <a:latin typeface="Manrope ExtraBold" pitchFamily="34" charset="0"/>
                <a:ea typeface="Manrope ExtraBold" pitchFamily="34" charset="-122"/>
                <a:cs typeface="Manrope ExtraBold" pitchFamily="34" charset="-120"/>
              </a:rPr>
              <a:t>T</a:t>
            </a:r>
            <a:r>
              <a:rPr lang="en-US" sz="3600" dirty="0">
                <a:solidFill>
                  <a:schemeClr val="tx1"/>
                </a:solidFill>
                <a:latin typeface="Manrope ExtraBold" pitchFamily="34" charset="0"/>
                <a:ea typeface="Manrope ExtraBold" pitchFamily="34" charset="-122"/>
                <a:cs typeface="Manrope ExtraBold" pitchFamily="34" charset="-120"/>
              </a:rPr>
              <a:t>U + </a:t>
            </a:r>
            <a:r>
              <a:rPr lang="en-US" sz="3600" dirty="0">
                <a:solidFill>
                  <a:schemeClr val="accent1"/>
                </a:solidFill>
                <a:latin typeface="Manrope ExtraBold" pitchFamily="34" charset="0"/>
                <a:ea typeface="Manrope ExtraBold" pitchFamily="34" charset="-122"/>
                <a:cs typeface="Manrope ExtraBold" pitchFamily="34" charset="-120"/>
              </a:rPr>
              <a:t>E</a:t>
            </a:r>
            <a:r>
              <a:rPr lang="en-US" sz="3600" dirty="0">
                <a:solidFill>
                  <a:schemeClr val="tx1"/>
                </a:solidFill>
                <a:latin typeface="Manrope ExtraBold" pitchFamily="34" charset="0"/>
                <a:ea typeface="Manrope ExtraBold" pitchFamily="34" charset="-122"/>
                <a:cs typeface="Manrope ExtraBold" pitchFamily="34" charset="-120"/>
              </a:rPr>
              <a:t>) v</a:t>
            </a:r>
            <a:endParaRPr lang="en-US" sz="3600" dirty="0"/>
          </a:p>
        </p:txBody>
      </p:sp>
      <p:sp>
        <p:nvSpPr>
          <p:cNvPr id="5" name="Text 3"/>
          <p:cNvSpPr txBox="1"/>
          <p:nvPr/>
        </p:nvSpPr>
        <p:spPr>
          <a:xfrm>
            <a:off x="822960" y="2468880"/>
            <a:ext cx="6035040" cy="868680"/>
          </a:xfrm>
          <a:prstGeom prst="rect">
            <a:avLst/>
          </a:prstGeom>
          <a:noFill/>
          <a:ln/>
        </p:spPr>
        <p:txBody>
          <a:bodyPr wrap="square" lIns="0" tIns="0" rIns="0" bIns="0" rtlCol="0" anchor="t"/>
          <a:lstStyle/>
          <a:p>
            <a:pPr marL="0" indent="0" algn="l">
              <a:lnSpc>
                <a:spcPct val="110000"/>
              </a:lnSpc>
              <a:buNone/>
            </a:pPr>
            <a:r>
              <a:rPr lang="en-US" sz="1400" dirty="0">
                <a:solidFill>
                  <a:schemeClr val="tx2"/>
                </a:solidFill>
                <a:latin typeface="Manrope" pitchFamily="34" charset="0"/>
                <a:ea typeface="Manrope" pitchFamily="34" charset="-122"/>
                <a:cs typeface="Manrope" pitchFamily="34" charset="-120"/>
              </a:rPr>
              <a:t>Nudge, section 9: power iteration on the Gram matrix plus symmetric Gaussian noise E, shared once through PRF keys, so it costs no communication.</a:t>
            </a:r>
            <a:endParaRPr lang="en-US" sz="1400" dirty="0"/>
          </a:p>
        </p:txBody>
      </p:sp>
      <p:sp>
        <p:nvSpPr>
          <p:cNvPr id="6" name="noise scale panel"/>
          <p:cNvSpPr/>
          <p:nvPr/>
        </p:nvSpPr>
        <p:spPr>
          <a:xfrm>
            <a:off x="7498080" y="1463040"/>
            <a:ext cx="4142232" cy="1965960"/>
          </a:xfrm>
          <a:prstGeom prst="roundRect">
            <a:avLst>
              <a:gd name="adj" fmla="val 7442"/>
            </a:avLst>
          </a:prstGeom>
          <a:solidFill>
            <a:schemeClr val="bg2"/>
          </a:solidFill>
          <a:ln/>
        </p:spPr>
      </p:sp>
      <p:sp>
        <p:nvSpPr>
          <p:cNvPr id="7" name="Text 5"/>
          <p:cNvSpPr txBox="1"/>
          <p:nvPr/>
        </p:nvSpPr>
        <p:spPr>
          <a:xfrm>
            <a:off x="7726680" y="1691640"/>
            <a:ext cx="3749040" cy="502920"/>
          </a:xfrm>
          <a:prstGeom prst="rect">
            <a:avLst/>
          </a:prstGeom>
          <a:noFill/>
          <a:ln/>
        </p:spPr>
        <p:txBody>
          <a:bodyPr wrap="square" lIns="0" tIns="0" rIns="0" bIns="0" rtlCol="0" anchor="t"/>
          <a:lstStyle/>
          <a:p>
            <a:pPr marL="0" indent="0" algn="l">
              <a:lnSpc>
                <a:spcPct val="100000"/>
              </a:lnSpc>
              <a:buNone/>
            </a:pPr>
            <a:r>
              <a:rPr lang="en-US" sz="2100" dirty="0">
                <a:solidFill>
                  <a:schemeClr val="tx1"/>
                </a:solidFill>
                <a:latin typeface="Manrope ExtraBold" pitchFamily="34" charset="0"/>
                <a:ea typeface="Manrope ExtraBold" pitchFamily="34" charset="-122"/>
                <a:cs typeface="Manrope ExtraBold" pitchFamily="34" charset="-120"/>
              </a:rPr>
              <a:t>σ = √(2 ln(1.25 / δ)) / ε</a:t>
            </a:r>
            <a:endParaRPr lang="en-US" sz="2100" dirty="0"/>
          </a:p>
        </p:txBody>
      </p:sp>
      <p:sp>
        <p:nvSpPr>
          <p:cNvPr id="8" name="Text 6"/>
          <p:cNvSpPr txBox="1"/>
          <p:nvPr/>
        </p:nvSpPr>
        <p:spPr>
          <a:xfrm>
            <a:off x="7726680" y="2286000"/>
            <a:ext cx="3749040" cy="1051560"/>
          </a:xfrm>
          <a:prstGeom prst="rect">
            <a:avLst/>
          </a:prstGeom>
          <a:noFill/>
          <a:ln/>
        </p:spPr>
        <p:txBody>
          <a:bodyPr wrap="square" lIns="0" tIns="0" rIns="0" bIns="0" rtlCol="0" anchor="t"/>
          <a:lstStyle/>
          <a:p>
            <a:pPr marL="0" indent="0" algn="l">
              <a:lnSpc>
                <a:spcPct val="108000"/>
              </a:lnSpc>
              <a:buNone/>
            </a:pPr>
            <a:r>
              <a:rPr lang="en-US" sz="1300" dirty="0">
                <a:solidFill>
                  <a:schemeClr val="tx2"/>
                </a:solidFill>
                <a:latin typeface="Manrope" pitchFamily="34" charset="0"/>
                <a:ea typeface="Manrope" pitchFamily="34" charset="-122"/>
                <a:cs typeface="Manrope" pitchFamily="34" charset="-120"/>
              </a:rPr>
              <a:t>δ = 2</a:t>
            </a:r>
            <a:r>
              <a:rPr lang="en-US" sz="1300" baseline="30000" dirty="0">
                <a:solidFill>
                  <a:schemeClr val="tx2"/>
                </a:solidFill>
                <a:latin typeface="Manrope" pitchFamily="34" charset="0"/>
                <a:ea typeface="Manrope" pitchFamily="34" charset="-122"/>
                <a:cs typeface="Manrope" pitchFamily="34" charset="-120"/>
              </a:rPr>
              <a:t>−40</a:t>
            </a:r>
            <a:r>
              <a:rPr lang="en-US" sz="1300" dirty="0">
                <a:solidFill>
                  <a:schemeClr val="tx2"/>
                </a:solidFill>
                <a:latin typeface="Manrope" pitchFamily="34" charset="0"/>
                <a:ea typeface="Manrope" pitchFamily="34" charset="-122"/>
                <a:cs typeface="Manrope" pitchFamily="34" charset="-120"/>
              </a:rPr>
              <a:t> as in Nudge. The paper does not state the scale, so it comes from Analyze Gauss, the result it cites (Dwork, Talwar, Thakurta, Zhang, STOC 2014).</a:t>
            </a:r>
            <a:endParaRPr lang="en-US" sz="1300" dirty="0"/>
          </a:p>
        </p:txBody>
      </p:sp>
      <p:sp>
        <p:nvSpPr>
          <p:cNvPr id="9" name="Text 7"/>
          <p:cNvSpPr txBox="1"/>
          <p:nvPr/>
        </p:nvSpPr>
        <p:spPr>
          <a:xfrm>
            <a:off x="548640" y="3794760"/>
            <a:ext cx="365760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ONE DELIBERATE CHANGE</a:t>
            </a:r>
            <a:endParaRPr lang="en-US" sz="1100" dirty="0"/>
          </a:p>
        </p:txBody>
      </p:sp>
      <p:sp>
        <p:nvSpPr>
          <p:cNvPr id="10" name="Text 8"/>
          <p:cNvSpPr txBox="1"/>
          <p:nvPr/>
        </p:nvSpPr>
        <p:spPr>
          <a:xfrm>
            <a:off x="548640" y="4114800"/>
            <a:ext cx="6583680" cy="1463040"/>
          </a:xfrm>
          <a:prstGeom prst="rect">
            <a:avLst/>
          </a:prstGeom>
          <a:noFill/>
          <a:ln/>
        </p:spPr>
        <p:txBody>
          <a:bodyPr wrap="square" lIns="0" tIns="0" rIns="0" bIns="0" rtlCol="0" anchor="t"/>
          <a:lstStyle/>
          <a:p>
            <a:pPr marL="0" indent="0" algn="l">
              <a:lnSpc>
                <a:spcPct val="110000"/>
              </a:lnSpc>
              <a:buNone/>
            </a:pPr>
            <a:r>
              <a:rPr lang="en-US" sz="1600" dirty="0">
                <a:solidFill>
                  <a:schemeClr val="tx1"/>
                </a:solidFill>
                <a:latin typeface="Manrope" pitchFamily="34" charset="0"/>
                <a:ea typeface="Manrope" pitchFamily="34" charset="-122"/>
                <a:cs typeface="Manrope" pitchFamily="34" charset="-120"/>
              </a:rPr>
              <a:t>Nudge divides each user’s row by the number of ratings. That bounds a row’s norm by 5 / √c, which is above one for anyone with fewer than 25 ratings. We normalise rows to unit length instead, which makes the bound exact, and report both versions.</a:t>
            </a:r>
            <a:endParaRPr lang="en-US" sz="1600" dirty="0"/>
          </a:p>
        </p:txBody>
      </p:sp>
      <p:sp>
        <p:nvSpPr>
          <p:cNvPr id="11" name="stat value"/>
          <p:cNvSpPr txBox="1"/>
          <p:nvPr/>
        </p:nvSpPr>
        <p:spPr>
          <a:xfrm>
            <a:off x="7498080" y="3977640"/>
            <a:ext cx="4142232" cy="685800"/>
          </a:xfrm>
          <a:prstGeom prst="rect">
            <a:avLst/>
          </a:prstGeom>
          <a:noFill/>
          <a:ln/>
        </p:spPr>
        <p:txBody>
          <a:bodyPr wrap="square" lIns="0" tIns="0" rIns="0" bIns="0" rtlCol="0" anchor="t"/>
          <a:lstStyle/>
          <a:p>
            <a:pPr marL="0" indent="0" algn="l">
              <a:lnSpc>
                <a:spcPct val="100000"/>
              </a:lnSpc>
              <a:buNone/>
            </a:pPr>
            <a:r>
              <a:rPr lang="en-US" sz="4000" dirty="0">
                <a:solidFill>
                  <a:schemeClr val="accent1"/>
                </a:solidFill>
                <a:latin typeface="Manrope ExtraBold" pitchFamily="34" charset="0"/>
                <a:ea typeface="Manrope ExtraBold" pitchFamily="34" charset="-122"/>
                <a:cs typeface="Manrope ExtraBold" pitchFamily="34" charset="-120"/>
              </a:rPr>
              <a:t>200 of 943</a:t>
            </a:r>
            <a:endParaRPr lang="en-US" sz="4000" dirty="0"/>
          </a:p>
        </p:txBody>
      </p:sp>
      <p:sp>
        <p:nvSpPr>
          <p:cNvPr id="12" name="stat label"/>
          <p:cNvSpPr txBox="1"/>
          <p:nvPr/>
        </p:nvSpPr>
        <p:spPr>
          <a:xfrm>
            <a:off x="7498080" y="4681728"/>
            <a:ext cx="4142232"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users in our training split have fewer than 25 ratings</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Why it fails</a:t>
            </a:r>
            <a:endParaRPr lang="en-US" sz="3400" dirty="0"/>
          </a:p>
        </p:txBody>
      </p:sp>
      <p:sp>
        <p:nvSpPr>
          <p:cNvPr id="3" name="figure panel"/>
          <p:cNvSpPr/>
          <p:nvPr/>
        </p:nvSpPr>
        <p:spPr>
          <a:xfrm>
            <a:off x="548640" y="1463040"/>
            <a:ext cx="5120640" cy="4449668"/>
          </a:xfrm>
          <a:prstGeom prst="roundRect">
            <a:avLst>
              <a:gd name="adj" fmla="val 3288"/>
            </a:avLst>
          </a:prstGeom>
          <a:solidFill>
            <a:schemeClr val="accent5"/>
          </a:solidFill>
          <a:ln/>
        </p:spPr>
      </p:sp>
      <p:pic>
        <p:nvPicPr>
          <p:cNvPr id="4" name="Image 0" descr="Attack strength against utility for DP and decoys"/>
          <p:cNvPicPr>
            <a:picLocks noChangeAspect="1"/>
          </p:cNvPicPr>
          <p:nvPr/>
        </p:nvPicPr>
        <p:blipFill>
          <a:blip r:embed="rId3"/>
          <a:stretch>
            <a:fillRect/>
          </a:stretch>
        </p:blipFill>
        <p:spPr>
          <a:xfrm>
            <a:off x="658368" y="1572768"/>
            <a:ext cx="4901184" cy="4230212"/>
          </a:xfrm>
          <a:prstGeom prst="rect">
            <a:avLst/>
          </a:prstGeom>
        </p:spPr>
      </p:pic>
      <p:sp>
        <p:nvSpPr>
          <p:cNvPr id="5" name="data source"/>
          <p:cNvSpPr txBox="1"/>
          <p:nvPr/>
        </p:nvSpPr>
        <p:spPr>
          <a:xfrm>
            <a:off x="548640" y="6004148"/>
            <a:ext cx="512064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dp_study.jsonl  ·  </a:t>
            </a:r>
            <a:r>
              <a:rPr lang="en-US" sz="1050" dirty="0">
                <a:solidFill>
                  <a:schemeClr val="tx2"/>
                </a:solidFill>
                <a:latin typeface="Cambria Math" pitchFamily="34" charset="0"/>
                <a:ea typeface="Cambria Math" pitchFamily="34" charset="-122"/>
                <a:cs typeface="Cambria Math" pitchFamily="34" charset="-120"/>
              </a:rPr>
              <a:t>ε</a:t>
            </a:r>
            <a:r>
              <a:rPr lang="en-US" sz="1050" dirty="0">
                <a:solidFill>
                  <a:schemeClr val="tx2"/>
                </a:solidFill>
                <a:latin typeface="IBM Plex Mono" pitchFamily="34" charset="0"/>
                <a:ea typeface="IBM Plex Mono" pitchFamily="34" charset="-122"/>
                <a:cs typeface="IBM Plex Mono" pitchFamily="34" charset="-120"/>
              </a:rPr>
              <a:t> = 1, </a:t>
            </a:r>
            <a:r>
              <a:rPr lang="en-US" sz="1050" dirty="0">
                <a:solidFill>
                  <a:schemeClr val="tx2"/>
                </a:solidFill>
                <a:latin typeface="Cambria Math" pitchFamily="34" charset="0"/>
                <a:ea typeface="Cambria Math" pitchFamily="34" charset="-122"/>
                <a:cs typeface="Cambria Math" pitchFamily="34" charset="-120"/>
              </a:rPr>
              <a:t>δ</a:t>
            </a:r>
            <a:r>
              <a:rPr lang="en-US" sz="1050" dirty="0">
                <a:solidFill>
                  <a:schemeClr val="tx2"/>
                </a:solidFill>
                <a:latin typeface="IBM Plex Mono" pitchFamily="34" charset="0"/>
                <a:ea typeface="IBM Plex Mono" pitchFamily="34" charset="-122"/>
                <a:cs typeface="IBM Plex Mono" pitchFamily="34" charset="-120"/>
              </a:rPr>
              <a:t> = 2^-40  ·  F10, left</a:t>
            </a:r>
            <a:endParaRPr lang="en-US" sz="1050" dirty="0"/>
          </a:p>
        </p:txBody>
      </p:sp>
      <p:sp>
        <p:nvSpPr>
          <p:cNvPr id="6" name="stat value"/>
          <p:cNvSpPr txBox="1"/>
          <p:nvPr/>
        </p:nvSpPr>
        <p:spPr>
          <a:xfrm>
            <a:off x="6217920" y="1508760"/>
            <a:ext cx="5394960" cy="731520"/>
          </a:xfrm>
          <a:prstGeom prst="rect">
            <a:avLst/>
          </a:prstGeom>
          <a:noFill/>
          <a:ln/>
        </p:spPr>
        <p:txBody>
          <a:bodyPr wrap="square" lIns="0" tIns="0" rIns="0" bIns="0" rtlCol="0" anchor="t"/>
          <a:lstStyle/>
          <a:p>
            <a:pPr marL="0" indent="0" algn="l">
              <a:lnSpc>
                <a:spcPct val="100000"/>
              </a:lnSpc>
              <a:buNone/>
            </a:pPr>
            <a:r>
              <a:rPr lang="en-US" sz="4600" dirty="0">
                <a:solidFill>
                  <a:schemeClr val="tx1"/>
                </a:solidFill>
                <a:latin typeface="Manrope ExtraBold" pitchFamily="34" charset="0"/>
                <a:ea typeface="Manrope ExtraBold" pitchFamily="34" charset="-122"/>
                <a:cs typeface="Manrope ExtraBold" pitchFamily="34" charset="-120"/>
              </a:rPr>
              <a:t>−71%</a:t>
            </a:r>
            <a:endParaRPr lang="en-US" sz="4600" dirty="0"/>
          </a:p>
        </p:txBody>
      </p:sp>
      <p:sp>
        <p:nvSpPr>
          <p:cNvPr id="7" name="stat label"/>
          <p:cNvSpPr txBox="1"/>
          <p:nvPr/>
        </p:nvSpPr>
        <p:spPr>
          <a:xfrm>
            <a:off x="6217920" y="2258568"/>
            <a:ext cx="53949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recommendation quality at ε = 1: nDCG@20 from 0.4255 to 0.1239</a:t>
            </a:r>
            <a:endParaRPr lang="en-US" sz="1400" dirty="0"/>
          </a:p>
        </p:txBody>
      </p:sp>
      <p:sp>
        <p:nvSpPr>
          <p:cNvPr id="8" name="stat value"/>
          <p:cNvSpPr txBox="1"/>
          <p:nvPr/>
        </p:nvSpPr>
        <p:spPr>
          <a:xfrm>
            <a:off x="6217920" y="3017520"/>
            <a:ext cx="5394960" cy="731520"/>
          </a:xfrm>
          <a:prstGeom prst="rect">
            <a:avLst/>
          </a:prstGeom>
          <a:noFill/>
          <a:ln/>
        </p:spPr>
        <p:txBody>
          <a:bodyPr wrap="square" lIns="0" tIns="0" rIns="0" bIns="0" rtlCol="0" anchor="t"/>
          <a:lstStyle/>
          <a:p>
            <a:pPr marL="0" indent="0" algn="l">
              <a:lnSpc>
                <a:spcPct val="100000"/>
              </a:lnSpc>
              <a:buNone/>
            </a:pPr>
            <a:r>
              <a:rPr lang="en-US" sz="4600" dirty="0">
                <a:solidFill>
                  <a:schemeClr val="accent1"/>
                </a:solidFill>
                <a:latin typeface="Manrope ExtraBold" pitchFamily="34" charset="0"/>
                <a:ea typeface="Manrope ExtraBold" pitchFamily="34" charset="-122"/>
                <a:cs typeface="Manrope ExtraBold" pitchFamily="34" charset="-120"/>
              </a:rPr>
              <a:t>0.82 → 0.92</a:t>
            </a:r>
            <a:endParaRPr lang="en-US" sz="4600" dirty="0"/>
          </a:p>
        </p:txBody>
      </p:sp>
      <p:sp>
        <p:nvSpPr>
          <p:cNvPr id="9" name="stat label"/>
          <p:cNvSpPr txBox="1"/>
          <p:nvPr/>
        </p:nvSpPr>
        <p:spPr>
          <a:xfrm>
            <a:off x="6217920" y="3767328"/>
            <a:ext cx="53949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attack gets stronger, not weaker</a:t>
            </a:r>
            <a:endParaRPr lang="en-US" sz="1400" dirty="0"/>
          </a:p>
        </p:txBody>
      </p:sp>
      <p:sp>
        <p:nvSpPr>
          <p:cNvPr id="10" name="divider"/>
          <p:cNvSpPr/>
          <p:nvPr/>
        </p:nvSpPr>
        <p:spPr>
          <a:xfrm>
            <a:off x="6217920" y="4480560"/>
            <a:ext cx="5422392" cy="0"/>
          </a:xfrm>
          <a:prstGeom prst="line">
            <a:avLst/>
          </a:prstGeom>
          <a:noFill/>
          <a:ln w="12700">
            <a:solidFill>
              <a:schemeClr val="accent4"/>
            </a:solidFill>
            <a:prstDash val="solid"/>
          </a:ln>
        </p:spPr>
      </p:sp>
      <p:sp>
        <p:nvSpPr>
          <p:cNvPr id="11" name="Text 8"/>
          <p:cNvSpPr txBox="1"/>
          <p:nvPr/>
        </p:nvSpPr>
        <p:spPr>
          <a:xfrm>
            <a:off x="6217920" y="4663440"/>
            <a:ext cx="5422392" cy="1280160"/>
          </a:xfrm>
          <a:prstGeom prst="rect">
            <a:avLst/>
          </a:prstGeom>
          <a:noFill/>
          <a:ln/>
        </p:spPr>
        <p:txBody>
          <a:bodyPr wrap="square" lIns="0" tIns="0" rIns="0" bIns="0" rtlCol="0" anchor="t"/>
          <a:lstStyle/>
          <a:p>
            <a:pPr marL="0" indent="0" algn="l">
              <a:lnSpc>
                <a:spcPct val="110000"/>
              </a:lnSpc>
              <a:buNone/>
            </a:pPr>
            <a:r>
              <a:rPr lang="en-US" sz="1600" dirty="0">
                <a:solidFill>
                  <a:schemeClr val="tx1"/>
                </a:solidFill>
                <a:latin typeface="Manrope" pitchFamily="34" charset="0"/>
                <a:ea typeface="Manrope" pitchFamily="34" charset="-122"/>
                <a:cs typeface="Manrope" pitchFamily="34" charset="-120"/>
              </a:rPr>
              <a:t>Differential privacy bounds what B reveals about other people’s ratings. The attack uses B as a known map, and you and the observer share the same noisy B.</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Why we lose 71% and Nudge loses 17%</a:t>
            </a:r>
            <a:endParaRPr lang="en-US" sz="3400" dirty="0"/>
          </a:p>
        </p:txBody>
      </p:sp>
      <p:sp>
        <p:nvSpPr>
          <p:cNvPr id="3" name="figure panel"/>
          <p:cNvSpPr/>
          <p:nvPr/>
        </p:nvSpPr>
        <p:spPr>
          <a:xfrm>
            <a:off x="548640" y="1463040"/>
            <a:ext cx="5029200" cy="4464258"/>
          </a:xfrm>
          <a:prstGeom prst="roundRect">
            <a:avLst>
              <a:gd name="adj" fmla="val 3277"/>
            </a:avLst>
          </a:prstGeom>
          <a:solidFill>
            <a:schemeClr val="accent5"/>
          </a:solidFill>
          <a:ln/>
        </p:spPr>
      </p:sp>
      <p:pic>
        <p:nvPicPr>
          <p:cNvPr id="4" name="Image 0" descr="Spectral signal to noise against epsilon, ML-100K and Netflix scaling"/>
          <p:cNvPicPr>
            <a:picLocks noChangeAspect="1"/>
          </p:cNvPicPr>
          <p:nvPr/>
        </p:nvPicPr>
        <p:blipFill>
          <a:blip r:embed="rId3"/>
          <a:stretch>
            <a:fillRect/>
          </a:stretch>
        </p:blipFill>
        <p:spPr>
          <a:xfrm>
            <a:off x="658368" y="1572768"/>
            <a:ext cx="4809744" cy="4244802"/>
          </a:xfrm>
          <a:prstGeom prst="rect">
            <a:avLst/>
          </a:prstGeom>
        </p:spPr>
      </p:pic>
      <p:sp>
        <p:nvSpPr>
          <p:cNvPr id="5" name="data source"/>
          <p:cNvSpPr txBox="1"/>
          <p:nvPr/>
        </p:nvSpPr>
        <p:spPr>
          <a:xfrm>
            <a:off x="548640" y="6018738"/>
            <a:ext cx="502920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dp_study.jsonl  ·  F10, right</a:t>
            </a:r>
            <a:endParaRPr lang="en-US" sz="1050" dirty="0"/>
          </a:p>
        </p:txBody>
      </p:sp>
      <p:sp>
        <p:nvSpPr>
          <p:cNvPr id="6" name="Text 3"/>
          <p:cNvSpPr txBox="1"/>
          <p:nvPr/>
        </p:nvSpPr>
        <p:spPr>
          <a:xfrm>
            <a:off x="6126480" y="1508760"/>
            <a:ext cx="5486400" cy="777240"/>
          </a:xfrm>
          <a:prstGeom prst="rect">
            <a:avLst/>
          </a:prstGeom>
          <a:noFill/>
          <a:ln/>
        </p:spPr>
        <p:txBody>
          <a:bodyPr wrap="square" lIns="0" tIns="0" rIns="0" bIns="0" rtlCol="0" anchor="t"/>
          <a:lstStyle/>
          <a:p>
            <a:pPr marL="0" indent="0" algn="l">
              <a:lnSpc>
                <a:spcPct val="115000"/>
              </a:lnSpc>
              <a:buNone/>
            </a:pPr>
            <a:r>
              <a:rPr lang="en-US" sz="1600" dirty="0">
                <a:solidFill>
                  <a:schemeClr val="tx2"/>
                </a:solidFill>
                <a:latin typeface="Manrope" pitchFamily="34" charset="0"/>
                <a:ea typeface="Manrope" pitchFamily="34" charset="-122"/>
                <a:cs typeface="Manrope" pitchFamily="34" charset="-120"/>
              </a:rPr>
              <a:t>signal grows with m, the number of users</a:t>
            </a:r>
            <a:endParaRPr lang="en-US" sz="1600" dirty="0"/>
          </a:p>
          <a:p>
            <a:pPr marL="0" indent="0" algn="l">
              <a:lnSpc>
                <a:spcPct val="115000"/>
              </a:lnSpc>
              <a:buNone/>
            </a:pPr>
            <a:r>
              <a:rPr lang="en-US" sz="1600" dirty="0">
                <a:solidFill>
                  <a:schemeClr val="tx2"/>
                </a:solidFill>
                <a:latin typeface="Manrope" pitchFamily="34" charset="0"/>
                <a:ea typeface="Manrope" pitchFamily="34" charset="-122"/>
                <a:cs typeface="Manrope" pitchFamily="34" charset="-120"/>
              </a:rPr>
              <a:t>noise grows with σ√n, n the number of items</a:t>
            </a:r>
            <a:endParaRPr lang="en-US" sz="1600" dirty="0"/>
          </a:p>
        </p:txBody>
      </p:sp>
      <p:sp>
        <p:nvSpPr>
          <p:cNvPr id="7" name="stat value"/>
          <p:cNvSpPr txBox="1"/>
          <p:nvPr/>
        </p:nvSpPr>
        <p:spPr>
          <a:xfrm>
            <a:off x="6126480" y="2468880"/>
            <a:ext cx="5486400" cy="868680"/>
          </a:xfrm>
          <a:prstGeom prst="rect">
            <a:avLst/>
          </a:prstGeom>
          <a:noFill/>
          <a:ln/>
        </p:spPr>
        <p:txBody>
          <a:bodyPr wrap="square" lIns="0" tIns="0" rIns="0" bIns="0" rtlCol="0" anchor="t"/>
          <a:lstStyle/>
          <a:p>
            <a:pPr marL="0" indent="0" algn="l">
              <a:lnSpc>
                <a:spcPct val="100000"/>
              </a:lnSpc>
              <a:buNone/>
            </a:pPr>
            <a:r>
              <a:rPr lang="en-US" sz="5400" dirty="0">
                <a:solidFill>
                  <a:schemeClr val="accent1"/>
                </a:solidFill>
                <a:latin typeface="Manrope ExtraBold" pitchFamily="34" charset="0"/>
                <a:ea typeface="Manrope ExtraBold" pitchFamily="34" charset="-122"/>
                <a:cs typeface="Manrope ExtraBold" pitchFamily="34" charset="-120"/>
              </a:rPr>
              <a:t>157×</a:t>
            </a:r>
            <a:endParaRPr lang="en-US" sz="5400" dirty="0"/>
          </a:p>
        </p:txBody>
      </p:sp>
      <p:sp>
        <p:nvSpPr>
          <p:cNvPr id="8" name="stat label"/>
          <p:cNvSpPr txBox="1"/>
          <p:nvPr/>
        </p:nvSpPr>
        <p:spPr>
          <a:xfrm>
            <a:off x="6126480" y="3355848"/>
            <a:ext cx="5486400" cy="594360"/>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larger m / √n for Netflix (480,189 users, 17,770 items) than for MovieLens-100K (943, 1,682)</a:t>
            </a:r>
            <a:endParaRPr lang="en-US" sz="1400" dirty="0"/>
          </a:p>
        </p:txBody>
      </p:sp>
      <p:sp>
        <p:nvSpPr>
          <p:cNvPr id="9" name="stat value"/>
          <p:cNvSpPr txBox="1"/>
          <p:nvPr/>
        </p:nvSpPr>
        <p:spPr>
          <a:xfrm>
            <a:off x="6126480" y="4114800"/>
            <a:ext cx="265176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4.2×</a:t>
            </a:r>
            <a:endParaRPr lang="en-US" sz="4000" dirty="0"/>
          </a:p>
        </p:txBody>
      </p:sp>
      <p:sp>
        <p:nvSpPr>
          <p:cNvPr id="10" name="stat label"/>
          <p:cNvSpPr txBox="1"/>
          <p:nvPr/>
        </p:nvSpPr>
        <p:spPr>
          <a:xfrm>
            <a:off x="6126480" y="4818888"/>
            <a:ext cx="26517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noise over signal on our data at ε = 1</a:t>
            </a:r>
            <a:endParaRPr lang="en-US" sz="1400" dirty="0"/>
          </a:p>
        </p:txBody>
      </p:sp>
      <p:sp>
        <p:nvSpPr>
          <p:cNvPr id="11" name="stat value"/>
          <p:cNvSpPr txBox="1"/>
          <p:nvPr/>
        </p:nvSpPr>
        <p:spPr>
          <a:xfrm>
            <a:off x="8961120" y="4114800"/>
            <a:ext cx="2679192" cy="685800"/>
          </a:xfrm>
          <a:prstGeom prst="rect">
            <a:avLst/>
          </a:prstGeom>
          <a:noFill/>
          <a:ln/>
        </p:spPr>
        <p:txBody>
          <a:bodyPr wrap="square" lIns="0" tIns="0" rIns="0" bIns="0" rtlCol="0" anchor="t"/>
          <a:lstStyle/>
          <a:p>
            <a:pPr marL="0" indent="0" algn="l">
              <a:lnSpc>
                <a:spcPct val="100000"/>
              </a:lnSpc>
              <a:buNone/>
            </a:pPr>
            <a:r>
              <a:rPr lang="en-US" sz="3000" dirty="0">
                <a:solidFill>
                  <a:schemeClr val="tx1"/>
                </a:solidFill>
                <a:latin typeface="Manrope ExtraBold" pitchFamily="34" charset="0"/>
                <a:ea typeface="Manrope ExtraBold" pitchFamily="34" charset="-122"/>
                <a:cs typeface="Manrope ExtraBold" pitchFamily="34" charset="-120"/>
              </a:rPr>
              <a:t>0.29 → 0.24</a:t>
            </a:r>
            <a:endParaRPr lang="en-US" sz="3000" dirty="0"/>
          </a:p>
        </p:txBody>
      </p:sp>
      <p:sp>
        <p:nvSpPr>
          <p:cNvPr id="12" name="stat label"/>
          <p:cNvSpPr txBox="1"/>
          <p:nvPr/>
        </p:nvSpPr>
        <p:spPr>
          <a:xfrm>
            <a:off x="8961120" y="4818888"/>
            <a:ext cx="2679192"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Nudge on Netflix, the same mechanism</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So the fetch must be private</a:t>
            </a:r>
            <a:endParaRPr lang="en-US" sz="3400" dirty="0"/>
          </a:p>
        </p:txBody>
      </p:sp>
      <p:sp>
        <p:nvSpPr>
          <p:cNvPr id="3" name="divider"/>
          <p:cNvSpPr/>
          <p:nvPr/>
        </p:nvSpPr>
        <p:spPr>
          <a:xfrm>
            <a:off x="914400" y="4160520"/>
            <a:ext cx="10332720" cy="0"/>
          </a:xfrm>
          <a:prstGeom prst="line">
            <a:avLst/>
          </a:prstGeom>
          <a:noFill/>
          <a:ln w="19050">
            <a:solidFill>
              <a:schemeClr val="accent3"/>
            </a:solidFill>
            <a:prstDash val="solid"/>
          </a:ln>
        </p:spPr>
      </p:sp>
      <p:sp>
        <p:nvSpPr>
          <p:cNvPr id="4" name="Shape 2"/>
          <p:cNvSpPr/>
          <p:nvPr/>
        </p:nvSpPr>
        <p:spPr>
          <a:xfrm>
            <a:off x="914400" y="4096512"/>
            <a:ext cx="0" cy="128016"/>
          </a:xfrm>
          <a:prstGeom prst="line">
            <a:avLst/>
          </a:prstGeom>
          <a:noFill/>
          <a:ln w="12700">
            <a:solidFill>
              <a:schemeClr val="accent3"/>
            </a:solidFill>
            <a:prstDash val="solid"/>
          </a:ln>
        </p:spPr>
      </p:sp>
      <p:sp>
        <p:nvSpPr>
          <p:cNvPr id="5" name="Text 3"/>
          <p:cNvSpPr txBox="1"/>
          <p:nvPr/>
        </p:nvSpPr>
        <p:spPr>
          <a:xfrm>
            <a:off x="640080" y="4270248"/>
            <a:ext cx="548640" cy="274320"/>
          </a:xfrm>
          <a:prstGeom prst="rect">
            <a:avLst/>
          </a:prstGeom>
          <a:noFill/>
          <a:ln/>
        </p:spPr>
        <p:txBody>
          <a:bodyPr wrap="square" lIns="0" tIns="0" rIns="0" bIns="0" rtlCol="0" anchor="t"/>
          <a:lstStyle/>
          <a:p>
            <a:pPr marL="0" indent="0" algn="ctr">
              <a:lnSpc>
                <a:spcPct val="100000"/>
              </a:lnSpc>
              <a:buNone/>
            </a:pPr>
            <a:r>
              <a:rPr lang="en-US" sz="1200" dirty="0">
                <a:solidFill>
                  <a:schemeClr val="tx2"/>
                </a:solidFill>
                <a:latin typeface="IBM Plex Mono" pitchFamily="34" charset="0"/>
                <a:ea typeface="IBM Plex Mono" pitchFamily="34" charset="-122"/>
                <a:cs typeface="IBM Plex Mono" pitchFamily="34" charset="-120"/>
              </a:rPr>
              <a:t>0.4</a:t>
            </a:r>
            <a:endParaRPr lang="en-US" sz="1200" dirty="0"/>
          </a:p>
        </p:txBody>
      </p:sp>
      <p:sp>
        <p:nvSpPr>
          <p:cNvPr id="6" name="Shape 4"/>
          <p:cNvSpPr/>
          <p:nvPr/>
        </p:nvSpPr>
        <p:spPr>
          <a:xfrm>
            <a:off x="2636520" y="4096512"/>
            <a:ext cx="0" cy="128016"/>
          </a:xfrm>
          <a:prstGeom prst="line">
            <a:avLst/>
          </a:prstGeom>
          <a:noFill/>
          <a:ln w="12700">
            <a:solidFill>
              <a:schemeClr val="accent3"/>
            </a:solidFill>
            <a:prstDash val="solid"/>
          </a:ln>
        </p:spPr>
      </p:sp>
      <p:sp>
        <p:nvSpPr>
          <p:cNvPr id="7" name="Text 5"/>
          <p:cNvSpPr txBox="1"/>
          <p:nvPr/>
        </p:nvSpPr>
        <p:spPr>
          <a:xfrm>
            <a:off x="2362200" y="4270248"/>
            <a:ext cx="548640" cy="274320"/>
          </a:xfrm>
          <a:prstGeom prst="rect">
            <a:avLst/>
          </a:prstGeom>
          <a:noFill/>
          <a:ln/>
        </p:spPr>
        <p:txBody>
          <a:bodyPr wrap="square" lIns="0" tIns="0" rIns="0" bIns="0" rtlCol="0" anchor="t"/>
          <a:lstStyle/>
          <a:p>
            <a:pPr marL="0" indent="0" algn="ctr">
              <a:lnSpc>
                <a:spcPct val="100000"/>
              </a:lnSpc>
              <a:buNone/>
            </a:pPr>
            <a:r>
              <a:rPr lang="en-US" sz="1200" dirty="0">
                <a:solidFill>
                  <a:schemeClr val="tx2"/>
                </a:solidFill>
                <a:latin typeface="IBM Plex Mono" pitchFamily="34" charset="0"/>
                <a:ea typeface="IBM Plex Mono" pitchFamily="34" charset="-122"/>
                <a:cs typeface="IBM Plex Mono" pitchFamily="34" charset="-120"/>
              </a:rPr>
              <a:t>0.5</a:t>
            </a:r>
            <a:endParaRPr lang="en-US" sz="1200" dirty="0"/>
          </a:p>
        </p:txBody>
      </p:sp>
      <p:sp>
        <p:nvSpPr>
          <p:cNvPr id="8" name="Shape 6"/>
          <p:cNvSpPr/>
          <p:nvPr/>
        </p:nvSpPr>
        <p:spPr>
          <a:xfrm>
            <a:off x="4358640" y="4096512"/>
            <a:ext cx="0" cy="128016"/>
          </a:xfrm>
          <a:prstGeom prst="line">
            <a:avLst/>
          </a:prstGeom>
          <a:noFill/>
          <a:ln w="12700">
            <a:solidFill>
              <a:schemeClr val="accent3"/>
            </a:solidFill>
            <a:prstDash val="solid"/>
          </a:ln>
        </p:spPr>
      </p:sp>
      <p:sp>
        <p:nvSpPr>
          <p:cNvPr id="9" name="Text 7"/>
          <p:cNvSpPr txBox="1"/>
          <p:nvPr/>
        </p:nvSpPr>
        <p:spPr>
          <a:xfrm>
            <a:off x="4084320" y="4270248"/>
            <a:ext cx="548640" cy="274320"/>
          </a:xfrm>
          <a:prstGeom prst="rect">
            <a:avLst/>
          </a:prstGeom>
          <a:noFill/>
          <a:ln/>
        </p:spPr>
        <p:txBody>
          <a:bodyPr wrap="square" lIns="0" tIns="0" rIns="0" bIns="0" rtlCol="0" anchor="t"/>
          <a:lstStyle/>
          <a:p>
            <a:pPr marL="0" indent="0" algn="ctr">
              <a:lnSpc>
                <a:spcPct val="100000"/>
              </a:lnSpc>
              <a:buNone/>
            </a:pPr>
            <a:r>
              <a:rPr lang="en-US" sz="1200" dirty="0">
                <a:solidFill>
                  <a:schemeClr val="tx2"/>
                </a:solidFill>
                <a:latin typeface="IBM Plex Mono" pitchFamily="34" charset="0"/>
                <a:ea typeface="IBM Plex Mono" pitchFamily="34" charset="-122"/>
                <a:cs typeface="IBM Plex Mono" pitchFamily="34" charset="-120"/>
              </a:rPr>
              <a:t>0.6</a:t>
            </a:r>
            <a:endParaRPr lang="en-US" sz="1200" dirty="0"/>
          </a:p>
        </p:txBody>
      </p:sp>
      <p:sp>
        <p:nvSpPr>
          <p:cNvPr id="10" name="Shape 8"/>
          <p:cNvSpPr/>
          <p:nvPr/>
        </p:nvSpPr>
        <p:spPr>
          <a:xfrm>
            <a:off x="6080760" y="4096512"/>
            <a:ext cx="0" cy="128016"/>
          </a:xfrm>
          <a:prstGeom prst="line">
            <a:avLst/>
          </a:prstGeom>
          <a:noFill/>
          <a:ln w="12700">
            <a:solidFill>
              <a:schemeClr val="accent3"/>
            </a:solidFill>
            <a:prstDash val="solid"/>
          </a:ln>
        </p:spPr>
      </p:sp>
      <p:sp>
        <p:nvSpPr>
          <p:cNvPr id="11" name="Text 9"/>
          <p:cNvSpPr txBox="1"/>
          <p:nvPr/>
        </p:nvSpPr>
        <p:spPr>
          <a:xfrm>
            <a:off x="5806440" y="4270248"/>
            <a:ext cx="548640" cy="274320"/>
          </a:xfrm>
          <a:prstGeom prst="rect">
            <a:avLst/>
          </a:prstGeom>
          <a:noFill/>
          <a:ln/>
        </p:spPr>
        <p:txBody>
          <a:bodyPr wrap="square" lIns="0" tIns="0" rIns="0" bIns="0" rtlCol="0" anchor="t"/>
          <a:lstStyle/>
          <a:p>
            <a:pPr marL="0" indent="0" algn="ctr">
              <a:lnSpc>
                <a:spcPct val="100000"/>
              </a:lnSpc>
              <a:buNone/>
            </a:pPr>
            <a:r>
              <a:rPr lang="en-US" sz="1200" dirty="0">
                <a:solidFill>
                  <a:schemeClr val="tx2"/>
                </a:solidFill>
                <a:latin typeface="IBM Plex Mono" pitchFamily="34" charset="0"/>
                <a:ea typeface="IBM Plex Mono" pitchFamily="34" charset="-122"/>
                <a:cs typeface="IBM Plex Mono" pitchFamily="34" charset="-120"/>
              </a:rPr>
              <a:t>0.7</a:t>
            </a:r>
            <a:endParaRPr lang="en-US" sz="1200" dirty="0"/>
          </a:p>
        </p:txBody>
      </p:sp>
      <p:sp>
        <p:nvSpPr>
          <p:cNvPr id="12" name="Shape 10"/>
          <p:cNvSpPr/>
          <p:nvPr/>
        </p:nvSpPr>
        <p:spPr>
          <a:xfrm>
            <a:off x="7802880" y="4096512"/>
            <a:ext cx="0" cy="128016"/>
          </a:xfrm>
          <a:prstGeom prst="line">
            <a:avLst/>
          </a:prstGeom>
          <a:noFill/>
          <a:ln w="12700">
            <a:solidFill>
              <a:schemeClr val="accent3"/>
            </a:solidFill>
            <a:prstDash val="solid"/>
          </a:ln>
        </p:spPr>
      </p:sp>
      <p:sp>
        <p:nvSpPr>
          <p:cNvPr id="13" name="Text 11"/>
          <p:cNvSpPr txBox="1"/>
          <p:nvPr/>
        </p:nvSpPr>
        <p:spPr>
          <a:xfrm>
            <a:off x="7528560" y="4270248"/>
            <a:ext cx="548640" cy="274320"/>
          </a:xfrm>
          <a:prstGeom prst="rect">
            <a:avLst/>
          </a:prstGeom>
          <a:noFill/>
          <a:ln/>
        </p:spPr>
        <p:txBody>
          <a:bodyPr wrap="square" lIns="0" tIns="0" rIns="0" bIns="0" rtlCol="0" anchor="t"/>
          <a:lstStyle/>
          <a:p>
            <a:pPr marL="0" indent="0" algn="ctr">
              <a:lnSpc>
                <a:spcPct val="100000"/>
              </a:lnSpc>
              <a:buNone/>
            </a:pPr>
            <a:r>
              <a:rPr lang="en-US" sz="1200" dirty="0">
                <a:solidFill>
                  <a:schemeClr val="tx2"/>
                </a:solidFill>
                <a:latin typeface="IBM Plex Mono" pitchFamily="34" charset="0"/>
                <a:ea typeface="IBM Plex Mono" pitchFamily="34" charset="-122"/>
                <a:cs typeface="IBM Plex Mono" pitchFamily="34" charset="-120"/>
              </a:rPr>
              <a:t>0.8</a:t>
            </a:r>
            <a:endParaRPr lang="en-US" sz="1200" dirty="0"/>
          </a:p>
        </p:txBody>
      </p:sp>
      <p:sp>
        <p:nvSpPr>
          <p:cNvPr id="14" name="Shape 12"/>
          <p:cNvSpPr/>
          <p:nvPr/>
        </p:nvSpPr>
        <p:spPr>
          <a:xfrm>
            <a:off x="9525000" y="4096512"/>
            <a:ext cx="0" cy="128016"/>
          </a:xfrm>
          <a:prstGeom prst="line">
            <a:avLst/>
          </a:prstGeom>
          <a:noFill/>
          <a:ln w="12700">
            <a:solidFill>
              <a:schemeClr val="accent3"/>
            </a:solidFill>
            <a:prstDash val="solid"/>
          </a:ln>
        </p:spPr>
      </p:sp>
      <p:sp>
        <p:nvSpPr>
          <p:cNvPr id="15" name="Text 13"/>
          <p:cNvSpPr txBox="1"/>
          <p:nvPr/>
        </p:nvSpPr>
        <p:spPr>
          <a:xfrm>
            <a:off x="9250680" y="4270248"/>
            <a:ext cx="548640" cy="274320"/>
          </a:xfrm>
          <a:prstGeom prst="rect">
            <a:avLst/>
          </a:prstGeom>
          <a:noFill/>
          <a:ln/>
        </p:spPr>
        <p:txBody>
          <a:bodyPr wrap="square" lIns="0" tIns="0" rIns="0" bIns="0" rtlCol="0" anchor="t"/>
          <a:lstStyle/>
          <a:p>
            <a:pPr marL="0" indent="0" algn="ctr">
              <a:lnSpc>
                <a:spcPct val="100000"/>
              </a:lnSpc>
              <a:buNone/>
            </a:pPr>
            <a:r>
              <a:rPr lang="en-US" sz="1200" dirty="0">
                <a:solidFill>
                  <a:schemeClr val="tx2"/>
                </a:solidFill>
                <a:latin typeface="IBM Plex Mono" pitchFamily="34" charset="0"/>
                <a:ea typeface="IBM Plex Mono" pitchFamily="34" charset="-122"/>
                <a:cs typeface="IBM Plex Mono" pitchFamily="34" charset="-120"/>
              </a:rPr>
              <a:t>0.9</a:t>
            </a:r>
            <a:endParaRPr lang="en-US" sz="1200" dirty="0"/>
          </a:p>
        </p:txBody>
      </p:sp>
      <p:sp>
        <p:nvSpPr>
          <p:cNvPr id="16" name="Shape 14"/>
          <p:cNvSpPr/>
          <p:nvPr/>
        </p:nvSpPr>
        <p:spPr>
          <a:xfrm>
            <a:off x="11247120" y="4096512"/>
            <a:ext cx="0" cy="128016"/>
          </a:xfrm>
          <a:prstGeom prst="line">
            <a:avLst/>
          </a:prstGeom>
          <a:noFill/>
          <a:ln w="12700">
            <a:solidFill>
              <a:schemeClr val="accent3"/>
            </a:solidFill>
            <a:prstDash val="solid"/>
          </a:ln>
        </p:spPr>
      </p:sp>
      <p:sp>
        <p:nvSpPr>
          <p:cNvPr id="17" name="Text 15"/>
          <p:cNvSpPr txBox="1"/>
          <p:nvPr/>
        </p:nvSpPr>
        <p:spPr>
          <a:xfrm>
            <a:off x="10972800" y="4270248"/>
            <a:ext cx="548640" cy="274320"/>
          </a:xfrm>
          <a:prstGeom prst="rect">
            <a:avLst/>
          </a:prstGeom>
          <a:noFill/>
          <a:ln/>
        </p:spPr>
        <p:txBody>
          <a:bodyPr wrap="square" lIns="0" tIns="0" rIns="0" bIns="0" rtlCol="0" anchor="t"/>
          <a:lstStyle/>
          <a:p>
            <a:pPr marL="0" indent="0" algn="ctr">
              <a:lnSpc>
                <a:spcPct val="100000"/>
              </a:lnSpc>
              <a:buNone/>
            </a:pPr>
            <a:r>
              <a:rPr lang="en-US" sz="1200" dirty="0">
                <a:solidFill>
                  <a:schemeClr val="tx2"/>
                </a:solidFill>
                <a:latin typeface="IBM Plex Mono" pitchFamily="34" charset="0"/>
                <a:ea typeface="IBM Plex Mono" pitchFamily="34" charset="-122"/>
                <a:cs typeface="IBM Plex Mono" pitchFamily="34" charset="-120"/>
              </a:rPr>
              <a:t>1.0</a:t>
            </a:r>
            <a:endParaRPr lang="en-US" sz="1200" dirty="0"/>
          </a:p>
        </p:txBody>
      </p:sp>
      <p:sp>
        <p:nvSpPr>
          <p:cNvPr id="18" name="Text 16"/>
          <p:cNvSpPr txBox="1"/>
          <p:nvPr/>
        </p:nvSpPr>
        <p:spPr>
          <a:xfrm>
            <a:off x="914400" y="4599432"/>
            <a:ext cx="7315200"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Manrope" pitchFamily="34" charset="0"/>
                <a:ea typeface="Manrope" pitchFamily="34" charset="-122"/>
                <a:cs typeface="Manrope" pitchFamily="34" charset="-120"/>
              </a:rPr>
              <a:t>attack strength: cosine between the observer’s estimate and your vector</a:t>
            </a:r>
            <a:endParaRPr lang="en-US" sz="1200" dirty="0"/>
          </a:p>
        </p:txBody>
      </p:sp>
      <p:sp>
        <p:nvSpPr>
          <p:cNvPr id="19" name="floor"/>
          <p:cNvSpPr/>
          <p:nvPr/>
        </p:nvSpPr>
        <p:spPr>
          <a:xfrm>
            <a:off x="1603248" y="1691640"/>
            <a:ext cx="0" cy="2468880"/>
          </a:xfrm>
          <a:prstGeom prst="line">
            <a:avLst/>
          </a:prstGeom>
          <a:noFill/>
          <a:ln w="25400">
            <a:solidFill>
              <a:schemeClr val="accent1"/>
            </a:solidFill>
            <a:prstDash val="dash"/>
          </a:ln>
        </p:spPr>
      </p:sp>
      <p:sp>
        <p:nvSpPr>
          <p:cNvPr id="20" name="Text 18"/>
          <p:cNvSpPr txBox="1"/>
          <p:nvPr/>
        </p:nvSpPr>
        <p:spPr>
          <a:xfrm>
            <a:off x="1740408" y="1691640"/>
            <a:ext cx="4206240" cy="640080"/>
          </a:xfrm>
          <a:prstGeom prst="rect">
            <a:avLst/>
          </a:prstGeom>
          <a:noFill/>
          <a:ln/>
        </p:spPr>
        <p:txBody>
          <a:bodyPr wrap="square" lIns="0" tIns="0" rIns="0" bIns="0" rtlCol="0" anchor="t"/>
          <a:lstStyle/>
          <a:p>
            <a:pPr marL="0" indent="0" algn="l">
              <a:lnSpc>
                <a:spcPct val="100000"/>
              </a:lnSpc>
              <a:buNone/>
            </a:pPr>
            <a:r>
              <a:rPr lang="en-US" sz="1400" b="1" dirty="0">
                <a:solidFill>
                  <a:schemeClr val="accent1"/>
                </a:solidFill>
                <a:latin typeface="Manrope" pitchFamily="34" charset="0"/>
                <a:ea typeface="Manrope" pitchFamily="34" charset="-122"/>
                <a:cs typeface="Manrope" pitchFamily="34" charset="-120"/>
              </a:rPr>
              <a:t>0.44  popularity floor</a:t>
            </a:r>
            <a:endParaRPr lang="en-US" sz="1400" dirty="0"/>
          </a:p>
          <a:p>
            <a:pPr marL="0" indent="0" algn="l">
              <a:lnSpc>
                <a:spcPct val="100000"/>
              </a:lnSpc>
              <a:buNone/>
            </a:pPr>
            <a:r>
              <a:rPr lang="en-US" sz="1400" dirty="0">
                <a:solidFill>
                  <a:schemeClr val="tx2"/>
                </a:solidFill>
                <a:latin typeface="Manrope" pitchFamily="34" charset="0"/>
                <a:ea typeface="Manrope" pitchFamily="34" charset="-122"/>
                <a:cs typeface="Manrope" pitchFamily="34" charset="-120"/>
              </a:rPr>
              <a:t>where a defence that worked would land</a:t>
            </a:r>
            <a:endParaRPr lang="en-US" sz="1400" dirty="0"/>
          </a:p>
        </p:txBody>
      </p:sp>
      <p:sp>
        <p:nvSpPr>
          <p:cNvPr id="21" name="decoys"/>
          <p:cNvSpPr/>
          <p:nvPr/>
        </p:nvSpPr>
        <p:spPr>
          <a:xfrm flipH="1">
            <a:off x="6166866" y="2743200"/>
            <a:ext cx="2376526" cy="914"/>
          </a:xfrm>
          <a:prstGeom prst="line">
            <a:avLst/>
          </a:prstGeom>
          <a:noFill/>
          <a:ln w="31750">
            <a:solidFill>
              <a:schemeClr val="tx1"/>
            </a:solidFill>
            <a:prstDash val="solid"/>
            <a:tailEnd type="triangle"/>
          </a:ln>
        </p:spPr>
      </p:sp>
      <p:sp>
        <p:nvSpPr>
          <p:cNvPr id="22" name="Text 20"/>
          <p:cNvSpPr txBox="1"/>
          <p:nvPr/>
        </p:nvSpPr>
        <p:spPr>
          <a:xfrm>
            <a:off x="2372106" y="2560320"/>
            <a:ext cx="3657600" cy="365760"/>
          </a:xfrm>
          <a:prstGeom prst="rect">
            <a:avLst/>
          </a:prstGeom>
          <a:noFill/>
          <a:ln/>
        </p:spPr>
        <p:txBody>
          <a:bodyPr wrap="square" lIns="0" tIns="0" rIns="0" bIns="0" rtlCol="0" anchor="t"/>
          <a:lstStyle/>
          <a:p>
            <a:pPr marL="0" indent="0" algn="r">
              <a:lnSpc>
                <a:spcPct val="100000"/>
              </a:lnSpc>
              <a:buNone/>
            </a:pPr>
            <a:r>
              <a:rPr lang="en-US" sz="1500" dirty="0">
                <a:solidFill>
                  <a:schemeClr val="tx1"/>
                </a:solidFill>
                <a:latin typeface="Manrope" pitchFamily="34" charset="0"/>
                <a:ea typeface="Manrope" pitchFamily="34" charset="-122"/>
                <a:cs typeface="Manrope" pitchFamily="34" charset="-120"/>
              </a:rPr>
              <a:t>decoys, 40 per query:  0.84 → 0.71</a:t>
            </a:r>
            <a:endParaRPr lang="en-US" sz="1500" dirty="0"/>
          </a:p>
        </p:txBody>
      </p:sp>
      <p:sp>
        <p:nvSpPr>
          <p:cNvPr id="23" name="dp"/>
          <p:cNvSpPr/>
          <p:nvPr/>
        </p:nvSpPr>
        <p:spPr>
          <a:xfrm>
            <a:off x="8200690" y="3520440"/>
            <a:ext cx="1689400" cy="914"/>
          </a:xfrm>
          <a:prstGeom prst="line">
            <a:avLst/>
          </a:prstGeom>
          <a:noFill/>
          <a:ln w="31750">
            <a:solidFill>
              <a:schemeClr val="tx1"/>
            </a:solidFill>
            <a:prstDash val="solid"/>
            <a:tailEnd type="triangle"/>
          </a:ln>
        </p:spPr>
      </p:sp>
      <p:sp>
        <p:nvSpPr>
          <p:cNvPr id="24" name="Text 22"/>
          <p:cNvSpPr txBox="1"/>
          <p:nvPr/>
        </p:nvSpPr>
        <p:spPr>
          <a:xfrm>
            <a:off x="3948730" y="3337560"/>
            <a:ext cx="4114800" cy="365760"/>
          </a:xfrm>
          <a:prstGeom prst="rect">
            <a:avLst/>
          </a:prstGeom>
          <a:noFill/>
          <a:ln/>
        </p:spPr>
        <p:txBody>
          <a:bodyPr wrap="square" lIns="0" tIns="0" rIns="0" bIns="0" rtlCol="0" anchor="t"/>
          <a:lstStyle/>
          <a:p>
            <a:pPr marL="0" indent="0" algn="r">
              <a:lnSpc>
                <a:spcPct val="100000"/>
              </a:lnSpc>
              <a:buNone/>
            </a:pPr>
            <a:r>
              <a:rPr lang="en-US" sz="1500" dirty="0">
                <a:solidFill>
                  <a:schemeClr val="tx1"/>
                </a:solidFill>
                <a:latin typeface="Manrope" pitchFamily="34" charset="0"/>
                <a:ea typeface="Manrope" pitchFamily="34" charset="-122"/>
                <a:cs typeface="Manrope" pitchFamily="34" charset="-120"/>
              </a:rPr>
              <a:t>differential privacy, ε = 1:  0.82 → 0.92</a:t>
            </a:r>
            <a:endParaRPr lang="en-US" sz="1500" dirty="0"/>
          </a:p>
        </p:txBody>
      </p:sp>
      <p:sp>
        <p:nvSpPr>
          <p:cNvPr id="25" name="Text 23"/>
          <p:cNvSpPr txBox="1"/>
          <p:nvPr/>
        </p:nvSpPr>
        <p:spPr>
          <a:xfrm>
            <a:off x="548640" y="5120640"/>
            <a:ext cx="10424160" cy="822960"/>
          </a:xfrm>
          <a:prstGeom prst="rect">
            <a:avLst/>
          </a:prstGeom>
          <a:noFill/>
          <a:ln/>
        </p:spPr>
        <p:txBody>
          <a:bodyPr wrap="square" lIns="0" tIns="0" rIns="0" bIns="0" rtlCol="0" anchor="t"/>
          <a:lstStyle/>
          <a:p>
            <a:pPr marL="0" indent="0" algn="l">
              <a:lnSpc>
                <a:spcPct val="108000"/>
              </a:lnSpc>
              <a:buNone/>
            </a:pPr>
            <a:r>
              <a:rPr lang="en-US" sz="2100" dirty="0">
                <a:solidFill>
                  <a:schemeClr val="tx1"/>
                </a:solidFill>
                <a:latin typeface="Manrope" pitchFamily="34" charset="0"/>
                <a:ea typeface="Manrope" pitchFamily="34" charset="-122"/>
                <a:cs typeface="Manrope" pitchFamily="34" charset="-120"/>
              </a:rPr>
              <a:t>Neither defence comes near the floor. A private read leaves the observer no index to average, which is what OblivRec does.</a:t>
            </a:r>
            <a:endParaRPr lang="en-US" sz="2100" dirty="0"/>
          </a:p>
        </p:txBody>
      </p:sp>
      <p:sp>
        <p:nvSpPr>
          <p:cNvPr id="26"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A DPF we can trust</a:t>
            </a:r>
            <a:endParaRPr lang="en-US" sz="3400" dirty="0"/>
          </a:p>
        </p:txBody>
      </p:sp>
      <p:sp>
        <p:nvSpPr>
          <p:cNvPr id="3" name="Text 1"/>
          <p:cNvSpPr txBox="1"/>
          <p:nvPr/>
        </p:nvSpPr>
        <p:spPr>
          <a:xfrm>
            <a:off x="548640" y="1508760"/>
            <a:ext cx="6035040" cy="1188720"/>
          </a:xfrm>
          <a:prstGeom prst="rect">
            <a:avLst/>
          </a:prstGeom>
          <a:noFill/>
          <a:ln/>
        </p:spPr>
        <p:txBody>
          <a:bodyPr wrap="square" lIns="0" tIns="0" rIns="0" bIns="0" rtlCol="0" anchor="t"/>
          <a:lstStyle/>
          <a:p>
            <a:pPr marL="0" indent="0" algn="l">
              <a:lnSpc>
                <a:spcPct val="100000"/>
              </a:lnSpc>
              <a:buNone/>
            </a:pPr>
            <a:r>
              <a:rPr lang="en-US" sz="8000" dirty="0">
                <a:solidFill>
                  <a:schemeClr val="accent1"/>
                </a:solidFill>
                <a:latin typeface="Manrope ExtraBold" pitchFamily="34" charset="0"/>
                <a:ea typeface="Manrope ExtraBold" pitchFamily="34" charset="-122"/>
                <a:cs typeface="Manrope ExtraBold" pitchFamily="34" charset="-120"/>
              </a:rPr>
              <a:t>7.16 × 10</a:t>
            </a:r>
            <a:r>
              <a:rPr lang="en-US" sz="8000" baseline="30000" dirty="0">
                <a:solidFill>
                  <a:schemeClr val="accent1"/>
                </a:solidFill>
                <a:latin typeface="Manrope ExtraBold" pitchFamily="34" charset="0"/>
                <a:ea typeface="Manrope ExtraBold" pitchFamily="34" charset="-122"/>
                <a:cs typeface="Manrope ExtraBold" pitchFamily="34" charset="-120"/>
              </a:rPr>
              <a:t>9</a:t>
            </a:r>
            <a:endParaRPr lang="en-US" sz="8000" dirty="0"/>
          </a:p>
        </p:txBody>
      </p:sp>
      <p:sp>
        <p:nvSpPr>
          <p:cNvPr id="4" name="Text 2"/>
          <p:cNvSpPr txBox="1"/>
          <p:nvPr/>
        </p:nvSpPr>
        <p:spPr>
          <a:xfrm>
            <a:off x="548640" y="2834640"/>
            <a:ext cx="5760720" cy="914400"/>
          </a:xfrm>
          <a:prstGeom prst="rect">
            <a:avLst/>
          </a:prstGeom>
          <a:noFill/>
          <a:ln/>
        </p:spPr>
        <p:txBody>
          <a:bodyPr wrap="square" lIns="0" tIns="0" rIns="0" bIns="0" rtlCol="0" anchor="t"/>
          <a:lstStyle/>
          <a:p>
            <a:pPr marL="0" indent="0" algn="l">
              <a:lnSpc>
                <a:spcPct val="108000"/>
              </a:lnSpc>
              <a:buNone/>
            </a:pPr>
            <a:r>
              <a:rPr lang="en-US" sz="2000" dirty="0">
                <a:solidFill>
                  <a:schemeClr val="tx1"/>
                </a:solidFill>
                <a:latin typeface="Manrope" pitchFamily="34" charset="0"/>
                <a:ea typeface="Manrope" pitchFamily="34" charset="-122"/>
                <a:cs typeface="Manrope" pitchFamily="34" charset="-120"/>
              </a:rPr>
              <a:t>comparisons of the DPF’s output against the true point function. Every one correct.</a:t>
            </a:r>
            <a:endParaRPr lang="en-US" sz="2000" dirty="0"/>
          </a:p>
        </p:txBody>
      </p:sp>
      <p:sp>
        <p:nvSpPr>
          <p:cNvPr id="5" name="Text 3"/>
          <p:cNvSpPr txBox="1"/>
          <p:nvPr/>
        </p:nvSpPr>
        <p:spPr>
          <a:xfrm>
            <a:off x="548640" y="3931920"/>
            <a:ext cx="5760720" cy="1280160"/>
          </a:xfrm>
          <a:prstGeom prst="rect">
            <a:avLst/>
          </a:prstGeom>
          <a:noFill/>
          <a:ln/>
        </p:spPr>
        <p:txBody>
          <a:bodyPr wrap="square" lIns="0" tIns="0" rIns="0" bIns="0" rtlCol="0" anchor="t"/>
          <a:lstStyle/>
          <a:p>
            <a:pPr marL="0" indent="0" algn="l">
              <a:lnSpc>
                <a:spcPct val="110000"/>
              </a:lnSpc>
              <a:buNone/>
            </a:pPr>
            <a:r>
              <a:rPr lang="en-US" sz="1500" dirty="0">
                <a:solidFill>
                  <a:schemeClr val="tx2"/>
                </a:solidFill>
                <a:latin typeface="Manrope" pitchFamily="34" charset="0"/>
                <a:ea typeface="Manrope" pitchFamily="34" charset="-122"/>
                <a:cs typeface="Manrope" pitchFamily="34" charset="-120"/>
              </a:rPr>
              <a:t>Every secret index against every input, for every domain up to 16 bits on the 64-bit ring and 15 bits on the 128-bit ring. Written from the Boyle, Gilboa and Ishai papers, not taken from a library.</a:t>
            </a:r>
            <a:endParaRPr lang="en-US" sz="1500" dirty="0"/>
          </a:p>
        </p:txBody>
      </p:sp>
      <p:sp>
        <p:nvSpPr>
          <p:cNvPr id="6" name="invariant panel"/>
          <p:cNvSpPr/>
          <p:nvPr/>
        </p:nvSpPr>
        <p:spPr>
          <a:xfrm>
            <a:off x="6720840" y="1554480"/>
            <a:ext cx="4919472" cy="3429000"/>
          </a:xfrm>
          <a:prstGeom prst="roundRect">
            <a:avLst>
              <a:gd name="adj" fmla="val 4267"/>
            </a:avLst>
          </a:prstGeom>
          <a:solidFill>
            <a:schemeClr val="bg2"/>
          </a:solidFill>
          <a:ln/>
        </p:spPr>
      </p:sp>
      <p:sp>
        <p:nvSpPr>
          <p:cNvPr id="7" name="Text 5"/>
          <p:cNvSpPr txBox="1"/>
          <p:nvPr/>
        </p:nvSpPr>
        <p:spPr>
          <a:xfrm>
            <a:off x="6949440" y="1764792"/>
            <a:ext cx="4480560" cy="274320"/>
          </a:xfrm>
          <a:prstGeom prst="rect">
            <a:avLst/>
          </a:prstGeom>
          <a:noFill/>
          <a:ln/>
        </p:spPr>
        <p:txBody>
          <a:bodyPr wrap="square" lIns="0" tIns="0" rIns="0" bIns="0" rtlCol="0" anchor="t"/>
          <a:lstStyle/>
          <a:p>
            <a:pPr marL="0" indent="0" algn="l">
              <a:lnSpc>
                <a:spcPct val="100000"/>
              </a:lnSpc>
              <a:buNone/>
            </a:pPr>
            <a:r>
              <a:rPr lang="en-US" sz="1100" dirty="0">
                <a:solidFill>
                  <a:schemeClr val="tx2"/>
                </a:solidFill>
                <a:latin typeface="IBM Plex Mono" pitchFamily="34" charset="0"/>
                <a:ea typeface="IBM Plex Mono" pitchFamily="34" charset="-122"/>
                <a:cs typeface="IBM Plex Mono" pitchFamily="34" charset="-120"/>
              </a:rPr>
              <a:t>ASSERTED AT EVERY NODE OF THE TREE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949440" y="2194560"/>
          <a:ext cx="4480560" cy="914400"/>
        </p:xfrm>
        <a:graphic>
          <a:graphicData uri="http://schemas.openxmlformats.org/drawingml/2006/table">
            <a:tbl>
              <a:tblPr/>
              <a:tblGrid>
                <a:gridCol w="17830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777240">
                <a:tc>
                  <a:txBody>
                    <a:bodyPr/>
                    <a:lstStyle/>
                    <a:p>
                      <a:pPr marL="0" indent="0">
                        <a:buNone/>
                      </a:pPr>
                      <a:r>
                        <a:rPr lang="en-US" sz="1500" b="1" dirty="0">
                          <a:solidFill>
                            <a:schemeClr val="tx1"/>
                          </a:solidFill>
                          <a:latin typeface="Manrope" pitchFamily="34" charset="0"/>
                          <a:ea typeface="Manrope" pitchFamily="34" charset="-122"/>
                          <a:cs typeface="Manrope" pitchFamily="34" charset="-120"/>
                        </a:rPr>
                        <a:t>On the path to </a:t>
                      </a:r>
                      <a:r>
                        <a:rPr lang="en-US" sz="1500" b="1" dirty="0">
                          <a:solidFill>
                            <a:schemeClr val="tx1"/>
                          </a:solidFill>
                          <a:latin typeface="Cambria Math" pitchFamily="34" charset="0"/>
                          <a:ea typeface="Cambria Math" pitchFamily="34" charset="-122"/>
                          <a:cs typeface="Cambria Math" pitchFamily="34" charset="-120"/>
                        </a:rPr>
                        <a:t>α</a:t>
                      </a:r>
                      <a:endParaRPr lang="en-US" sz="1200" dirty="0">
                        <a:latin typeface="Manrope" charset="0"/>
                        <a:ea typeface="Manrope" charset="0"/>
                        <a:cs typeface="Manrope" charset="0"/>
                      </a:endParaRPr>
                    </a:p>
                  </a:txBody>
                  <a:tcPr marT="54864" marB="54864"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latin typeface="Manrope" pitchFamily="34" charset="0"/>
                          <a:ea typeface="Manrope" pitchFamily="34" charset="-122"/>
                          <a:cs typeface="Manrope" pitchFamily="34" charset="-120"/>
                        </a:rPr>
                        <a:t>seeds differ, control bits differ</a:t>
                      </a:r>
                      <a:endParaRPr lang="en-US" sz="1200" dirty="0">
                        <a:latin typeface="Manrope" charset="0"/>
                        <a:ea typeface="Manrope" charset="0"/>
                        <a:cs typeface="Manrope" charset="0"/>
                      </a:endParaRPr>
                    </a:p>
                  </a:txBody>
                  <a:tcPr marT="54864" marB="54864"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777240">
                <a:tc>
                  <a:txBody>
                    <a:bodyPr/>
                    <a:lstStyle/>
                    <a:p>
                      <a:pPr marL="0" indent="0">
                        <a:buNone/>
                      </a:pPr>
                      <a:r>
                        <a:rPr lang="en-US" sz="1500" b="1" dirty="0">
                          <a:solidFill>
                            <a:schemeClr val="tx1"/>
                          </a:solidFill>
                          <a:latin typeface="Manrope" pitchFamily="34" charset="0"/>
                          <a:ea typeface="Manrope" pitchFamily="34" charset="-122"/>
                          <a:cs typeface="Manrope" pitchFamily="34" charset="-120"/>
                        </a:rPr>
                        <a:t>Off the path</a:t>
                      </a:r>
                      <a:endParaRPr lang="en-US" sz="1200" dirty="0">
                        <a:latin typeface="Manrope" charset="0"/>
                        <a:ea typeface="Manrope" charset="0"/>
                        <a:cs typeface="Manrope" charset="0"/>
                      </a:endParaRPr>
                    </a:p>
                  </a:txBody>
                  <a:tcPr marT="54864" marB="54864"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latin typeface="Manrope" pitchFamily="34" charset="0"/>
                          <a:ea typeface="Manrope" pitchFamily="34" charset="-122"/>
                          <a:cs typeface="Manrope" pitchFamily="34" charset="-120"/>
                        </a:rPr>
                        <a:t>seeds equal, control bits equal</a:t>
                      </a:r>
                      <a:endParaRPr lang="en-US" sz="1200" dirty="0">
                        <a:latin typeface="Manrope" charset="0"/>
                        <a:ea typeface="Manrope" charset="0"/>
                        <a:cs typeface="Manrope" charset="0"/>
                      </a:endParaRPr>
                    </a:p>
                  </a:txBody>
                  <a:tcPr marT="54864" marB="54864"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bl>
          </a:graphicData>
        </a:graphic>
      </p:graphicFrame>
      <p:sp>
        <p:nvSpPr>
          <p:cNvPr id="9" name="Text 6"/>
          <p:cNvSpPr txBox="1"/>
          <p:nvPr/>
        </p:nvSpPr>
        <p:spPr>
          <a:xfrm>
            <a:off x="6949440" y="3931920"/>
            <a:ext cx="4480560" cy="914400"/>
          </a:xfrm>
          <a:prstGeom prst="rect">
            <a:avLst/>
          </a:prstGeom>
          <a:noFill/>
          <a:ln/>
        </p:spPr>
        <p:txBody>
          <a:bodyPr wrap="square" lIns="0" tIns="0" rIns="0" bIns="0" rtlCol="0" anchor="t"/>
          <a:lstStyle/>
          <a:p>
            <a:pPr marL="0" indent="0" algn="l">
              <a:lnSpc>
                <a:spcPct val="108000"/>
              </a:lnSpc>
              <a:buNone/>
            </a:pPr>
            <a:r>
              <a:rPr lang="en-US" sz="1300" dirty="0">
                <a:solidFill>
                  <a:schemeClr val="tx2"/>
                </a:solidFill>
                <a:latin typeface="Manrope" pitchFamily="34" charset="0"/>
                <a:ea typeface="Manrope" pitchFamily="34" charset="-122"/>
                <a:cs typeface="Manrope" pitchFamily="34" charset="-120"/>
              </a:rPr>
              <a:t>A wrong control-bit update shows here at the exact level where it happens, long before any output goes wrong.</a:t>
            </a:r>
            <a:endParaRPr lang="en-US" sz="13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The cost of each half</a:t>
            </a:r>
            <a:endParaRPr lang="en-US" sz="3400" dirty="0"/>
          </a:p>
        </p:txBody>
      </p:sp>
      <p:sp>
        <p:nvSpPr>
          <p:cNvPr id="3" name="figure panel"/>
          <p:cNvSpPr/>
          <p:nvPr/>
        </p:nvSpPr>
        <p:spPr>
          <a:xfrm>
            <a:off x="548640" y="1463040"/>
            <a:ext cx="4983480" cy="4380670"/>
          </a:xfrm>
          <a:prstGeom prst="roundRect">
            <a:avLst>
              <a:gd name="adj" fmla="val 3340"/>
            </a:avLst>
          </a:prstGeom>
          <a:solidFill>
            <a:schemeClr val="accent5"/>
          </a:solidFill>
          <a:ln/>
        </p:spPr>
      </p:sp>
      <p:pic>
        <p:nvPicPr>
          <p:cNvPr id="4" name="Image 0" descr="Per-session cost of each arm relative to B1"/>
          <p:cNvPicPr>
            <a:picLocks noChangeAspect="1"/>
          </p:cNvPicPr>
          <p:nvPr/>
        </p:nvPicPr>
        <p:blipFill>
          <a:blip r:embed="rId3"/>
          <a:stretch>
            <a:fillRect/>
          </a:stretch>
        </p:blipFill>
        <p:spPr>
          <a:xfrm>
            <a:off x="658368" y="1572768"/>
            <a:ext cx="4764024" cy="4161214"/>
          </a:xfrm>
          <a:prstGeom prst="rect">
            <a:avLst/>
          </a:prstGeom>
        </p:spPr>
      </p:pic>
      <p:sp>
        <p:nvSpPr>
          <p:cNvPr id="5" name="data source"/>
          <p:cNvSpPr txBox="1"/>
          <p:nvPr/>
        </p:nvSpPr>
        <p:spPr>
          <a:xfrm>
            <a:off x="548640" y="5935150"/>
            <a:ext cx="498348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bench_compose.jsonl  ·  F8, left</a:t>
            </a:r>
            <a:endParaRPr lang="en-US" sz="1050" dirty="0"/>
          </a:p>
        </p:txBody>
      </p:sp>
      <p:sp>
        <p:nvSpPr>
          <p:cNvPr id="6" name="Text 3"/>
          <p:cNvSpPr txBox="1"/>
          <p:nvPr/>
        </p:nvSpPr>
        <p:spPr>
          <a:xfrm>
            <a:off x="5989320" y="1508760"/>
            <a:ext cx="5669280" cy="548640"/>
          </a:xfrm>
          <a:prstGeom prst="rect">
            <a:avLst/>
          </a:prstGeom>
          <a:noFill/>
          <a:ln/>
        </p:spPr>
        <p:txBody>
          <a:bodyPr wrap="square" lIns="0" tIns="0" rIns="0" bIns="0" rtlCol="0" anchor="t"/>
          <a:lstStyle/>
          <a:p>
            <a:pPr marL="0" indent="0" algn="l">
              <a:lnSpc>
                <a:spcPct val="100000"/>
              </a:lnSpc>
              <a:buNone/>
            </a:pPr>
            <a:r>
              <a:rPr lang="en-US" sz="2600" dirty="0">
                <a:solidFill>
                  <a:schemeClr val="tx1"/>
                </a:solidFill>
                <a:latin typeface="IBM Plex Mono" pitchFamily="34" charset="0"/>
                <a:ea typeface="IBM Plex Mono" pitchFamily="34" charset="-122"/>
                <a:cs typeface="IBM Plex Mono" pitchFamily="34" charset="-120"/>
              </a:rPr>
              <a:t>FULL = B2 + B3 − B1</a:t>
            </a:r>
            <a:endParaRPr lang="en-US" sz="2600" dirty="0"/>
          </a:p>
        </p:txBody>
      </p:sp>
      <p:sp>
        <p:nvSpPr>
          <p:cNvPr id="7" name="Text 4"/>
          <p:cNvSpPr txBox="1"/>
          <p:nvPr/>
        </p:nvSpPr>
        <p:spPr>
          <a:xfrm>
            <a:off x="5989320" y="2103120"/>
            <a:ext cx="5669280" cy="640080"/>
          </a:xfrm>
          <a:prstGeom prst="rect">
            <a:avLst/>
          </a:prstGeom>
          <a:noFill/>
          <a:ln/>
        </p:spPr>
        <p:txBody>
          <a:bodyPr wrap="square" lIns="0" tIns="0" rIns="0" bIns="0" rtlCol="0" anchor="t"/>
          <a:lstStyle/>
          <a:p>
            <a:pPr marL="0" indent="0" algn="l">
              <a:lnSpc>
                <a:spcPct val="108000"/>
              </a:lnSpc>
              <a:buNone/>
            </a:pPr>
            <a:r>
              <a:rPr lang="en-US" sz="1500" b="1" dirty="0">
                <a:solidFill>
                  <a:schemeClr val="accent1"/>
                </a:solidFill>
                <a:latin typeface="Manrope" pitchFamily="34" charset="0"/>
                <a:ea typeface="Manrope" pitchFamily="34" charset="-122"/>
                <a:cs typeface="Manrope" pitchFamily="34" charset="-120"/>
              </a:rPr>
              <a:t>to the byte</a:t>
            </a:r>
            <a:r>
              <a:rPr lang="en-US" sz="1500" dirty="0">
                <a:solidFill>
                  <a:schemeClr val="tx2"/>
                </a:solidFill>
                <a:latin typeface="Manrope" pitchFamily="34" charset="0"/>
                <a:ea typeface="Manrope" pitchFamily="34" charset="-122"/>
                <a:cs typeface="Manrope" pitchFamily="34" charset="-120"/>
              </a:rPr>
              <a:t>: 64,760,124 bytes, asserted before any row is written</a:t>
            </a:r>
            <a:endParaRPr lang="en-US" sz="1500" dirty="0"/>
          </a:p>
        </p:txBody>
      </p:sp>
      <p:sp>
        <p:nvSpPr>
          <p:cNvPr id="8" name="stat value"/>
          <p:cNvSpPr txBox="1"/>
          <p:nvPr/>
        </p:nvSpPr>
        <p:spPr>
          <a:xfrm>
            <a:off x="5989320" y="3017520"/>
            <a:ext cx="269748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+2.5 ms</a:t>
            </a:r>
            <a:endParaRPr lang="en-US" sz="4000" dirty="0"/>
          </a:p>
        </p:txBody>
      </p:sp>
      <p:sp>
        <p:nvSpPr>
          <p:cNvPr id="9" name="stat label"/>
          <p:cNvSpPr txBox="1"/>
          <p:nvPr/>
        </p:nvSpPr>
        <p:spPr>
          <a:xfrm>
            <a:off x="5989320" y="3721608"/>
            <a:ext cx="269748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private delivery, per session</a:t>
            </a:r>
            <a:endParaRPr lang="en-US" sz="1400" dirty="0"/>
          </a:p>
        </p:txBody>
      </p:sp>
      <p:sp>
        <p:nvSpPr>
          <p:cNvPr id="10" name="stat value"/>
          <p:cNvSpPr txBox="1"/>
          <p:nvPr/>
        </p:nvSpPr>
        <p:spPr>
          <a:xfrm>
            <a:off x="8915400" y="3017520"/>
            <a:ext cx="2724912"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+96 ms</a:t>
            </a:r>
            <a:endParaRPr lang="en-US" sz="4000" dirty="0"/>
          </a:p>
        </p:txBody>
      </p:sp>
      <p:sp>
        <p:nvSpPr>
          <p:cNvPr id="11" name="stat label"/>
          <p:cNvSpPr txBox="1"/>
          <p:nvPr/>
        </p:nvSpPr>
        <p:spPr>
          <a:xfrm>
            <a:off x="8915400" y="3721608"/>
            <a:ext cx="2724912"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private training, per session, one run shared by 943 users</a:t>
            </a:r>
            <a:endParaRPr lang="en-US" sz="1400" dirty="0"/>
          </a:p>
        </p:txBody>
      </p:sp>
      <p:sp>
        <p:nvSpPr>
          <p:cNvPr id="12" name="stat value"/>
          <p:cNvSpPr txBox="1"/>
          <p:nvPr/>
        </p:nvSpPr>
        <p:spPr>
          <a:xfrm>
            <a:off x="5989320" y="4389120"/>
            <a:ext cx="2697480" cy="548640"/>
          </a:xfrm>
          <a:prstGeom prst="rect">
            <a:avLst/>
          </a:prstGeom>
          <a:noFill/>
          <a:ln/>
        </p:spPr>
        <p:txBody>
          <a:bodyPr wrap="square" lIns="0" tIns="0" rIns="0" bIns="0" rtlCol="0" anchor="t"/>
          <a:lstStyle/>
          <a:p>
            <a:pPr marL="0" indent="0" algn="l">
              <a:lnSpc>
                <a:spcPct val="100000"/>
              </a:lnSpc>
              <a:buNone/>
            </a:pPr>
            <a:r>
              <a:rPr lang="en-US" sz="3000" dirty="0">
                <a:solidFill>
                  <a:schemeClr val="tx1"/>
                </a:solidFill>
                <a:latin typeface="Manrope ExtraBold" pitchFamily="34" charset="0"/>
                <a:ea typeface="Manrope ExtraBold" pitchFamily="34" charset="-122"/>
                <a:cs typeface="Manrope ExtraBold" pitchFamily="34" charset="-120"/>
              </a:rPr>
              <a:t>0.454 → 0.451</a:t>
            </a:r>
            <a:endParaRPr lang="en-US" sz="3000" dirty="0"/>
          </a:p>
        </p:txBody>
      </p:sp>
      <p:sp>
        <p:nvSpPr>
          <p:cNvPr id="13" name="stat label"/>
          <p:cNvSpPr txBox="1"/>
          <p:nvPr/>
        </p:nvSpPr>
        <p:spPr>
          <a:xfrm>
            <a:off x="5989320" y="4956048"/>
            <a:ext cx="269748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nDCG@20</a:t>
            </a:r>
            <a:endParaRPr lang="en-US" sz="1400" dirty="0"/>
          </a:p>
        </p:txBody>
      </p:sp>
      <p:sp>
        <p:nvSpPr>
          <p:cNvPr id="14" name="Text 11"/>
          <p:cNvSpPr txBox="1"/>
          <p:nvPr/>
        </p:nvSpPr>
        <p:spPr>
          <a:xfrm>
            <a:off x="8915400" y="4434840"/>
            <a:ext cx="2724912" cy="731520"/>
          </a:xfrm>
          <a:prstGeom prst="rect">
            <a:avLst/>
          </a:prstGeom>
          <a:noFill/>
          <a:ln/>
        </p:spPr>
        <p:txBody>
          <a:bodyPr wrap="square" lIns="0" tIns="0" rIns="0" bIns="0" rtlCol="0" anchor="t"/>
          <a:lstStyle/>
          <a:p>
            <a:pPr marL="0" indent="0" algn="l">
              <a:lnSpc>
                <a:spcPct val="108000"/>
              </a:lnSpc>
              <a:buNone/>
            </a:pPr>
            <a:r>
              <a:rPr lang="en-US" sz="1200" dirty="0">
                <a:solidFill>
                  <a:schemeClr val="tx2"/>
                </a:solidFill>
                <a:latin typeface="IBM Plex Mono" pitchFamily="34" charset="0"/>
                <a:ea typeface="IBM Plex Mono" pitchFamily="34" charset="-122"/>
                <a:cs typeface="IBM Plex Mono" pitchFamily="34" charset="-120"/>
              </a:rPr>
              <a:t>wan_a: 30 ms round trip, 100 Mbit/s, channel-level emulation</a:t>
            </a:r>
            <a:endParaRPr lang="en-US" sz="12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Where the rounds go</a:t>
            </a:r>
            <a:endParaRPr lang="en-US" sz="3400" dirty="0"/>
          </a:p>
        </p:txBody>
      </p:sp>
      <p:sp>
        <p:nvSpPr>
          <p:cNvPr id="3" name="figure panel"/>
          <p:cNvSpPr/>
          <p:nvPr/>
        </p:nvSpPr>
        <p:spPr>
          <a:xfrm>
            <a:off x="548640" y="1463040"/>
            <a:ext cx="4572000" cy="4532562"/>
          </a:xfrm>
          <a:prstGeom prst="roundRect">
            <a:avLst>
              <a:gd name="adj" fmla="val 3228"/>
            </a:avLst>
          </a:prstGeom>
          <a:solidFill>
            <a:schemeClr val="accent5"/>
          </a:solidFill>
          <a:ln/>
        </p:spPr>
      </p:sp>
      <p:pic>
        <p:nvPicPr>
          <p:cNvPr id="4" name="Image 0" descr="Share of communication rounds by stage, three configurations"/>
          <p:cNvPicPr>
            <a:picLocks noChangeAspect="1"/>
          </p:cNvPicPr>
          <p:nvPr/>
        </p:nvPicPr>
        <p:blipFill>
          <a:blip r:embed="rId3"/>
          <a:stretch>
            <a:fillRect/>
          </a:stretch>
        </p:blipFill>
        <p:spPr>
          <a:xfrm>
            <a:off x="658368" y="1572768"/>
            <a:ext cx="4352544" cy="4313106"/>
          </a:xfrm>
          <a:prstGeom prst="rect">
            <a:avLst/>
          </a:prstGeom>
        </p:spPr>
      </p:pic>
      <p:sp>
        <p:nvSpPr>
          <p:cNvPr id="5" name="data source"/>
          <p:cNvSpPr txBox="1"/>
          <p:nvPr/>
        </p:nvSpPr>
        <p:spPr>
          <a:xfrm>
            <a:off x="548640" y="6087042"/>
            <a:ext cx="457200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bench_stages.jsonl  ·  F9, left</a:t>
            </a:r>
            <a:endParaRPr lang="en-US" sz="1050" dirty="0"/>
          </a:p>
        </p:txBody>
      </p:sp>
      <p:sp>
        <p:nvSpPr>
          <p:cNvPr id="6" name="stat value"/>
          <p:cNvSpPr txBox="1"/>
          <p:nvPr/>
        </p:nvSpPr>
        <p:spPr>
          <a:xfrm>
            <a:off x="5669280" y="1508760"/>
            <a:ext cx="5943600" cy="868680"/>
          </a:xfrm>
          <a:prstGeom prst="rect">
            <a:avLst/>
          </a:prstGeom>
          <a:noFill/>
          <a:ln/>
        </p:spPr>
        <p:txBody>
          <a:bodyPr wrap="square" lIns="0" tIns="0" rIns="0" bIns="0" rtlCol="0" anchor="t"/>
          <a:lstStyle/>
          <a:p>
            <a:pPr marL="0" indent="0" algn="l">
              <a:lnSpc>
                <a:spcPct val="100000"/>
              </a:lnSpc>
              <a:buNone/>
            </a:pPr>
            <a:r>
              <a:rPr lang="en-US" sz="5400" dirty="0">
                <a:solidFill>
                  <a:schemeClr val="accent1"/>
                </a:solidFill>
                <a:latin typeface="Manrope ExtraBold" pitchFamily="34" charset="0"/>
                <a:ea typeface="Manrope ExtraBold" pitchFamily="34" charset="-122"/>
                <a:cs typeface="Manrope ExtraBold" pitchFamily="34" charset="-120"/>
              </a:rPr>
              <a:t>69 to 74%</a:t>
            </a:r>
            <a:endParaRPr lang="en-US" sz="5400" dirty="0"/>
          </a:p>
        </p:txBody>
      </p:sp>
      <p:sp>
        <p:nvSpPr>
          <p:cNvPr id="7" name="stat label"/>
          <p:cNvSpPr txBox="1"/>
          <p:nvPr/>
        </p:nvSpPr>
        <p:spPr>
          <a:xfrm>
            <a:off x="5669280" y="2395728"/>
            <a:ext cx="594360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of all rounds are truncation, in every configuration</a:t>
            </a:r>
            <a:endParaRPr lang="en-US" sz="1400" dirty="0"/>
          </a:p>
        </p:txBody>
      </p:sp>
      <p:sp>
        <p:nvSpPr>
          <p:cNvPr id="8" name="stat value"/>
          <p:cNvSpPr txBox="1"/>
          <p:nvPr/>
        </p:nvSpPr>
        <p:spPr>
          <a:xfrm>
            <a:off x="5669280" y="3200400"/>
            <a:ext cx="283464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3.1%</a:t>
            </a:r>
            <a:endParaRPr lang="en-US" sz="4000" dirty="0"/>
          </a:p>
        </p:txBody>
      </p:sp>
      <p:sp>
        <p:nvSpPr>
          <p:cNvPr id="9" name="stat label"/>
          <p:cNvSpPr txBox="1"/>
          <p:nvPr/>
        </p:nvSpPr>
        <p:spPr>
          <a:xfrm>
            <a:off x="5669280" y="3904488"/>
            <a:ext cx="283464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FSS comparison gate, in the one configuration that has it</a:t>
            </a:r>
            <a:endParaRPr lang="en-US" sz="1400" dirty="0"/>
          </a:p>
        </p:txBody>
      </p:sp>
      <p:sp>
        <p:nvSpPr>
          <p:cNvPr id="10" name="stat value"/>
          <p:cNvSpPr txBox="1"/>
          <p:nvPr/>
        </p:nvSpPr>
        <p:spPr>
          <a:xfrm>
            <a:off x="8686800" y="3200400"/>
            <a:ext cx="2953512"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0 and 0</a:t>
            </a:r>
            <a:endParaRPr lang="en-US" sz="4000" dirty="0"/>
          </a:p>
        </p:txBody>
      </p:sp>
      <p:sp>
        <p:nvSpPr>
          <p:cNvPr id="11" name="stat label"/>
          <p:cNvSpPr txBox="1"/>
          <p:nvPr/>
        </p:nvSpPr>
        <p:spPr>
          <a:xfrm>
            <a:off x="8686800" y="3904488"/>
            <a:ext cx="2953512"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rounds and bytes left unexplained by the breakdown</a:t>
            </a:r>
            <a:endParaRPr lang="en-US" sz="1400" dirty="0"/>
          </a:p>
        </p:txBody>
      </p:sp>
      <p:sp>
        <p:nvSpPr>
          <p:cNvPr id="12" name="Text 9"/>
          <p:cNvSpPr txBox="1"/>
          <p:nvPr/>
        </p:nvSpPr>
        <p:spPr>
          <a:xfrm>
            <a:off x="5669280" y="4846320"/>
            <a:ext cx="5943600" cy="822960"/>
          </a:xfrm>
          <a:prstGeom prst="rect">
            <a:avLst/>
          </a:prstGeom>
          <a:noFill/>
          <a:ln/>
        </p:spPr>
        <p:txBody>
          <a:bodyPr wrap="square" lIns="0" tIns="0" rIns="0" bIns="0" rtlCol="0" anchor="t"/>
          <a:lstStyle/>
          <a:p>
            <a:pPr marL="0" indent="0" algn="l">
              <a:lnSpc>
                <a:spcPct val="108000"/>
              </a:lnSpc>
              <a:buNone/>
            </a:pPr>
            <a:r>
              <a:rPr lang="en-US" sz="1800" dirty="0">
                <a:solidFill>
                  <a:schemeClr val="tx1"/>
                </a:solidFill>
                <a:latin typeface="Manrope" pitchFamily="34" charset="0"/>
                <a:ea typeface="Manrope" pitchFamily="34" charset="-122"/>
                <a:cs typeface="Manrope" pitchFamily="34" charset="-120"/>
              </a:rPr>
              <a:t>To make training faster, make truncation cheaper. The sophisticated part is not the bottleneck.</a:t>
            </a:r>
            <a:endParaRPr lang="en-US" sz="18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The theorem, measured</a:t>
            </a:r>
            <a:endParaRPr lang="en-US" sz="3400" dirty="0"/>
          </a:p>
        </p:txBody>
      </p:sp>
      <p:sp>
        <p:nvSpPr>
          <p:cNvPr id="3" name="figure panel"/>
          <p:cNvSpPr/>
          <p:nvPr/>
        </p:nvSpPr>
        <p:spPr>
          <a:xfrm>
            <a:off x="548640" y="1463040"/>
            <a:ext cx="5120640" cy="4386706"/>
          </a:xfrm>
          <a:prstGeom prst="roundRect">
            <a:avLst>
              <a:gd name="adj" fmla="val 3335"/>
            </a:avLst>
          </a:prstGeom>
          <a:solidFill>
            <a:schemeClr val="accent5"/>
          </a:solidFill>
          <a:ln/>
        </p:spPr>
      </p:sp>
      <p:pic>
        <p:nvPicPr>
          <p:cNvPr id="4" name="Image 0" descr="Traffic against input matrix size"/>
          <p:cNvPicPr>
            <a:picLocks noChangeAspect="1"/>
          </p:cNvPicPr>
          <p:nvPr/>
        </p:nvPicPr>
        <p:blipFill>
          <a:blip r:embed="rId3"/>
          <a:stretch>
            <a:fillRect/>
          </a:stretch>
        </p:blipFill>
        <p:spPr>
          <a:xfrm>
            <a:off x="658368" y="1572768"/>
            <a:ext cx="4901184" cy="4167250"/>
          </a:xfrm>
          <a:prstGeom prst="rect">
            <a:avLst/>
          </a:prstGeom>
        </p:spPr>
      </p:pic>
      <p:sp>
        <p:nvSpPr>
          <p:cNvPr id="5" name="data source"/>
          <p:cNvSpPr txBox="1"/>
          <p:nvPr/>
        </p:nvSpPr>
        <p:spPr>
          <a:xfrm>
            <a:off x="548640" y="5941186"/>
            <a:ext cx="512064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bench_sweep.jsonl  ·  F7, right</a:t>
            </a:r>
            <a:endParaRPr lang="en-US" sz="1050" dirty="0"/>
          </a:p>
        </p:txBody>
      </p:sp>
      <p:sp>
        <p:nvSpPr>
          <p:cNvPr id="6" name="stat value"/>
          <p:cNvSpPr txBox="1"/>
          <p:nvPr/>
        </p:nvSpPr>
        <p:spPr>
          <a:xfrm>
            <a:off x="6172200" y="1508760"/>
            <a:ext cx="265176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4×</a:t>
            </a:r>
            <a:endParaRPr lang="en-US" sz="4000" dirty="0"/>
          </a:p>
        </p:txBody>
      </p:sp>
      <p:sp>
        <p:nvSpPr>
          <p:cNvPr id="7" name="stat label"/>
          <p:cNvSpPr txBox="1"/>
          <p:nvPr/>
        </p:nvSpPr>
        <p:spPr>
          <a:xfrm>
            <a:off x="6172200" y="2212848"/>
            <a:ext cx="26517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larger input matrix, from 235 to 943 users</a:t>
            </a:r>
            <a:endParaRPr lang="en-US" sz="1400" dirty="0"/>
          </a:p>
        </p:txBody>
      </p:sp>
      <p:sp>
        <p:nvSpPr>
          <p:cNvPr id="8" name="stat value"/>
          <p:cNvSpPr txBox="1"/>
          <p:nvPr/>
        </p:nvSpPr>
        <p:spPr>
          <a:xfrm>
            <a:off x="9006840" y="1508760"/>
            <a:ext cx="2633472" cy="685800"/>
          </a:xfrm>
          <a:prstGeom prst="rect">
            <a:avLst/>
          </a:prstGeom>
          <a:noFill/>
          <a:ln/>
        </p:spPr>
        <p:txBody>
          <a:bodyPr wrap="square" lIns="0" tIns="0" rIns="0" bIns="0" rtlCol="0" anchor="t"/>
          <a:lstStyle/>
          <a:p>
            <a:pPr marL="0" indent="0" algn="l">
              <a:lnSpc>
                <a:spcPct val="100000"/>
              </a:lnSpc>
              <a:buNone/>
            </a:pPr>
            <a:r>
              <a:rPr lang="en-US" sz="4000" dirty="0">
                <a:solidFill>
                  <a:schemeClr val="accent1"/>
                </a:solidFill>
                <a:latin typeface="Manrope ExtraBold" pitchFamily="34" charset="0"/>
                <a:ea typeface="Manrope ExtraBold" pitchFamily="34" charset="-122"/>
                <a:cs typeface="Manrope ExtraBold" pitchFamily="34" charset="-120"/>
              </a:rPr>
              <a:t>+4.4%</a:t>
            </a:r>
            <a:endParaRPr lang="en-US" sz="4000" dirty="0"/>
          </a:p>
        </p:txBody>
      </p:sp>
      <p:sp>
        <p:nvSpPr>
          <p:cNvPr id="9" name="stat label"/>
          <p:cNvSpPr txBox="1"/>
          <p:nvPr/>
        </p:nvSpPr>
        <p:spPr>
          <a:xfrm>
            <a:off x="9006840" y="2212848"/>
            <a:ext cx="2633472"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traffic, from 62.03 to 64.75 MB</a:t>
            </a:r>
            <a:endParaRPr lang="en-US" sz="1400" dirty="0"/>
          </a:p>
        </p:txBody>
      </p:sp>
      <p:sp>
        <p:nvSpPr>
          <p:cNvPr id="10" name="stat value"/>
          <p:cNvSpPr txBox="1"/>
          <p:nvPr/>
        </p:nvSpPr>
        <p:spPr>
          <a:xfrm>
            <a:off x="6172200" y="2971800"/>
            <a:ext cx="265176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2,686</a:t>
            </a:r>
            <a:endParaRPr lang="en-US" sz="4000" dirty="0"/>
          </a:p>
        </p:txBody>
      </p:sp>
      <p:sp>
        <p:nvSpPr>
          <p:cNvPr id="11" name="stat label"/>
          <p:cNvSpPr txBox="1"/>
          <p:nvPr/>
        </p:nvSpPr>
        <p:spPr>
          <a:xfrm>
            <a:off x="6172200" y="3675888"/>
            <a:ext cx="26517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rounds, at every matrix size</a:t>
            </a:r>
            <a:endParaRPr lang="en-US" sz="1400" dirty="0"/>
          </a:p>
        </p:txBody>
      </p:sp>
      <p:sp>
        <p:nvSpPr>
          <p:cNvPr id="12" name="divider"/>
          <p:cNvSpPr/>
          <p:nvPr/>
        </p:nvSpPr>
        <p:spPr>
          <a:xfrm>
            <a:off x="6172200" y="4343400"/>
            <a:ext cx="5468112" cy="0"/>
          </a:xfrm>
          <a:prstGeom prst="line">
            <a:avLst/>
          </a:prstGeom>
          <a:noFill/>
          <a:ln w="12700">
            <a:solidFill>
              <a:schemeClr val="accent4"/>
            </a:solidFill>
            <a:prstDash val="solid"/>
          </a:ln>
        </p:spPr>
      </p:sp>
      <p:sp>
        <p:nvSpPr>
          <p:cNvPr id="13" name="Text 10"/>
          <p:cNvSpPr txBox="1"/>
          <p:nvPr/>
        </p:nvSpPr>
        <p:spPr>
          <a:xfrm>
            <a:off x="6172200" y="4526280"/>
            <a:ext cx="5468112" cy="1188720"/>
          </a:xfrm>
          <a:prstGeom prst="rect">
            <a:avLst/>
          </a:prstGeom>
          <a:noFill/>
          <a:ln/>
        </p:spPr>
        <p:txBody>
          <a:bodyPr wrap="square" lIns="0" tIns="0" rIns="0" bIns="0" rtlCol="0" anchor="t"/>
          <a:lstStyle/>
          <a:p>
            <a:pPr marL="0" indent="0" algn="l">
              <a:lnSpc>
                <a:spcPct val="110000"/>
              </a:lnSpc>
              <a:buNone/>
            </a:pPr>
            <a:r>
              <a:rPr lang="en-US" sz="1600" dirty="0">
                <a:solidFill>
                  <a:schemeClr val="tx1"/>
                </a:solidFill>
                <a:latin typeface="Manrope" pitchFamily="34" charset="0"/>
                <a:ea typeface="Manrope" pitchFamily="34" charset="-122"/>
                <a:cs typeface="Manrope" pitchFamily="34" charset="-120"/>
              </a:rPr>
              <a:t>Communication follows the vectors in the computation, not the rating matrix. That is Nudge’s Theorem 4.2, and the reason we built on it.</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What measuring quality found</a:t>
            </a:r>
            <a:endParaRPr lang="en-US" sz="3400" dirty="0"/>
          </a:p>
        </p:txBody>
      </p:sp>
      <p:graphicFrame>
        <p:nvGraphicFramePr>
          <p:cNvPr id="3" name="Chart 0" descr="nDCG@20 before and after the gate range fix"/>
          <p:cNvGraphicFramePr/>
          <p:nvPr/>
        </p:nvGraphicFramePr>
        <p:xfrm>
          <a:off x="548640" y="1463040"/>
          <a:ext cx="64008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4" name="stat value"/>
          <p:cNvSpPr txBox="1"/>
          <p:nvPr/>
        </p:nvSpPr>
        <p:spPr>
          <a:xfrm>
            <a:off x="7315200" y="1508760"/>
            <a:ext cx="4325112" cy="640080"/>
          </a:xfrm>
          <a:prstGeom prst="rect">
            <a:avLst/>
          </a:prstGeom>
          <a:noFill/>
          <a:ln/>
        </p:spPr>
        <p:txBody>
          <a:bodyPr wrap="square" lIns="0" tIns="0" rIns="0" bIns="0" rtlCol="0" anchor="t"/>
          <a:lstStyle/>
          <a:p>
            <a:pPr marL="0" indent="0" algn="l">
              <a:lnSpc>
                <a:spcPct val="100000"/>
              </a:lnSpc>
              <a:buNone/>
            </a:pPr>
            <a:r>
              <a:rPr lang="en-US" sz="3600" dirty="0">
                <a:solidFill>
                  <a:schemeClr val="tx1"/>
                </a:solidFill>
                <a:latin typeface="Manrope ExtraBold" pitchFamily="34" charset="0"/>
                <a:ea typeface="Manrope ExtraBold" pitchFamily="34" charset="-122"/>
                <a:cs typeface="Manrope ExtraBold" pitchFamily="34" charset="-120"/>
              </a:rPr>
              <a:t>identical</a:t>
            </a:r>
            <a:endParaRPr lang="en-US" sz="3600" dirty="0"/>
          </a:p>
        </p:txBody>
      </p:sp>
      <p:sp>
        <p:nvSpPr>
          <p:cNvPr id="5" name="stat label"/>
          <p:cNvSpPr txBox="1"/>
          <p:nvPr/>
        </p:nvSpPr>
        <p:spPr>
          <a:xfrm>
            <a:off x="7315200" y="2167128"/>
            <a:ext cx="4325112" cy="914400"/>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rounds and bytes under both ranges: 11,519 rounds, 143,941,376 bytes. A cost-only benchmark could not see the bug.</a:t>
            </a:r>
            <a:endParaRPr lang="en-US" sz="1400" dirty="0"/>
          </a:p>
        </p:txBody>
      </p:sp>
      <p:sp>
        <p:nvSpPr>
          <p:cNvPr id="6" name="stat value"/>
          <p:cNvSpPr txBox="1"/>
          <p:nvPr/>
        </p:nvSpPr>
        <p:spPr>
          <a:xfrm>
            <a:off x="7315200" y="3246120"/>
            <a:ext cx="4325112" cy="685800"/>
          </a:xfrm>
          <a:prstGeom prst="rect">
            <a:avLst/>
          </a:prstGeom>
          <a:noFill/>
          <a:ln/>
        </p:spPr>
        <p:txBody>
          <a:bodyPr wrap="square" lIns="0" tIns="0" rIns="0" bIns="0" rtlCol="0" anchor="t"/>
          <a:lstStyle/>
          <a:p>
            <a:pPr marL="0" indent="0" algn="l">
              <a:lnSpc>
                <a:spcPct val="100000"/>
              </a:lnSpc>
              <a:buNone/>
            </a:pPr>
            <a:r>
              <a:rPr lang="en-US" sz="4000" dirty="0">
                <a:solidFill>
                  <a:schemeClr val="accent1"/>
                </a:solidFill>
                <a:latin typeface="Manrope ExtraBold" pitchFamily="34" charset="0"/>
                <a:ea typeface="Manrope ExtraBold" pitchFamily="34" charset="-122"/>
                <a:cs typeface="Manrope ExtraBold" pitchFamily="34" charset="-120"/>
              </a:rPr>
              <a:t>0.0020</a:t>
            </a:r>
            <a:endParaRPr lang="en-US" sz="4000" dirty="0"/>
          </a:p>
        </p:txBody>
      </p:sp>
      <p:sp>
        <p:nvSpPr>
          <p:cNvPr id="7" name="stat label"/>
          <p:cNvSpPr txBox="1"/>
          <p:nvPr/>
        </p:nvSpPr>
        <p:spPr>
          <a:xfrm>
            <a:off x="7315200" y="3950208"/>
            <a:ext cx="4325112"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real cost of revealing nothing, after the fix</a:t>
            </a:r>
            <a:endParaRPr lang="en-US" sz="1400" dirty="0"/>
          </a:p>
        </p:txBody>
      </p:sp>
      <p:sp>
        <p:nvSpPr>
          <p:cNvPr id="8" name="Text 5"/>
          <p:cNvSpPr txBox="1"/>
          <p:nvPr/>
        </p:nvSpPr>
        <p:spPr>
          <a:xfrm>
            <a:off x="7315200" y="4709160"/>
            <a:ext cx="4325112" cy="822960"/>
          </a:xfrm>
          <a:prstGeom prst="rect">
            <a:avLst/>
          </a:prstGeom>
          <a:noFill/>
          <a:ln/>
        </p:spPr>
        <p:txBody>
          <a:bodyPr wrap="square" lIns="0" tIns="0" rIns="0" bIns="0" rtlCol="0" anchor="t"/>
          <a:lstStyle/>
          <a:p>
            <a:pPr marL="0" indent="0" algn="l">
              <a:lnSpc>
                <a:spcPct val="108000"/>
              </a:lnSpc>
              <a:buNone/>
            </a:pPr>
            <a:r>
              <a:rPr lang="en-US" sz="1200" dirty="0">
                <a:solidFill>
                  <a:schemeClr val="tx2"/>
                </a:solidFill>
                <a:latin typeface="IBM Plex Mono" pitchFamily="34" charset="0"/>
                <a:ea typeface="IBM Plex Mono" pitchFamily="34" charset="-122"/>
                <a:cs typeface="IBM Plex Mono" pitchFamily="34" charset="-120"/>
              </a:rPr>
              <a:t>The first run’s values are recorded in commit d2138ad and at the gate’s call site, not in the committed data.</a:t>
            </a:r>
            <a:endParaRPr lang="en-US" sz="12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The result that goes against us</a:t>
            </a:r>
            <a:endParaRPr lang="en-US" sz="3400" dirty="0"/>
          </a:p>
        </p:txBody>
      </p:sp>
      <p:sp>
        <p:nvSpPr>
          <p:cNvPr id="3" name="figure panel"/>
          <p:cNvSpPr/>
          <p:nvPr/>
        </p:nvSpPr>
        <p:spPr>
          <a:xfrm>
            <a:off x="548640" y="1463040"/>
            <a:ext cx="5257800" cy="4355410"/>
          </a:xfrm>
          <a:prstGeom prst="roundRect">
            <a:avLst>
              <a:gd name="adj" fmla="val 3359"/>
            </a:avLst>
          </a:prstGeom>
          <a:solidFill>
            <a:schemeClr val="accent5"/>
          </a:solidFill>
          <a:ln/>
        </p:spPr>
      </p:sp>
      <p:pic>
        <p:nvPicPr>
          <p:cNvPr id="4" name="Image 0" descr="Session time on wan_a as built and batched"/>
          <p:cNvPicPr>
            <a:picLocks noChangeAspect="1"/>
          </p:cNvPicPr>
          <p:nvPr/>
        </p:nvPicPr>
        <p:blipFill>
          <a:blip r:embed="rId3"/>
          <a:stretch>
            <a:fillRect/>
          </a:stretch>
        </p:blipFill>
        <p:spPr>
          <a:xfrm>
            <a:off x="658368" y="1572768"/>
            <a:ext cx="5038344" cy="4135954"/>
          </a:xfrm>
          <a:prstGeom prst="rect">
            <a:avLst/>
          </a:prstGeom>
        </p:spPr>
      </p:pic>
      <p:sp>
        <p:nvSpPr>
          <p:cNvPr id="5" name="data source"/>
          <p:cNvSpPr txBox="1"/>
          <p:nvPr/>
        </p:nvSpPr>
        <p:spPr>
          <a:xfrm>
            <a:off x="548640" y="5909890"/>
            <a:ext cx="525780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bench_compose.jsonl  ·  wan_a  ·  F8, right</a:t>
            </a:r>
            <a:endParaRPr lang="en-US" sz="1050" dirty="0"/>
          </a:p>
        </p:txBody>
      </p:sp>
      <p:sp>
        <p:nvSpPr>
          <p:cNvPr id="6" name="stat value"/>
          <p:cNvSpPr txBox="1"/>
          <p:nvPr/>
        </p:nvSpPr>
        <p:spPr>
          <a:xfrm>
            <a:off x="6263640" y="1508760"/>
            <a:ext cx="5376672" cy="868680"/>
          </a:xfrm>
          <a:prstGeom prst="rect">
            <a:avLst/>
          </a:prstGeom>
          <a:noFill/>
          <a:ln/>
        </p:spPr>
        <p:txBody>
          <a:bodyPr wrap="square" lIns="0" tIns="0" rIns="0" bIns="0" rtlCol="0" anchor="t"/>
          <a:lstStyle/>
          <a:p>
            <a:pPr marL="0" indent="0" algn="l">
              <a:lnSpc>
                <a:spcPct val="100000"/>
              </a:lnSpc>
              <a:buNone/>
            </a:pPr>
            <a:r>
              <a:rPr lang="en-US" sz="5400" dirty="0">
                <a:solidFill>
                  <a:schemeClr val="accent1"/>
                </a:solidFill>
                <a:latin typeface="Manrope ExtraBold" pitchFamily="34" charset="0"/>
                <a:ea typeface="Manrope ExtraBold" pitchFamily="34" charset="-122"/>
                <a:cs typeface="Manrope ExtraBold" pitchFamily="34" charset="-120"/>
              </a:rPr>
              <a:t>4.6×</a:t>
            </a:r>
            <a:endParaRPr lang="en-US" sz="5400" dirty="0"/>
          </a:p>
        </p:txBody>
      </p:sp>
      <p:sp>
        <p:nvSpPr>
          <p:cNvPr id="7" name="stat label"/>
          <p:cNvSpPr txBox="1"/>
          <p:nvPr/>
        </p:nvSpPr>
        <p:spPr>
          <a:xfrm>
            <a:off x="6263640" y="2395728"/>
            <a:ext cx="5376672" cy="594360"/>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faster to download the whole catalogue on wan_a: 65.6 ms against 303.9 ms for our private retrieval</a:t>
            </a:r>
            <a:endParaRPr lang="en-US" sz="1400" dirty="0"/>
          </a:p>
        </p:txBody>
      </p:sp>
      <p:sp>
        <p:nvSpPr>
          <p:cNvPr id="8" name="stat value"/>
          <p:cNvSpPr txBox="1"/>
          <p:nvPr/>
        </p:nvSpPr>
        <p:spPr>
          <a:xfrm>
            <a:off x="6263640" y="3154680"/>
            <a:ext cx="256032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45×</a:t>
            </a:r>
            <a:endParaRPr lang="en-US" sz="4000" dirty="0"/>
          </a:p>
        </p:txBody>
      </p:sp>
      <p:sp>
        <p:nvSpPr>
          <p:cNvPr id="9" name="stat label"/>
          <p:cNvSpPr txBox="1"/>
          <p:nvPr/>
        </p:nvSpPr>
        <p:spPr>
          <a:xfrm>
            <a:off x="6263640" y="3858768"/>
            <a:ext cx="256032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more bytes for the download</a:t>
            </a:r>
            <a:endParaRPr lang="en-US" sz="1400" dirty="0"/>
          </a:p>
        </p:txBody>
      </p:sp>
      <p:sp>
        <p:nvSpPr>
          <p:cNvPr id="10" name="stat value"/>
          <p:cNvSpPr txBox="1"/>
          <p:nvPr/>
        </p:nvSpPr>
        <p:spPr>
          <a:xfrm>
            <a:off x="9006840" y="3154680"/>
            <a:ext cx="2633472"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33.9 ms</a:t>
            </a:r>
            <a:endParaRPr lang="en-US" sz="4000" dirty="0"/>
          </a:p>
        </p:txBody>
      </p:sp>
      <p:sp>
        <p:nvSpPr>
          <p:cNvPr id="11" name="stat label"/>
          <p:cNvSpPr txBox="1"/>
          <p:nvPr/>
        </p:nvSpPr>
        <p:spPr>
          <a:xfrm>
            <a:off x="9006840" y="3858768"/>
            <a:ext cx="2633472"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batched private retrieval, one round trip. Not built.</a:t>
            </a:r>
            <a:endParaRPr lang="en-US" sz="1400" dirty="0"/>
          </a:p>
        </p:txBody>
      </p:sp>
      <p:sp>
        <p:nvSpPr>
          <p:cNvPr id="12" name="Text 9"/>
          <p:cNvSpPr txBox="1"/>
          <p:nvPr/>
        </p:nvSpPr>
        <p:spPr>
          <a:xfrm>
            <a:off x="6263640" y="4663440"/>
            <a:ext cx="5376672" cy="822960"/>
          </a:xfrm>
          <a:prstGeom prst="rect">
            <a:avLst/>
          </a:prstGeom>
          <a:noFill/>
          <a:ln/>
        </p:spPr>
        <p:txBody>
          <a:bodyPr wrap="square" lIns="0" tIns="0" rIns="0" bIns="0" rtlCol="0" anchor="t"/>
          <a:lstStyle/>
          <a:p>
            <a:pPr marL="0" indent="0" algn="l">
              <a:lnSpc>
                <a:spcPct val="108000"/>
              </a:lnSpc>
              <a:buNone/>
            </a:pPr>
            <a:r>
              <a:rPr lang="en-US" sz="1800" dirty="0">
                <a:solidFill>
                  <a:schemeClr val="tx1"/>
                </a:solidFill>
                <a:latin typeface="Manrope" pitchFamily="34" charset="0"/>
                <a:ea typeface="Manrope" pitchFamily="34" charset="-122"/>
                <a:cs typeface="Manrope" pitchFamily="34" charset="-120"/>
              </a:rPr>
              <a:t>We fetch ten items one after another, so we pay ten round trips. The download pays one.</a:t>
            </a:r>
            <a:endParaRPr lang="en-US" sz="18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The malicious client</a:t>
            </a:r>
            <a:endParaRPr lang="en-US" sz="3400" dirty="0"/>
          </a:p>
        </p:txBody>
      </p:sp>
      <p:sp>
        <p:nvSpPr>
          <p:cNvPr id="3" name="figure panel"/>
          <p:cNvSpPr/>
          <p:nvPr/>
        </p:nvSpPr>
        <p:spPr>
          <a:xfrm>
            <a:off x="1569568" y="1371600"/>
            <a:ext cx="9052560" cy="3938293"/>
          </a:xfrm>
          <a:prstGeom prst="roundRect">
            <a:avLst>
              <a:gd name="adj" fmla="val 3715"/>
            </a:avLst>
          </a:prstGeom>
          <a:solidFill>
            <a:schemeClr val="accent5"/>
          </a:solidFill>
          <a:ln/>
        </p:spPr>
      </p:sp>
      <p:pic>
        <p:nvPicPr>
          <p:cNvPr id="4" name="Image 0" descr="Model quality against colluding clients, and DoS amplification against domain size"/>
          <p:cNvPicPr>
            <a:picLocks noChangeAspect="1"/>
          </p:cNvPicPr>
          <p:nvPr/>
        </p:nvPicPr>
        <p:blipFill>
          <a:blip r:embed="rId3"/>
          <a:stretch>
            <a:fillRect/>
          </a:stretch>
        </p:blipFill>
        <p:spPr>
          <a:xfrm>
            <a:off x="1679296" y="1481328"/>
            <a:ext cx="8833104" cy="3718837"/>
          </a:xfrm>
          <a:prstGeom prst="rect">
            <a:avLst/>
          </a:prstGeom>
        </p:spPr>
      </p:pic>
      <p:sp>
        <p:nvSpPr>
          <p:cNvPr id="5" name="Text 2"/>
          <p:cNvSpPr txBox="1"/>
          <p:nvPr/>
        </p:nvSpPr>
        <p:spPr>
          <a:xfrm>
            <a:off x="1569568" y="5383045"/>
            <a:ext cx="548640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poison_study.jsonl, bench_dos.jsonl  ·  F11</a:t>
            </a:r>
            <a:endParaRPr lang="en-US" sz="1050" dirty="0"/>
          </a:p>
        </p:txBody>
      </p:sp>
      <p:sp>
        <p:nvSpPr>
          <p:cNvPr id="6" name="Text 3"/>
          <p:cNvSpPr txBox="1"/>
          <p:nvPr/>
        </p:nvSpPr>
        <p:spPr>
          <a:xfrm>
            <a:off x="1569568" y="5721373"/>
            <a:ext cx="4297680" cy="685800"/>
          </a:xfrm>
          <a:prstGeom prst="rect">
            <a:avLst/>
          </a:prstGeom>
          <a:noFill/>
          <a:ln/>
        </p:spPr>
        <p:txBody>
          <a:bodyPr wrap="square" lIns="0" tIns="0" rIns="0" bIns="0" rtlCol="0" anchor="t"/>
          <a:lstStyle/>
          <a:p>
            <a:pPr marL="0" indent="0" algn="l">
              <a:lnSpc>
                <a:spcPct val="105000"/>
              </a:lnSpc>
              <a:buNone/>
            </a:pPr>
            <a:r>
              <a:rPr lang="en-US" sz="1300" b="1" dirty="0">
                <a:solidFill>
                  <a:schemeClr val="tx1"/>
                </a:solidFill>
                <a:latin typeface="Manrope" pitchFamily="34" charset="0"/>
                <a:ea typeface="Manrope" pitchFamily="34" charset="-122"/>
                <a:cs typeface="Manrope" pitchFamily="34" charset="-120"/>
              </a:rPr>
              <a:t>Sixteen colluders</a:t>
            </a:r>
            <a:r>
              <a:rPr lang="en-US" sz="1300" dirty="0">
                <a:solidFill>
                  <a:schemeClr val="tx1"/>
                </a:solidFill>
                <a:latin typeface="Manrope" pitchFamily="34" charset="0"/>
                <a:ea typeface="Manrope" pitchFamily="34" charset="-122"/>
                <a:cs typeface="Manrope" pitchFamily="34" charset="-120"/>
              </a:rPr>
              <a:t> take nDCG@20 from 0.4536 to 0.0021. Only powers of two were run, so the collapse lies between 8 and 16. The fix costs one round per query.</a:t>
            </a:r>
            <a:endParaRPr lang="en-US" sz="1300" dirty="0"/>
          </a:p>
        </p:txBody>
      </p:sp>
      <p:sp>
        <p:nvSpPr>
          <p:cNvPr id="7" name="Text 4"/>
          <p:cNvSpPr txBox="1"/>
          <p:nvPr/>
        </p:nvSpPr>
        <p:spPr>
          <a:xfrm>
            <a:off x="6187288" y="5721373"/>
            <a:ext cx="4434840" cy="685800"/>
          </a:xfrm>
          <a:prstGeom prst="rect">
            <a:avLst/>
          </a:prstGeom>
          <a:noFill/>
          <a:ln/>
        </p:spPr>
        <p:txBody>
          <a:bodyPr wrap="square" lIns="0" tIns="0" rIns="0" bIns="0" rtlCol="0" anchor="t"/>
          <a:lstStyle/>
          <a:p>
            <a:pPr marL="0" indent="0" algn="l">
              <a:lnSpc>
                <a:spcPct val="105000"/>
              </a:lnSpc>
              <a:buNone/>
            </a:pPr>
            <a:r>
              <a:rPr lang="en-US" sz="1300" b="1" dirty="0">
                <a:solidFill>
                  <a:schemeClr val="accent1"/>
                </a:solidFill>
                <a:latin typeface="Manrope" pitchFamily="34" charset="0"/>
                <a:ea typeface="Manrope" pitchFamily="34" charset="-122"/>
                <a:cs typeface="Manrope" pitchFamily="34" charset="-120"/>
              </a:rPr>
              <a:t>One 227-byte key buys 142×</a:t>
            </a:r>
            <a:r>
              <a:rPr lang="en-US" sz="1300" dirty="0">
                <a:solidFill>
                  <a:schemeClr val="tx1"/>
                </a:solidFill>
                <a:latin typeface="Manrope" pitchFamily="34" charset="0"/>
                <a:ea typeface="Manrope" pitchFamily="34" charset="-122"/>
                <a:cs typeface="Manrope" pitchFamily="34" charset="-120"/>
              </a:rPr>
              <a:t> its own cost in server work in this run, over 100× in every run. Measured, not mitigated.</a:t>
            </a:r>
            <a:endParaRPr lang="en-US" sz="13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Timing</a:t>
            </a:r>
            <a:endParaRPr lang="en-US" sz="3400" dirty="0"/>
          </a:p>
        </p:txBody>
      </p:sp>
      <p:sp>
        <p:nvSpPr>
          <p:cNvPr id="3" name="figure panel"/>
          <p:cNvSpPr/>
          <p:nvPr/>
        </p:nvSpPr>
        <p:spPr>
          <a:xfrm>
            <a:off x="548640" y="1463040"/>
            <a:ext cx="8595360" cy="3615608"/>
          </a:xfrm>
          <a:prstGeom prst="roundRect">
            <a:avLst>
              <a:gd name="adj" fmla="val 4046"/>
            </a:avLst>
          </a:prstGeom>
          <a:solidFill>
            <a:schemeClr val="accent5"/>
          </a:solidFill>
          <a:ln/>
        </p:spPr>
      </p:sp>
      <p:pic>
        <p:nvPicPr>
          <p:cNvPr id="4" name="Image 0" descr="Server time per record index, and the permutation test"/>
          <p:cNvPicPr>
            <a:picLocks noChangeAspect="1"/>
          </p:cNvPicPr>
          <p:nvPr/>
        </p:nvPicPr>
        <p:blipFill>
          <a:blip r:embed="rId3"/>
          <a:stretch>
            <a:fillRect/>
          </a:stretch>
        </p:blipFill>
        <p:spPr>
          <a:xfrm>
            <a:off x="658368" y="1572768"/>
            <a:ext cx="8375904" cy="3396152"/>
          </a:xfrm>
          <a:prstGeom prst="rect">
            <a:avLst/>
          </a:prstGeom>
        </p:spPr>
      </p:pic>
      <p:sp>
        <p:nvSpPr>
          <p:cNvPr id="5" name="data source"/>
          <p:cNvSpPr txBox="1"/>
          <p:nvPr/>
        </p:nvSpPr>
        <p:spPr>
          <a:xfrm>
            <a:off x="548640" y="5170088"/>
            <a:ext cx="859536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bench_timing.jsonl  ·  8 records, 200 interleaved calls each  ·  F12</a:t>
            </a:r>
            <a:endParaRPr lang="en-US" sz="1050" dirty="0"/>
          </a:p>
        </p:txBody>
      </p:sp>
      <p:sp>
        <p:nvSpPr>
          <p:cNvPr id="6" name="stat value"/>
          <p:cNvSpPr txBox="1"/>
          <p:nvPr/>
        </p:nvSpPr>
        <p:spPr>
          <a:xfrm>
            <a:off x="9464040" y="1463040"/>
            <a:ext cx="2194560" cy="777240"/>
          </a:xfrm>
          <a:prstGeom prst="rect">
            <a:avLst/>
          </a:prstGeom>
          <a:noFill/>
          <a:ln/>
        </p:spPr>
        <p:txBody>
          <a:bodyPr wrap="square" lIns="0" tIns="0" rIns="0" bIns="0" rtlCol="0" anchor="t"/>
          <a:lstStyle/>
          <a:p>
            <a:pPr marL="0" indent="0" algn="l">
              <a:lnSpc>
                <a:spcPct val="100000"/>
              </a:lnSpc>
              <a:buNone/>
            </a:pPr>
            <a:r>
              <a:rPr lang="en-US" sz="4800" dirty="0">
                <a:solidFill>
                  <a:schemeClr val="accent1"/>
                </a:solidFill>
                <a:latin typeface="Manrope ExtraBold" pitchFamily="34" charset="0"/>
                <a:ea typeface="Manrope ExtraBold" pitchFamily="34" charset="-122"/>
                <a:cs typeface="Manrope ExtraBold" pitchFamily="34" charset="-120"/>
              </a:rPr>
              <a:t>≤ 2%</a:t>
            </a:r>
            <a:endParaRPr lang="en-US" sz="4800" dirty="0"/>
          </a:p>
        </p:txBody>
      </p:sp>
      <p:sp>
        <p:nvSpPr>
          <p:cNvPr id="7" name="stat label"/>
          <p:cNvSpPr txBox="1"/>
          <p:nvPr/>
        </p:nvSpPr>
        <p:spPr>
          <a:xfrm>
            <a:off x="9464040" y="2258568"/>
            <a:ext cx="2194560" cy="868680"/>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of an 87 µs call: the bound on any record-dependent timing</a:t>
            </a:r>
            <a:endParaRPr lang="en-US" sz="1400" dirty="0"/>
          </a:p>
        </p:txBody>
      </p:sp>
      <p:sp>
        <p:nvSpPr>
          <p:cNvPr id="8" name="stat value"/>
          <p:cNvSpPr txBox="1"/>
          <p:nvPr/>
        </p:nvSpPr>
        <p:spPr>
          <a:xfrm>
            <a:off x="9464040" y="3291840"/>
            <a:ext cx="2194560" cy="548640"/>
          </a:xfrm>
          <a:prstGeom prst="rect">
            <a:avLst/>
          </a:prstGeom>
          <a:noFill/>
          <a:ln/>
        </p:spPr>
        <p:txBody>
          <a:bodyPr wrap="square" lIns="0" tIns="0" rIns="0" bIns="0" rtlCol="0" anchor="t"/>
          <a:lstStyle/>
          <a:p>
            <a:pPr marL="0" indent="0" algn="l">
              <a:lnSpc>
                <a:spcPct val="100000"/>
              </a:lnSpc>
              <a:buNone/>
            </a:pPr>
            <a:r>
              <a:rPr lang="en-US" sz="3000" dirty="0">
                <a:solidFill>
                  <a:schemeClr val="tx1"/>
                </a:solidFill>
                <a:latin typeface="Manrope ExtraBold" pitchFamily="34" charset="0"/>
                <a:ea typeface="Manrope ExtraBold" pitchFamily="34" charset="-122"/>
                <a:cs typeface="Manrope ExtraBold" pitchFamily="34" charset="-120"/>
              </a:rPr>
              <a:t>p = 0.60</a:t>
            </a:r>
            <a:endParaRPr lang="en-US" sz="3000" dirty="0"/>
          </a:p>
        </p:txBody>
      </p:sp>
      <p:sp>
        <p:nvSpPr>
          <p:cNvPr id="9" name="stat label"/>
          <p:cNvSpPr txBox="1"/>
          <p:nvPr/>
        </p:nvSpPr>
        <p:spPr>
          <a:xfrm>
            <a:off x="9464040" y="3858768"/>
            <a:ext cx="21945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permutation test on shuffled labels</a:t>
            </a:r>
            <a:endParaRPr lang="en-US" sz="1400" dirty="0"/>
          </a:p>
        </p:txBody>
      </p:sp>
      <p:sp>
        <p:nvSpPr>
          <p:cNvPr id="10" name="Text 7"/>
          <p:cNvSpPr txBox="1"/>
          <p:nvPr/>
        </p:nvSpPr>
        <p:spPr>
          <a:xfrm>
            <a:off x="548640" y="5440680"/>
            <a:ext cx="10789920" cy="640080"/>
          </a:xfrm>
          <a:prstGeom prst="rect">
            <a:avLst/>
          </a:prstGeom>
          <a:noFill/>
          <a:ln/>
        </p:spPr>
        <p:txBody>
          <a:bodyPr wrap="square" lIns="0" tIns="0" rIns="0" bIns="0" rtlCol="0" anchor="t"/>
          <a:lstStyle/>
          <a:p>
            <a:pPr marL="0" indent="0" algn="l">
              <a:lnSpc>
                <a:spcPct val="108000"/>
              </a:lnSpc>
              <a:buNone/>
            </a:pPr>
            <a:r>
              <a:rPr lang="en-US" sz="1700" dirty="0">
                <a:solidFill>
                  <a:schemeClr val="tx1"/>
                </a:solidFill>
                <a:latin typeface="Manrope" pitchFamily="34" charset="0"/>
                <a:ea typeface="Manrope" pitchFamily="34" charset="-122"/>
                <a:cs typeface="Manrope" pitchFamily="34" charset="-120"/>
              </a:rPr>
              <a:t>The spread between records, 1.7 µs, is smaller than the noise within one record, 6.0 µs. A bound, not a proof of constant time.</a:t>
            </a:r>
            <a:endParaRPr lang="en-US" sz="17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What we do not claim</a:t>
            </a:r>
            <a:endParaRPr lang="en-US" sz="3400" dirty="0"/>
          </a:p>
        </p:txBody>
      </p:sp>
      <p:sp>
        <p:nvSpPr>
          <p:cNvPr id="3" name="Text 1"/>
          <p:cNvSpPr txBox="1"/>
          <p:nvPr/>
        </p:nvSpPr>
        <p:spPr>
          <a:xfrm>
            <a:off x="548640" y="1536192"/>
            <a:ext cx="2011680" cy="274320"/>
          </a:xfrm>
          <a:prstGeom prst="rect">
            <a:avLst/>
          </a:prstGeom>
          <a:noFill/>
          <a:ln/>
        </p:spPr>
        <p:txBody>
          <a:bodyPr wrap="square" lIns="0" tIns="0" rIns="0" bIns="0" rtlCol="0" anchor="t"/>
          <a:lstStyle/>
          <a:p>
            <a:pPr marL="0" indent="0" algn="l">
              <a:lnSpc>
                <a:spcPct val="100000"/>
              </a:lnSpc>
              <a:buNone/>
            </a:pPr>
            <a:r>
              <a:rPr lang="en-US" sz="1200" b="1" dirty="0">
                <a:solidFill>
                  <a:schemeClr val="accent1"/>
                </a:solidFill>
                <a:latin typeface="IBM Plex Mono" pitchFamily="34" charset="0"/>
                <a:ea typeface="IBM Plex Mono" pitchFamily="34" charset="-122"/>
                <a:cs typeface="IBM Plex Mono" pitchFamily="34" charset="-120"/>
              </a:rPr>
              <a:t>TWO SERVERS</a:t>
            </a:r>
            <a:endParaRPr lang="en-US" sz="1200" dirty="0"/>
          </a:p>
        </p:txBody>
      </p:sp>
      <p:sp>
        <p:nvSpPr>
          <p:cNvPr id="4" name="Text 2"/>
          <p:cNvSpPr txBox="1"/>
          <p:nvPr/>
        </p:nvSpPr>
        <p:spPr>
          <a:xfrm>
            <a:off x="2743200" y="1481328"/>
            <a:ext cx="8897112" cy="548640"/>
          </a:xfrm>
          <a:prstGeom prst="rect">
            <a:avLst/>
          </a:prstGeom>
          <a:noFill/>
          <a:ln/>
        </p:spPr>
        <p:txBody>
          <a:bodyPr wrap="square" lIns="0" tIns="0" rIns="0" bIns="0" rtlCol="0" anchor="t"/>
          <a:lstStyle/>
          <a:p>
            <a:pPr marL="0" indent="0" algn="l">
              <a:lnSpc>
                <a:spcPct val="100000"/>
              </a:lnSpc>
              <a:buNone/>
            </a:pPr>
            <a:r>
              <a:rPr lang="en-US" sz="1800" b="1" dirty="0">
                <a:solidFill>
                  <a:schemeClr val="tx1"/>
                </a:solidFill>
                <a:latin typeface="Manrope" pitchFamily="34" charset="0"/>
                <a:ea typeface="Manrope" pitchFamily="34" charset="-122"/>
                <a:cs typeface="Manrope" pitchFamily="34" charset="-120"/>
              </a:rPr>
              <a:t>If two of the three servers collude, they learn everything. The whole system rests on this assumption.</a:t>
            </a:r>
            <a:endParaRPr lang="en-US" sz="1800" dirty="0"/>
          </a:p>
        </p:txBody>
      </p:sp>
      <p:sp>
        <p:nvSpPr>
          <p:cNvPr id="5" name="divider"/>
          <p:cNvSpPr/>
          <p:nvPr/>
        </p:nvSpPr>
        <p:spPr>
          <a:xfrm>
            <a:off x="548640" y="2084832"/>
            <a:ext cx="11094415" cy="0"/>
          </a:xfrm>
          <a:prstGeom prst="line">
            <a:avLst/>
          </a:prstGeom>
          <a:noFill/>
          <a:ln w="12700">
            <a:solidFill>
              <a:schemeClr val="accent4"/>
            </a:solidFill>
            <a:prstDash val="solid"/>
          </a:ln>
        </p:spPr>
      </p:sp>
      <p:sp>
        <p:nvSpPr>
          <p:cNvPr id="6" name="Text 4"/>
          <p:cNvSpPr txBox="1"/>
          <p:nvPr/>
        </p:nvSpPr>
        <p:spPr>
          <a:xfrm>
            <a:off x="548640" y="2267712"/>
            <a:ext cx="2011680"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DEVIATION</a:t>
            </a:r>
            <a:endParaRPr lang="en-US" sz="1200" dirty="0"/>
          </a:p>
        </p:txBody>
      </p:sp>
      <p:sp>
        <p:nvSpPr>
          <p:cNvPr id="7" name="Text 5"/>
          <p:cNvSpPr txBox="1"/>
          <p:nvPr/>
        </p:nvSpPr>
        <p:spPr>
          <a:xfrm>
            <a:off x="2743200" y="2212848"/>
            <a:ext cx="8897112" cy="548640"/>
          </a:xfrm>
          <a:prstGeom prst="rect">
            <a:avLst/>
          </a:prstGeom>
          <a:noFill/>
          <a:ln/>
        </p:spPr>
        <p:txBody>
          <a:bodyPr wrap="square" lIns="0" tIns="0" rIns="0" bIns="0" rtlCol="0" anchor="t"/>
          <a:lstStyle/>
          <a:p>
            <a:pPr marL="0" indent="0" algn="l">
              <a:lnSpc>
                <a:spcPct val="100000"/>
              </a:lnSpc>
              <a:buNone/>
            </a:pPr>
            <a:r>
              <a:rPr lang="en-US" sz="1800" dirty="0">
                <a:solidFill>
                  <a:schemeClr val="tx1"/>
                </a:solidFill>
                <a:latin typeface="Manrope" pitchFamily="34" charset="0"/>
                <a:ea typeface="Manrope" pitchFamily="34" charset="-122"/>
                <a:cs typeface="Manrope" pitchFamily="34" charset="-120"/>
              </a:rPr>
              <a:t>A server that deviates from the protocol is out of scope.</a:t>
            </a:r>
            <a:endParaRPr lang="en-US" sz="1800" dirty="0"/>
          </a:p>
        </p:txBody>
      </p:sp>
      <p:sp>
        <p:nvSpPr>
          <p:cNvPr id="8" name="divider"/>
          <p:cNvSpPr/>
          <p:nvPr/>
        </p:nvSpPr>
        <p:spPr>
          <a:xfrm>
            <a:off x="548640" y="2816352"/>
            <a:ext cx="11094415" cy="0"/>
          </a:xfrm>
          <a:prstGeom prst="line">
            <a:avLst/>
          </a:prstGeom>
          <a:noFill/>
          <a:ln w="12700">
            <a:solidFill>
              <a:schemeClr val="accent4"/>
            </a:solidFill>
            <a:prstDash val="solid"/>
          </a:ln>
        </p:spPr>
      </p:sp>
      <p:sp>
        <p:nvSpPr>
          <p:cNvPr id="9" name="Text 7"/>
          <p:cNvSpPr txBox="1"/>
          <p:nvPr/>
        </p:nvSpPr>
        <p:spPr>
          <a:xfrm>
            <a:off x="548640" y="2999232"/>
            <a:ext cx="2011680"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SCALE</a:t>
            </a:r>
            <a:endParaRPr lang="en-US" sz="1200" dirty="0"/>
          </a:p>
        </p:txBody>
      </p:sp>
      <p:sp>
        <p:nvSpPr>
          <p:cNvPr id="10" name="Text 8"/>
          <p:cNvSpPr txBox="1"/>
          <p:nvPr/>
        </p:nvSpPr>
        <p:spPr>
          <a:xfrm>
            <a:off x="2743200" y="2944368"/>
            <a:ext cx="8897112" cy="548640"/>
          </a:xfrm>
          <a:prstGeom prst="rect">
            <a:avLst/>
          </a:prstGeom>
          <a:noFill/>
          <a:ln/>
        </p:spPr>
        <p:txBody>
          <a:bodyPr wrap="square" lIns="0" tIns="0" rIns="0" bIns="0" rtlCol="0" anchor="t"/>
          <a:lstStyle/>
          <a:p>
            <a:pPr marL="0" indent="0" algn="l">
              <a:lnSpc>
                <a:spcPct val="100000"/>
              </a:lnSpc>
              <a:buNone/>
            </a:pPr>
            <a:r>
              <a:rPr lang="en-US" sz="1800" dirty="0">
                <a:solidFill>
                  <a:schemeClr val="tx1"/>
                </a:solidFill>
                <a:latin typeface="Manrope" pitchFamily="34" charset="0"/>
                <a:ea typeface="Manrope" pitchFamily="34" charset="-122"/>
                <a:cs typeface="Manrope" pitchFamily="34" charset="-120"/>
              </a:rPr>
              <a:t>MovieLens-100K only. Three parties in one process did not fit MovieLens-1M in memory.</a:t>
            </a:r>
            <a:endParaRPr lang="en-US" sz="1800" dirty="0"/>
          </a:p>
        </p:txBody>
      </p:sp>
      <p:sp>
        <p:nvSpPr>
          <p:cNvPr id="11" name="divider"/>
          <p:cNvSpPr/>
          <p:nvPr/>
        </p:nvSpPr>
        <p:spPr>
          <a:xfrm>
            <a:off x="548640" y="3547872"/>
            <a:ext cx="11094415" cy="0"/>
          </a:xfrm>
          <a:prstGeom prst="line">
            <a:avLst/>
          </a:prstGeom>
          <a:noFill/>
          <a:ln w="12700">
            <a:solidFill>
              <a:schemeClr val="accent4"/>
            </a:solidFill>
            <a:prstDash val="solid"/>
          </a:ln>
        </p:spPr>
      </p:sp>
      <p:sp>
        <p:nvSpPr>
          <p:cNvPr id="12" name="Text 10"/>
          <p:cNvSpPr txBox="1"/>
          <p:nvPr/>
        </p:nvSpPr>
        <p:spPr>
          <a:xfrm>
            <a:off x="548640" y="3730752"/>
            <a:ext cx="2011680"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NETWORK</a:t>
            </a:r>
            <a:endParaRPr lang="en-US" sz="1200" dirty="0"/>
          </a:p>
        </p:txBody>
      </p:sp>
      <p:sp>
        <p:nvSpPr>
          <p:cNvPr id="13" name="Text 11"/>
          <p:cNvSpPr txBox="1"/>
          <p:nvPr/>
        </p:nvSpPr>
        <p:spPr>
          <a:xfrm>
            <a:off x="2743200" y="3675888"/>
            <a:ext cx="8897112" cy="548640"/>
          </a:xfrm>
          <a:prstGeom prst="rect">
            <a:avLst/>
          </a:prstGeom>
          <a:noFill/>
          <a:ln/>
        </p:spPr>
        <p:txBody>
          <a:bodyPr wrap="square" lIns="0" tIns="0" rIns="0" bIns="0" rtlCol="0" anchor="t"/>
          <a:lstStyle/>
          <a:p>
            <a:pPr marL="0" indent="0" algn="l">
              <a:lnSpc>
                <a:spcPct val="100000"/>
              </a:lnSpc>
              <a:buNone/>
            </a:pPr>
            <a:r>
              <a:rPr lang="en-US" sz="1800" dirty="0">
                <a:solidFill>
                  <a:schemeClr val="tx1"/>
                </a:solidFill>
                <a:latin typeface="Manrope" pitchFamily="34" charset="0"/>
                <a:ea typeface="Manrope" pitchFamily="34" charset="-122"/>
                <a:cs typeface="Manrope" pitchFamily="34" charset="-120"/>
              </a:rPr>
              <a:t>Wide-area times come from a cost model on measured traffic, not from real networks.</a:t>
            </a:r>
            <a:endParaRPr lang="en-US" sz="1800" dirty="0"/>
          </a:p>
        </p:txBody>
      </p:sp>
      <p:sp>
        <p:nvSpPr>
          <p:cNvPr id="14" name="divider"/>
          <p:cNvSpPr/>
          <p:nvPr/>
        </p:nvSpPr>
        <p:spPr>
          <a:xfrm>
            <a:off x="548640" y="4279392"/>
            <a:ext cx="11094415" cy="0"/>
          </a:xfrm>
          <a:prstGeom prst="line">
            <a:avLst/>
          </a:prstGeom>
          <a:noFill/>
          <a:ln w="12700">
            <a:solidFill>
              <a:schemeClr val="accent4"/>
            </a:solidFill>
            <a:prstDash val="solid"/>
          </a:ln>
        </p:spPr>
      </p:sp>
      <p:sp>
        <p:nvSpPr>
          <p:cNvPr id="15" name="Text 13"/>
          <p:cNvSpPr txBox="1"/>
          <p:nvPr/>
        </p:nvSpPr>
        <p:spPr>
          <a:xfrm>
            <a:off x="548640" y="4462272"/>
            <a:ext cx="2011680"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PROOF</a:t>
            </a:r>
            <a:endParaRPr lang="en-US" sz="1200" dirty="0"/>
          </a:p>
        </p:txBody>
      </p:sp>
      <p:sp>
        <p:nvSpPr>
          <p:cNvPr id="16" name="Text 14"/>
          <p:cNvSpPr txBox="1"/>
          <p:nvPr/>
        </p:nvSpPr>
        <p:spPr>
          <a:xfrm>
            <a:off x="2743200" y="4407408"/>
            <a:ext cx="8897112" cy="548640"/>
          </a:xfrm>
          <a:prstGeom prst="rect">
            <a:avLst/>
          </a:prstGeom>
          <a:noFill/>
          <a:ln/>
        </p:spPr>
        <p:txBody>
          <a:bodyPr wrap="square" lIns="0" tIns="0" rIns="0" bIns="0" rtlCol="0" anchor="t"/>
          <a:lstStyle/>
          <a:p>
            <a:pPr marL="0" indent="0" algn="l">
              <a:lnSpc>
                <a:spcPct val="100000"/>
              </a:lnSpc>
              <a:buNone/>
            </a:pPr>
            <a:r>
              <a:rPr lang="en-US" sz="1800" dirty="0">
                <a:solidFill>
                  <a:schemeClr val="tx1"/>
                </a:solidFill>
                <a:latin typeface="Manrope" pitchFamily="34" charset="0"/>
                <a:ea typeface="Manrope" pitchFamily="34" charset="-122"/>
                <a:cs typeface="Manrope" pitchFamily="34" charset="-120"/>
              </a:rPr>
              <a:t>The security argument is a simulation sketch, not a formal proof.</a:t>
            </a:r>
            <a:endParaRPr lang="en-US" sz="1800" dirty="0"/>
          </a:p>
        </p:txBody>
      </p:sp>
      <p:sp>
        <p:nvSpPr>
          <p:cNvPr id="17" name="divider"/>
          <p:cNvSpPr/>
          <p:nvPr/>
        </p:nvSpPr>
        <p:spPr>
          <a:xfrm>
            <a:off x="548640" y="5010912"/>
            <a:ext cx="11094415" cy="0"/>
          </a:xfrm>
          <a:prstGeom prst="line">
            <a:avLst/>
          </a:prstGeom>
          <a:noFill/>
          <a:ln w="12700">
            <a:solidFill>
              <a:schemeClr val="accent4"/>
            </a:solidFill>
            <a:prstDash val="solid"/>
          </a:ln>
        </p:spPr>
      </p:sp>
      <p:sp>
        <p:nvSpPr>
          <p:cNvPr id="18" name="Text 16"/>
          <p:cNvSpPr txBox="1"/>
          <p:nvPr/>
        </p:nvSpPr>
        <p:spPr>
          <a:xfrm>
            <a:off x="548640" y="5193792"/>
            <a:ext cx="2011680" cy="274320"/>
          </a:xfrm>
          <a:prstGeom prst="rect">
            <a:avLst/>
          </a:prstGeom>
          <a:noFill/>
          <a:ln/>
        </p:spPr>
        <p:txBody>
          <a:bodyPr wrap="square" lIns="0" tIns="0" rIns="0" bIns="0" rtlCol="0" anchor="t"/>
          <a:lstStyle/>
          <a:p>
            <a:pPr marL="0" indent="0" algn="l">
              <a:lnSpc>
                <a:spcPct val="100000"/>
              </a:lnSpc>
              <a:buNone/>
            </a:pPr>
            <a:r>
              <a:rPr lang="en-US" sz="1200" dirty="0">
                <a:solidFill>
                  <a:schemeClr val="tx2"/>
                </a:solidFill>
                <a:latin typeface="IBM Plex Mono" pitchFamily="34" charset="0"/>
                <a:ea typeface="IBM Plex Mono" pitchFamily="34" charset="-122"/>
                <a:cs typeface="IBM Plex Mono" pitchFamily="34" charset="-120"/>
              </a:rPr>
              <a:t>TIMING</a:t>
            </a:r>
            <a:endParaRPr lang="en-US" sz="1200" dirty="0"/>
          </a:p>
        </p:txBody>
      </p:sp>
      <p:sp>
        <p:nvSpPr>
          <p:cNvPr id="19" name="Text 17"/>
          <p:cNvSpPr txBox="1"/>
          <p:nvPr/>
        </p:nvSpPr>
        <p:spPr>
          <a:xfrm>
            <a:off x="2743200" y="5138928"/>
            <a:ext cx="8897112" cy="548640"/>
          </a:xfrm>
          <a:prstGeom prst="rect">
            <a:avLst/>
          </a:prstGeom>
          <a:noFill/>
          <a:ln/>
        </p:spPr>
        <p:txBody>
          <a:bodyPr wrap="square" lIns="0" tIns="0" rIns="0" bIns="0" rtlCol="0" anchor="t"/>
          <a:lstStyle/>
          <a:p>
            <a:pPr marL="0" indent="0" algn="l">
              <a:lnSpc>
                <a:spcPct val="100000"/>
              </a:lnSpc>
              <a:buNone/>
            </a:pPr>
            <a:r>
              <a:rPr lang="en-US" sz="1800" dirty="0">
                <a:solidFill>
                  <a:schemeClr val="tx1"/>
                </a:solidFill>
                <a:latin typeface="Manrope" pitchFamily="34" charset="0"/>
                <a:ea typeface="Manrope" pitchFamily="34" charset="-122"/>
                <a:cs typeface="Manrope" pitchFamily="34" charset="-120"/>
              </a:rPr>
              <a:t>Absolute times drift with the laptop’s thermal state, so we report ratios.</a:t>
            </a:r>
            <a:endParaRPr lang="en-US" sz="18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Conclusion</a:t>
            </a:r>
            <a:endParaRPr lang="en-US" sz="3400" dirty="0"/>
          </a:p>
        </p:txBody>
      </p:sp>
      <p:sp>
        <p:nvSpPr>
          <p:cNvPr id="3" name="Text 1"/>
          <p:cNvSpPr txBox="1"/>
          <p:nvPr/>
        </p:nvSpPr>
        <p:spPr>
          <a:xfrm>
            <a:off x="548640" y="1609344"/>
            <a:ext cx="731520" cy="365760"/>
          </a:xfrm>
          <a:prstGeom prst="rect">
            <a:avLst/>
          </a:prstGeom>
          <a:noFill/>
          <a:ln/>
        </p:spPr>
        <p:txBody>
          <a:bodyPr wrap="square" lIns="0" tIns="0" rIns="0" bIns="0" rtlCol="0" anchor="t"/>
          <a:lstStyle/>
          <a:p>
            <a:pPr marL="0" indent="0" algn="l">
              <a:lnSpc>
                <a:spcPct val="100000"/>
              </a:lnSpc>
              <a:buNone/>
            </a:pPr>
            <a:r>
              <a:rPr lang="en-US" sz="1600" b="1" dirty="0">
                <a:solidFill>
                  <a:schemeClr val="tx2"/>
                </a:solidFill>
                <a:latin typeface="IBM Plex Mono" pitchFamily="34" charset="0"/>
                <a:ea typeface="IBM Plex Mono" pitchFamily="34" charset="-122"/>
                <a:cs typeface="IBM Plex Mono" pitchFamily="34" charset="-120"/>
              </a:rPr>
              <a:t>01</a:t>
            </a:r>
            <a:endParaRPr lang="en-US" sz="1600" dirty="0"/>
          </a:p>
        </p:txBody>
      </p:sp>
      <p:sp>
        <p:nvSpPr>
          <p:cNvPr id="4" name="Text 2"/>
          <p:cNvSpPr txBox="1"/>
          <p:nvPr/>
        </p:nvSpPr>
        <p:spPr>
          <a:xfrm>
            <a:off x="1417320" y="1554480"/>
            <a:ext cx="9692640" cy="868680"/>
          </a:xfrm>
          <a:prstGeom prst="rect">
            <a:avLst/>
          </a:prstGeom>
          <a:noFill/>
          <a:ln/>
        </p:spPr>
        <p:txBody>
          <a:bodyPr wrap="square" lIns="0" tIns="0" rIns="0" bIns="0" rtlCol="0" anchor="t"/>
          <a:lstStyle/>
          <a:p>
            <a:pPr marL="0" indent="0" algn="l">
              <a:lnSpc>
                <a:spcPct val="105000"/>
              </a:lnSpc>
              <a:buNone/>
            </a:pPr>
            <a:r>
              <a:rPr lang="en-US" sz="2400" dirty="0">
                <a:solidFill>
                  <a:schemeClr val="tx1"/>
                </a:solidFill>
                <a:latin typeface="Manrope" pitchFamily="34" charset="0"/>
                <a:ea typeface="Manrope" pitchFamily="34" charset="-122"/>
                <a:cs typeface="Manrope" pitchFamily="34" charset="-120"/>
              </a:rPr>
              <a:t>Composing private training and private delivery costs exactly the sum of the halves.</a:t>
            </a:r>
            <a:endParaRPr lang="en-US" sz="2400" dirty="0"/>
          </a:p>
        </p:txBody>
      </p:sp>
      <p:sp>
        <p:nvSpPr>
          <p:cNvPr id="5" name="Text 3"/>
          <p:cNvSpPr txBox="1"/>
          <p:nvPr/>
        </p:nvSpPr>
        <p:spPr>
          <a:xfrm>
            <a:off x="548640" y="2706624"/>
            <a:ext cx="731520" cy="365760"/>
          </a:xfrm>
          <a:prstGeom prst="rect">
            <a:avLst/>
          </a:prstGeom>
          <a:noFill/>
          <a:ln/>
        </p:spPr>
        <p:txBody>
          <a:bodyPr wrap="square" lIns="0" tIns="0" rIns="0" bIns="0" rtlCol="0" anchor="t"/>
          <a:lstStyle/>
          <a:p>
            <a:pPr marL="0" indent="0" algn="l">
              <a:lnSpc>
                <a:spcPct val="100000"/>
              </a:lnSpc>
              <a:buNone/>
            </a:pPr>
            <a:r>
              <a:rPr lang="en-US" sz="1600" b="1" dirty="0">
                <a:solidFill>
                  <a:schemeClr val="accent1"/>
                </a:solidFill>
                <a:latin typeface="IBM Plex Mono" pitchFamily="34" charset="0"/>
                <a:ea typeface="IBM Plex Mono" pitchFamily="34" charset="-122"/>
                <a:cs typeface="IBM Plex Mono" pitchFamily="34" charset="-120"/>
              </a:rPr>
              <a:t>02</a:t>
            </a:r>
            <a:endParaRPr lang="en-US" sz="1600" dirty="0"/>
          </a:p>
        </p:txBody>
      </p:sp>
      <p:sp>
        <p:nvSpPr>
          <p:cNvPr id="6" name="Text 4"/>
          <p:cNvSpPr txBox="1"/>
          <p:nvPr/>
        </p:nvSpPr>
        <p:spPr>
          <a:xfrm>
            <a:off x="1417320" y="2651760"/>
            <a:ext cx="9692640" cy="868680"/>
          </a:xfrm>
          <a:prstGeom prst="rect">
            <a:avLst/>
          </a:prstGeom>
          <a:noFill/>
          <a:ln/>
        </p:spPr>
        <p:txBody>
          <a:bodyPr wrap="square" lIns="0" tIns="0" rIns="0" bIns="0" rtlCol="0" anchor="t"/>
          <a:lstStyle/>
          <a:p>
            <a:pPr marL="0" indent="0" algn="l">
              <a:lnSpc>
                <a:spcPct val="105000"/>
              </a:lnSpc>
              <a:buNone/>
            </a:pPr>
            <a:r>
              <a:rPr lang="en-US" sz="2400" dirty="0">
                <a:solidFill>
                  <a:schemeClr val="tx1"/>
                </a:solidFill>
                <a:latin typeface="Manrope" pitchFamily="34" charset="0"/>
                <a:ea typeface="Manrope" pitchFamily="34" charset="-122"/>
                <a:cs typeface="Manrope" pitchFamily="34" charset="-120"/>
              </a:rPr>
              <a:t>Private delivery is not optional. Ten fetches reveal most of your taste, and both cheaper defences fail.</a:t>
            </a:r>
            <a:endParaRPr lang="en-US" sz="2400" dirty="0"/>
          </a:p>
        </p:txBody>
      </p:sp>
      <p:sp>
        <p:nvSpPr>
          <p:cNvPr id="7" name="Text 5"/>
          <p:cNvSpPr txBox="1"/>
          <p:nvPr/>
        </p:nvSpPr>
        <p:spPr>
          <a:xfrm>
            <a:off x="548640" y="3803904"/>
            <a:ext cx="731520" cy="365760"/>
          </a:xfrm>
          <a:prstGeom prst="rect">
            <a:avLst/>
          </a:prstGeom>
          <a:noFill/>
          <a:ln/>
        </p:spPr>
        <p:txBody>
          <a:bodyPr wrap="square" lIns="0" tIns="0" rIns="0" bIns="0" rtlCol="0" anchor="t"/>
          <a:lstStyle/>
          <a:p>
            <a:pPr marL="0" indent="0" algn="l">
              <a:lnSpc>
                <a:spcPct val="100000"/>
              </a:lnSpc>
              <a:buNone/>
            </a:pPr>
            <a:r>
              <a:rPr lang="en-US" sz="1600" b="1" dirty="0">
                <a:solidFill>
                  <a:schemeClr val="tx2"/>
                </a:solidFill>
                <a:latin typeface="IBM Plex Mono" pitchFamily="34" charset="0"/>
                <a:ea typeface="IBM Plex Mono" pitchFamily="34" charset="-122"/>
                <a:cs typeface="IBM Plex Mono" pitchFamily="34" charset="-120"/>
              </a:rPr>
              <a:t>03</a:t>
            </a:r>
            <a:endParaRPr lang="en-US" sz="1600" dirty="0"/>
          </a:p>
        </p:txBody>
      </p:sp>
      <p:sp>
        <p:nvSpPr>
          <p:cNvPr id="8" name="Text 6"/>
          <p:cNvSpPr txBox="1"/>
          <p:nvPr/>
        </p:nvSpPr>
        <p:spPr>
          <a:xfrm>
            <a:off x="1417320" y="3749040"/>
            <a:ext cx="9692640" cy="868680"/>
          </a:xfrm>
          <a:prstGeom prst="rect">
            <a:avLst/>
          </a:prstGeom>
          <a:noFill/>
          <a:ln/>
        </p:spPr>
        <p:txBody>
          <a:bodyPr wrap="square" lIns="0" tIns="0" rIns="0" bIns="0" rtlCol="0" anchor="t"/>
          <a:lstStyle/>
          <a:p>
            <a:pPr marL="0" indent="0" algn="l">
              <a:lnSpc>
                <a:spcPct val="105000"/>
              </a:lnSpc>
              <a:buNone/>
            </a:pPr>
            <a:r>
              <a:rPr lang="en-US" sz="2400" dirty="0">
                <a:solidFill>
                  <a:schemeClr val="tx1"/>
                </a:solidFill>
                <a:latin typeface="Manrope" pitchFamily="34" charset="0"/>
                <a:ea typeface="Manrope" pitchFamily="34" charset="-122"/>
                <a:cs typeface="Manrope" pitchFamily="34" charset="-120"/>
              </a:rPr>
              <a:t>About seventy percent of the cost is truncation. That is where to optimise.</a:t>
            </a:r>
            <a:endParaRPr lang="en-US" sz="2400" dirty="0"/>
          </a:p>
        </p:txBody>
      </p:sp>
      <p:sp>
        <p:nvSpPr>
          <p:cNvPr id="9" name="divider"/>
          <p:cNvSpPr/>
          <p:nvPr/>
        </p:nvSpPr>
        <p:spPr>
          <a:xfrm>
            <a:off x="548640" y="5074920"/>
            <a:ext cx="11094415" cy="0"/>
          </a:xfrm>
          <a:prstGeom prst="line">
            <a:avLst/>
          </a:prstGeom>
          <a:noFill/>
          <a:ln w="12700">
            <a:solidFill>
              <a:schemeClr val="accent4"/>
            </a:solidFill>
            <a:prstDash val="solid"/>
          </a:ln>
        </p:spPr>
      </p:sp>
      <p:sp>
        <p:nvSpPr>
          <p:cNvPr id="10" name="Text 8"/>
          <p:cNvSpPr txBox="1"/>
          <p:nvPr/>
        </p:nvSpPr>
        <p:spPr>
          <a:xfrm>
            <a:off x="548640" y="5257800"/>
            <a:ext cx="3657600" cy="548640"/>
          </a:xfrm>
          <a:prstGeom prst="rect">
            <a:avLst/>
          </a:prstGeom>
          <a:noFill/>
          <a:ln/>
        </p:spPr>
        <p:txBody>
          <a:bodyPr wrap="square" lIns="0" tIns="0" rIns="0" bIns="0" rtlCol="0" anchor="t"/>
          <a:lstStyle/>
          <a:p>
            <a:pPr marL="0" indent="0" algn="l">
              <a:lnSpc>
                <a:spcPct val="100000"/>
              </a:lnSpc>
              <a:buNone/>
            </a:pPr>
            <a:r>
              <a:rPr lang="en-US" sz="2800" dirty="0">
                <a:solidFill>
                  <a:schemeClr val="tx1"/>
                </a:solidFill>
                <a:latin typeface="Manrope ExtraBold" pitchFamily="34" charset="0"/>
                <a:ea typeface="Manrope ExtraBold" pitchFamily="34" charset="-122"/>
                <a:cs typeface="Manrope ExtraBold" pitchFamily="34" charset="-120"/>
              </a:rPr>
              <a:t>Thank you</a:t>
            </a:r>
            <a:endParaRPr lang="en-US" sz="2800" dirty="0"/>
          </a:p>
        </p:txBody>
      </p:sp>
      <p:sp>
        <p:nvSpPr>
          <p:cNvPr id="11" name="Text 9"/>
          <p:cNvSpPr txBox="1"/>
          <p:nvPr/>
        </p:nvSpPr>
        <p:spPr>
          <a:xfrm>
            <a:off x="4206240" y="5349240"/>
            <a:ext cx="7434072" cy="365760"/>
          </a:xfrm>
          <a:prstGeom prst="rect">
            <a:avLst/>
          </a:prstGeom>
          <a:noFill/>
          <a:ln/>
        </p:spPr>
        <p:txBody>
          <a:bodyPr wrap="square" lIns="0" tIns="0" rIns="0" bIns="0" rtlCol="0" anchor="t"/>
          <a:lstStyle/>
          <a:p>
            <a:pPr marL="0" indent="0" algn="r">
              <a:lnSpc>
                <a:spcPct val="100000"/>
              </a:lnSpc>
              <a:buNone/>
            </a:pPr>
            <a:r>
              <a:rPr lang="en-US" sz="1500" dirty="0">
                <a:solidFill>
                  <a:schemeClr val="tx2"/>
                </a:solidFill>
                <a:latin typeface="Manrope" pitchFamily="34" charset="0"/>
                <a:ea typeface="Manrope" pitchFamily="34" charset="-122"/>
                <a:cs typeface="Manrope" pitchFamily="34" charset="-120"/>
              </a:rPr>
              <a:t>Shravan Agrawal  ·  Shrasti Dwivedi  ·  Mainak Sarkar</a:t>
            </a:r>
            <a:endParaRPr lang="en-US" sz="1500" dirty="0"/>
          </a:p>
        </p:txBody>
      </p:sp>
      <p:sp>
        <p:nvSpPr>
          <p:cNvPr id="12" name="Text 10"/>
          <p:cNvSpPr txBox="1"/>
          <p:nvPr/>
        </p:nvSpPr>
        <p:spPr>
          <a:xfrm>
            <a:off x="4206240" y="5715000"/>
            <a:ext cx="7434072" cy="320040"/>
          </a:xfrm>
          <a:prstGeom prst="rect">
            <a:avLst/>
          </a:prstGeom>
          <a:noFill/>
          <a:ln/>
        </p:spPr>
        <p:txBody>
          <a:bodyPr wrap="square" lIns="0" tIns="0" rIns="0" bIns="0" rtlCol="0" anchor="t"/>
          <a:lstStyle/>
          <a:p>
            <a:pPr marL="0" indent="0" algn="r">
              <a:lnSpc>
                <a:spcPct val="100000"/>
              </a:lnSpc>
              <a:buNone/>
            </a:pPr>
            <a:r>
              <a:rPr lang="en-US" sz="1100" dirty="0">
                <a:solidFill>
                  <a:schemeClr val="tx2"/>
                </a:solidFill>
                <a:latin typeface="IBM Plex Mono" pitchFamily="34" charset="0"/>
                <a:ea typeface="IBM Plex Mono" pitchFamily="34" charset="-122"/>
                <a:cs typeface="IBM Plex Mono" pitchFamily="34" charset="-120"/>
              </a:rPr>
              <a:t>Source, report and the data behind every figure are in the submission, tag v1.0-final.</a:t>
            </a:r>
            <a:endParaRPr lang="en-US" sz="11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Query size is logarithmic in the catalogue</a:t>
            </a:r>
            <a:endParaRPr lang="en-US" sz="3400" dirty="0"/>
          </a:p>
        </p:txBody>
      </p:sp>
      <p:sp>
        <p:nvSpPr>
          <p:cNvPr id="4" name="figure panel"/>
          <p:cNvSpPr/>
          <p:nvPr/>
        </p:nvSpPr>
        <p:spPr>
          <a:xfrm>
            <a:off x="548640" y="1463040"/>
            <a:ext cx="6035040" cy="4248422"/>
          </a:xfrm>
          <a:prstGeom prst="roundRect">
            <a:avLst>
              <a:gd name="adj" fmla="val 3444"/>
            </a:avLst>
          </a:prstGeom>
          <a:solidFill>
            <a:schemeClr val="accent5"/>
          </a:solidFill>
          <a:ln/>
        </p:spPr>
      </p:sp>
      <p:pic>
        <p:nvPicPr>
          <p:cNvPr id="5" name="Image 0" descr="Key size against domain bits"/>
          <p:cNvPicPr>
            <a:picLocks noChangeAspect="1"/>
          </p:cNvPicPr>
          <p:nvPr/>
        </p:nvPicPr>
        <p:blipFill>
          <a:blip r:embed="rId3"/>
          <a:stretch>
            <a:fillRect/>
          </a:stretch>
        </p:blipFill>
        <p:spPr>
          <a:xfrm>
            <a:off x="658368" y="1572768"/>
            <a:ext cx="5815584" cy="4028966"/>
          </a:xfrm>
          <a:prstGeom prst="rect">
            <a:avLst/>
          </a:prstGeom>
        </p:spPr>
      </p:pic>
      <p:sp>
        <p:nvSpPr>
          <p:cNvPr id="6" name="data source"/>
          <p:cNvSpPr txBox="1"/>
          <p:nvPr/>
        </p:nvSpPr>
        <p:spPr>
          <a:xfrm>
            <a:off x="548640" y="5802902"/>
            <a:ext cx="603504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Closed form asserted by tests/test_dpf_serialize.cpp  ·  F2</a:t>
            </a:r>
            <a:endParaRPr lang="en-US" sz="1050" dirty="0"/>
          </a:p>
        </p:txBody>
      </p:sp>
      <p:sp>
        <p:nvSpPr>
          <p:cNvPr id="7" name="stat value"/>
          <p:cNvSpPr txBox="1"/>
          <p:nvPr/>
        </p:nvSpPr>
        <p:spPr>
          <a:xfrm>
            <a:off x="7132320" y="1508760"/>
            <a:ext cx="4480560" cy="685800"/>
          </a:xfrm>
          <a:prstGeom prst="rect">
            <a:avLst/>
          </a:prstGeom>
          <a:noFill/>
          <a:ln/>
        </p:spPr>
        <p:txBody>
          <a:bodyPr wrap="square" lIns="0" tIns="0" rIns="0" bIns="0" rtlCol="0" anchor="t"/>
          <a:lstStyle/>
          <a:p>
            <a:pPr marL="0" indent="0" algn="l">
              <a:lnSpc>
                <a:spcPct val="100000"/>
              </a:lnSpc>
              <a:buNone/>
            </a:pPr>
            <a:r>
              <a:rPr lang="en-US" sz="4000" dirty="0">
                <a:solidFill>
                  <a:schemeClr val="accent1"/>
                </a:solidFill>
                <a:latin typeface="Manrope ExtraBold" pitchFamily="34" charset="0"/>
                <a:ea typeface="Manrope ExtraBold" pitchFamily="34" charset="-122"/>
                <a:cs typeface="Manrope ExtraBold" pitchFamily="34" charset="-120"/>
              </a:rPr>
              <a:t>227 B</a:t>
            </a:r>
            <a:endParaRPr lang="en-US" sz="4000" dirty="0"/>
          </a:p>
        </p:txBody>
      </p:sp>
      <p:sp>
        <p:nvSpPr>
          <p:cNvPr id="8" name="stat label"/>
          <p:cNvSpPr txBox="1"/>
          <p:nvPr/>
        </p:nvSpPr>
        <p:spPr>
          <a:xfrm>
            <a:off x="7132320" y="2212848"/>
            <a:ext cx="44805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per key at 2,048 records, 64-bit ring</a:t>
            </a:r>
            <a:endParaRPr lang="en-US" sz="1400" dirty="0"/>
          </a:p>
        </p:txBody>
      </p:sp>
      <p:sp>
        <p:nvSpPr>
          <p:cNvPr id="9" name="stat value"/>
          <p:cNvSpPr txBox="1"/>
          <p:nvPr/>
        </p:nvSpPr>
        <p:spPr>
          <a:xfrm>
            <a:off x="7132320" y="2880360"/>
            <a:ext cx="4480560" cy="685800"/>
          </a:xfrm>
          <a:prstGeom prst="rect">
            <a:avLst/>
          </a:prstGeom>
          <a:noFill/>
          <a:ln/>
        </p:spPr>
        <p:txBody>
          <a:bodyPr wrap="square" lIns="0" tIns="0" rIns="0" bIns="0" rtlCol="0" anchor="t"/>
          <a:lstStyle/>
          <a:p>
            <a:pPr marL="0" indent="0" algn="l">
              <a:lnSpc>
                <a:spcPct val="100000"/>
              </a:lnSpc>
              <a:buNone/>
            </a:pPr>
            <a:r>
              <a:rPr lang="en-US" sz="4000" dirty="0">
                <a:solidFill>
                  <a:schemeClr val="tx1"/>
                </a:solidFill>
                <a:latin typeface="Manrope ExtraBold" pitchFamily="34" charset="0"/>
                <a:ea typeface="Manrope ExtraBold" pitchFamily="34" charset="-122"/>
                <a:cs typeface="Manrope ExtraBold" pitchFamily="34" charset="-120"/>
              </a:rPr>
              <a:t>16,384 B</a:t>
            </a:r>
            <a:endParaRPr lang="en-US" sz="4000" dirty="0"/>
          </a:p>
        </p:txBody>
      </p:sp>
      <p:sp>
        <p:nvSpPr>
          <p:cNvPr id="10" name="stat label"/>
          <p:cNvSpPr txBox="1"/>
          <p:nvPr/>
        </p:nvSpPr>
        <p:spPr>
          <a:xfrm>
            <a:off x="7132320" y="3584448"/>
            <a:ext cx="448056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naive one-hot query</a:t>
            </a:r>
            <a:endParaRPr lang="en-US" sz="1400" dirty="0"/>
          </a:p>
        </p:txBody>
      </p:sp>
      <p:sp>
        <p:nvSpPr>
          <p:cNvPr id="11" name="Text 7"/>
          <p:cNvSpPr txBox="1"/>
          <p:nvPr/>
        </p:nvSpPr>
        <p:spPr>
          <a:xfrm>
            <a:off x="7132320" y="4343400"/>
            <a:ext cx="4480560" cy="640080"/>
          </a:xfrm>
          <a:prstGeom prst="rect">
            <a:avLst/>
          </a:prstGeom>
          <a:noFill/>
          <a:ln/>
        </p:spPr>
        <p:txBody>
          <a:bodyPr wrap="square" lIns="0" tIns="0" rIns="0" bIns="0" rtlCol="0" anchor="t"/>
          <a:lstStyle/>
          <a:p>
            <a:pPr marL="0" indent="0" algn="l">
              <a:lnSpc>
                <a:spcPct val="108000"/>
              </a:lnSpc>
              <a:buNone/>
            </a:pPr>
            <a:r>
              <a:rPr lang="en-US" sz="1400" dirty="0">
                <a:solidFill>
                  <a:schemeClr val="tx2"/>
                </a:solidFill>
                <a:latin typeface="IBM Plex Mono" pitchFamily="34" charset="0"/>
                <a:ea typeface="IBM Plex Mono" pitchFamily="34" charset="-122"/>
                <a:cs typeface="IBM Plex Mono" pitchFamily="34" charset="-120"/>
              </a:rPr>
              <a:t>1 + 4 + 16 + 18 · D + b / 8 bytes, for a domain of D bits</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Quality is flat in the number of iterations</a:t>
            </a:r>
            <a:endParaRPr lang="en-US" sz="3400" dirty="0"/>
          </a:p>
        </p:txBody>
      </p:sp>
      <p:sp>
        <p:nvSpPr>
          <p:cNvPr id="4" name="figure panel"/>
          <p:cNvSpPr/>
          <p:nvPr/>
        </p:nvSpPr>
        <p:spPr>
          <a:xfrm>
            <a:off x="548640" y="1463040"/>
            <a:ext cx="6675120" cy="4062846"/>
          </a:xfrm>
          <a:prstGeom prst="roundRect">
            <a:avLst>
              <a:gd name="adj" fmla="val 3601"/>
            </a:avLst>
          </a:prstGeom>
          <a:solidFill>
            <a:schemeClr val="accent5"/>
          </a:solidFill>
          <a:ln/>
        </p:spPr>
      </p:sp>
      <p:pic>
        <p:nvPicPr>
          <p:cNvPr id="5" name="Image 0" descr="nDCG and subspace angle against iterations"/>
          <p:cNvPicPr>
            <a:picLocks noChangeAspect="1"/>
          </p:cNvPicPr>
          <p:nvPr/>
        </p:nvPicPr>
        <p:blipFill>
          <a:blip r:embed="rId3"/>
          <a:stretch>
            <a:fillRect/>
          </a:stretch>
        </p:blipFill>
        <p:spPr>
          <a:xfrm>
            <a:off x="658368" y="1572768"/>
            <a:ext cx="6455664" cy="3843390"/>
          </a:xfrm>
          <a:prstGeom prst="rect">
            <a:avLst/>
          </a:prstGeom>
        </p:spPr>
      </p:pic>
      <p:sp>
        <p:nvSpPr>
          <p:cNvPr id="6" name="data source"/>
          <p:cNvSpPr txBox="1"/>
          <p:nvPr/>
        </p:nvSpPr>
        <p:spPr>
          <a:xfrm>
            <a:off x="548640" y="5617326"/>
            <a:ext cx="667512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oracle_ell_sweep.jsonl  ·  F4</a:t>
            </a:r>
            <a:endParaRPr lang="en-US" sz="1050" dirty="0"/>
          </a:p>
        </p:txBody>
      </p:sp>
      <p:sp>
        <p:nvSpPr>
          <p:cNvPr id="7" name="stat value"/>
          <p:cNvSpPr txBox="1"/>
          <p:nvPr/>
        </p:nvSpPr>
        <p:spPr>
          <a:xfrm>
            <a:off x="7772400" y="1508760"/>
            <a:ext cx="3840480" cy="548640"/>
          </a:xfrm>
          <a:prstGeom prst="rect">
            <a:avLst/>
          </a:prstGeom>
          <a:noFill/>
          <a:ln/>
        </p:spPr>
        <p:txBody>
          <a:bodyPr wrap="square" lIns="0" tIns="0" rIns="0" bIns="0" rtlCol="0" anchor="t"/>
          <a:lstStyle/>
          <a:p>
            <a:pPr marL="0" indent="0" algn="l">
              <a:lnSpc>
                <a:spcPct val="100000"/>
              </a:lnSpc>
              <a:buNone/>
            </a:pPr>
            <a:r>
              <a:rPr lang="en-US" sz="3000" dirty="0">
                <a:solidFill>
                  <a:schemeClr val="accent1"/>
                </a:solidFill>
                <a:latin typeface="Manrope ExtraBold" pitchFamily="34" charset="0"/>
                <a:ea typeface="Manrope ExtraBold" pitchFamily="34" charset="-122"/>
                <a:cs typeface="Manrope ExtraBold" pitchFamily="34" charset="-120"/>
              </a:rPr>
              <a:t>0.4523 to 0.4545</a:t>
            </a:r>
            <a:endParaRPr lang="en-US" sz="3000" dirty="0"/>
          </a:p>
        </p:txBody>
      </p:sp>
      <p:sp>
        <p:nvSpPr>
          <p:cNvPr id="8" name="stat label"/>
          <p:cNvSpPr txBox="1"/>
          <p:nvPr/>
        </p:nvSpPr>
        <p:spPr>
          <a:xfrm>
            <a:off x="7772400" y="2075688"/>
            <a:ext cx="384048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nDCG@20 from 10 to 400 iterations</a:t>
            </a:r>
            <a:endParaRPr lang="en-US" sz="1400" dirty="0"/>
          </a:p>
        </p:txBody>
      </p:sp>
      <p:sp>
        <p:nvSpPr>
          <p:cNvPr id="9" name="stat value"/>
          <p:cNvSpPr txBox="1"/>
          <p:nvPr/>
        </p:nvSpPr>
        <p:spPr>
          <a:xfrm>
            <a:off x="7772400" y="2788920"/>
            <a:ext cx="3840480" cy="548640"/>
          </a:xfrm>
          <a:prstGeom prst="rect">
            <a:avLst/>
          </a:prstGeom>
          <a:noFill/>
          <a:ln/>
        </p:spPr>
        <p:txBody>
          <a:bodyPr wrap="square" lIns="0" tIns="0" rIns="0" bIns="0" rtlCol="0" anchor="t"/>
          <a:lstStyle/>
          <a:p>
            <a:pPr marL="0" indent="0" algn="l">
              <a:lnSpc>
                <a:spcPct val="100000"/>
              </a:lnSpc>
              <a:buNone/>
            </a:pPr>
            <a:r>
              <a:rPr lang="en-US" sz="3000" dirty="0">
                <a:solidFill>
                  <a:schemeClr val="tx1"/>
                </a:solidFill>
                <a:latin typeface="Manrope ExtraBold" pitchFamily="34" charset="0"/>
                <a:ea typeface="Manrope ExtraBold" pitchFamily="34" charset="-122"/>
                <a:cs typeface="Manrope ExtraBold" pitchFamily="34" charset="-120"/>
              </a:rPr>
              <a:t>0.97 → 6.7 × 10</a:t>
            </a:r>
            <a:r>
              <a:rPr lang="en-US" sz="3000" baseline="30000" dirty="0">
                <a:solidFill>
                  <a:schemeClr val="tx1"/>
                </a:solidFill>
                <a:latin typeface="Manrope ExtraBold" pitchFamily="34" charset="0"/>
                <a:ea typeface="Manrope ExtraBold" pitchFamily="34" charset="-122"/>
                <a:cs typeface="Manrope ExtraBold" pitchFamily="34" charset="-120"/>
              </a:rPr>
              <a:t>−6</a:t>
            </a:r>
            <a:endParaRPr lang="en-US" sz="3000" dirty="0"/>
          </a:p>
        </p:txBody>
      </p:sp>
      <p:sp>
        <p:nvSpPr>
          <p:cNvPr id="10" name="stat label"/>
          <p:cNvSpPr txBox="1"/>
          <p:nvPr/>
        </p:nvSpPr>
        <p:spPr>
          <a:xfrm>
            <a:off x="7772400" y="3355848"/>
            <a:ext cx="384048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radians to the true subspace</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A classifier on the wire bytes sits at chance</a:t>
            </a:r>
            <a:endParaRPr lang="en-US" sz="3400" dirty="0"/>
          </a:p>
        </p:txBody>
      </p:sp>
      <p:sp>
        <p:nvSpPr>
          <p:cNvPr id="4" name="figure panel"/>
          <p:cNvSpPr/>
          <p:nvPr/>
        </p:nvSpPr>
        <p:spPr>
          <a:xfrm>
            <a:off x="548640" y="1463040"/>
            <a:ext cx="6400800" cy="3853109"/>
          </a:xfrm>
          <a:prstGeom prst="roundRect">
            <a:avLst>
              <a:gd name="adj" fmla="val 3797"/>
            </a:avLst>
          </a:prstGeom>
          <a:solidFill>
            <a:schemeClr val="accent5"/>
          </a:solidFill>
          <a:ln/>
        </p:spPr>
      </p:sp>
      <p:pic>
        <p:nvPicPr>
          <p:cNvPr id="5" name="Image 0" descr="Classifier accuracy with confidence intervals"/>
          <p:cNvPicPr>
            <a:picLocks noChangeAspect="1"/>
          </p:cNvPicPr>
          <p:nvPr/>
        </p:nvPicPr>
        <p:blipFill>
          <a:blip r:embed="rId3"/>
          <a:stretch>
            <a:fillRect/>
          </a:stretch>
        </p:blipFill>
        <p:spPr>
          <a:xfrm>
            <a:off x="658368" y="1572768"/>
            <a:ext cx="6181344" cy="3633653"/>
          </a:xfrm>
          <a:prstGeom prst="rect">
            <a:avLst/>
          </a:prstGeom>
        </p:spPr>
      </p:pic>
      <p:sp>
        <p:nvSpPr>
          <p:cNvPr id="6" name="data source"/>
          <p:cNvSpPr txBox="1"/>
          <p:nvPr/>
        </p:nvSpPr>
        <p:spPr>
          <a:xfrm>
            <a:off x="548640" y="5407589"/>
            <a:ext cx="640080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distinguisher_result.jsonl  ·  F5</a:t>
            </a:r>
            <a:endParaRPr lang="en-US" sz="1050" dirty="0"/>
          </a:p>
        </p:txBody>
      </p:sp>
      <p:sp>
        <p:nvSpPr>
          <p:cNvPr id="7" name="stat value"/>
          <p:cNvSpPr txBox="1"/>
          <p:nvPr/>
        </p:nvSpPr>
        <p:spPr>
          <a:xfrm>
            <a:off x="7498080" y="1508760"/>
            <a:ext cx="4114800" cy="548640"/>
          </a:xfrm>
          <a:prstGeom prst="rect">
            <a:avLst/>
          </a:prstGeom>
          <a:noFill/>
          <a:ln/>
        </p:spPr>
        <p:txBody>
          <a:bodyPr wrap="square" lIns="0" tIns="0" rIns="0" bIns="0" rtlCol="0" anchor="t"/>
          <a:lstStyle/>
          <a:p>
            <a:pPr marL="0" indent="0" algn="l">
              <a:lnSpc>
                <a:spcPct val="100000"/>
              </a:lnSpc>
              <a:buNone/>
            </a:pPr>
            <a:r>
              <a:rPr lang="en-US" sz="3000" dirty="0">
                <a:solidFill>
                  <a:schemeClr val="tx1"/>
                </a:solidFill>
                <a:latin typeface="Manrope ExtraBold" pitchFamily="34" charset="0"/>
                <a:ea typeface="Manrope ExtraBold" pitchFamily="34" charset="-122"/>
                <a:cs typeface="Manrope ExtraBold" pitchFamily="34" charset="-120"/>
              </a:rPr>
              <a:t>228 B / 265 B</a:t>
            </a:r>
            <a:endParaRPr lang="en-US" sz="3000" dirty="0"/>
          </a:p>
        </p:txBody>
      </p:sp>
      <p:sp>
        <p:nvSpPr>
          <p:cNvPr id="8" name="stat label"/>
          <p:cNvSpPr txBox="1"/>
          <p:nvPr/>
        </p:nvSpPr>
        <p:spPr>
          <a:xfrm>
            <a:off x="7498080" y="2075688"/>
            <a:ext cx="411480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every query frame and every reply, whatever the index, over 1,800 queries</a:t>
            </a:r>
            <a:endParaRPr lang="en-US" sz="1400" dirty="0"/>
          </a:p>
        </p:txBody>
      </p:sp>
      <p:sp>
        <p:nvSpPr>
          <p:cNvPr id="9" name="stat value"/>
          <p:cNvSpPr txBox="1"/>
          <p:nvPr/>
        </p:nvSpPr>
        <p:spPr>
          <a:xfrm>
            <a:off x="7498080" y="2926080"/>
            <a:ext cx="4114800" cy="548640"/>
          </a:xfrm>
          <a:prstGeom prst="rect">
            <a:avLst/>
          </a:prstGeom>
          <a:noFill/>
          <a:ln/>
        </p:spPr>
        <p:txBody>
          <a:bodyPr wrap="square" lIns="0" tIns="0" rIns="0" bIns="0" rtlCol="0" anchor="t"/>
          <a:lstStyle/>
          <a:p>
            <a:pPr marL="0" indent="0" algn="l">
              <a:lnSpc>
                <a:spcPct val="100000"/>
              </a:lnSpc>
              <a:buNone/>
            </a:pPr>
            <a:r>
              <a:rPr lang="en-US" sz="3000" dirty="0">
                <a:solidFill>
                  <a:schemeClr val="accent1"/>
                </a:solidFill>
                <a:latin typeface="Manrope ExtraBold" pitchFamily="34" charset="0"/>
                <a:ea typeface="Manrope ExtraBold" pitchFamily="34" charset="-122"/>
                <a:cs typeface="Manrope ExtraBold" pitchFamily="34" charset="-120"/>
              </a:rPr>
              <a:t>0.490 to 0.500</a:t>
            </a:r>
            <a:endParaRPr lang="en-US" sz="3000" dirty="0"/>
          </a:p>
        </p:txBody>
      </p:sp>
      <p:sp>
        <p:nvSpPr>
          <p:cNvPr id="10" name="stat label"/>
          <p:cNvSpPr txBox="1"/>
          <p:nvPr/>
        </p:nvSpPr>
        <p:spPr>
          <a:xfrm>
            <a:off x="7498080" y="3493008"/>
            <a:ext cx="411480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classifier accuracy, with 0.5 inside every 95% interval</a:t>
            </a:r>
            <a:endParaRPr lang="en-US" sz="1400" dirty="0"/>
          </a:p>
        </p:txBody>
      </p:sp>
      <p:sp>
        <p:nvSpPr>
          <p:cNvPr id="11" name="stat value"/>
          <p:cNvSpPr txBox="1"/>
          <p:nvPr/>
        </p:nvSpPr>
        <p:spPr>
          <a:xfrm>
            <a:off x="7498080" y="4343400"/>
            <a:ext cx="4114800" cy="548640"/>
          </a:xfrm>
          <a:prstGeom prst="rect">
            <a:avLst/>
          </a:prstGeom>
          <a:noFill/>
          <a:ln/>
        </p:spPr>
        <p:txBody>
          <a:bodyPr wrap="square" lIns="0" tIns="0" rIns="0" bIns="0" rtlCol="0" anchor="t"/>
          <a:lstStyle/>
          <a:p>
            <a:pPr marL="0" indent="0" algn="l">
              <a:lnSpc>
                <a:spcPct val="100000"/>
              </a:lnSpc>
              <a:buNone/>
            </a:pPr>
            <a:r>
              <a:rPr lang="en-US" sz="3000" dirty="0">
                <a:solidFill>
                  <a:schemeClr val="tx1"/>
                </a:solidFill>
                <a:latin typeface="Manrope ExtraBold" pitchFamily="34" charset="0"/>
                <a:ea typeface="Manrope ExtraBold" pitchFamily="34" charset="-122"/>
                <a:cs typeface="Manrope ExtraBold" pitchFamily="34" charset="-120"/>
              </a:rPr>
              <a:t>0.483</a:t>
            </a:r>
            <a:endParaRPr lang="en-US" sz="3000" dirty="0"/>
          </a:p>
        </p:txBody>
      </p:sp>
      <p:sp>
        <p:nvSpPr>
          <p:cNvPr id="12" name="stat label"/>
          <p:cNvSpPr txBox="1"/>
          <p:nvPr/>
        </p:nvSpPr>
        <p:spPr>
          <a:xfrm>
            <a:off x="7498080" y="4910328"/>
            <a:ext cx="411480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the same pipeline on shuffled labels</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The private read against its alternatives</a:t>
            </a:r>
            <a:endParaRPr lang="en-US" sz="3400" dirty="0"/>
          </a:p>
        </p:txBody>
      </p:sp>
      <p:sp>
        <p:nvSpPr>
          <p:cNvPr id="4" name="figure panel"/>
          <p:cNvSpPr/>
          <p:nvPr/>
        </p:nvSpPr>
        <p:spPr>
          <a:xfrm>
            <a:off x="548640" y="1463040"/>
            <a:ext cx="8138160" cy="3673248"/>
          </a:xfrm>
          <a:prstGeom prst="roundRect">
            <a:avLst>
              <a:gd name="adj" fmla="val 3983"/>
            </a:avLst>
          </a:prstGeom>
          <a:solidFill>
            <a:schemeClr val="accent5"/>
          </a:solidFill>
          <a:ln/>
        </p:spPr>
      </p:sp>
      <p:pic>
        <p:nvPicPr>
          <p:cNvPr id="5" name="Image 0" descr="Bytes and server time for cleartext, DPF-PIR and full download"/>
          <p:cNvPicPr>
            <a:picLocks noChangeAspect="1"/>
          </p:cNvPicPr>
          <p:nvPr/>
        </p:nvPicPr>
        <p:blipFill>
          <a:blip r:embed="rId3"/>
          <a:stretch>
            <a:fillRect/>
          </a:stretch>
        </p:blipFill>
        <p:spPr>
          <a:xfrm>
            <a:off x="658368" y="1572768"/>
            <a:ext cx="7918704" cy="3453792"/>
          </a:xfrm>
          <a:prstGeom prst="rect">
            <a:avLst/>
          </a:prstGeom>
        </p:spPr>
      </p:pic>
      <p:sp>
        <p:nvSpPr>
          <p:cNvPr id="6" name="data source"/>
          <p:cNvSpPr txBox="1"/>
          <p:nvPr/>
        </p:nvSpPr>
        <p:spPr>
          <a:xfrm>
            <a:off x="548640" y="5227728"/>
            <a:ext cx="8138160" cy="256032"/>
          </a:xfrm>
          <a:prstGeom prst="rect">
            <a:avLst/>
          </a:prstGeom>
          <a:noFill/>
          <a:ln/>
        </p:spPr>
        <p:txBody>
          <a:bodyPr wrap="square" lIns="0" tIns="0" rIns="0" bIns="0" rtlCol="0" anchor="t"/>
          <a:lstStyle/>
          <a:p>
            <a:pPr marL="0" indent="0" algn="l">
              <a:lnSpc>
                <a:spcPct val="100000"/>
              </a:lnSpc>
              <a:buNone/>
            </a:pPr>
            <a:r>
              <a:rPr lang="en-US" sz="1050" dirty="0">
                <a:solidFill>
                  <a:schemeClr val="tx2"/>
                </a:solidFill>
                <a:latin typeface="IBM Plex Mono" pitchFamily="34" charset="0"/>
                <a:ea typeface="IBM Plex Mono" pitchFamily="34" charset="-122"/>
                <a:cs typeface="IBM Plex Mono" pitchFamily="34" charset="-120"/>
              </a:rPr>
              <a:t>Data  bench_baseline.jsonl  ·  F3</a:t>
            </a:r>
            <a:endParaRPr lang="en-US" sz="1050" dirty="0"/>
          </a:p>
        </p:txBody>
      </p:sp>
      <p:sp>
        <p:nvSpPr>
          <p:cNvPr id="7" name="stat value"/>
          <p:cNvSpPr txBox="1"/>
          <p:nvPr/>
        </p:nvSpPr>
        <p:spPr>
          <a:xfrm>
            <a:off x="9052560" y="1508760"/>
            <a:ext cx="2606040" cy="685800"/>
          </a:xfrm>
          <a:prstGeom prst="rect">
            <a:avLst/>
          </a:prstGeom>
          <a:noFill/>
          <a:ln/>
        </p:spPr>
        <p:txBody>
          <a:bodyPr wrap="square" lIns="0" tIns="0" rIns="0" bIns="0" rtlCol="0" anchor="t"/>
          <a:lstStyle/>
          <a:p>
            <a:pPr marL="0" indent="0" algn="l">
              <a:lnSpc>
                <a:spcPct val="100000"/>
              </a:lnSpc>
              <a:buNone/>
            </a:pPr>
            <a:r>
              <a:rPr lang="en-US" sz="4000" dirty="0">
                <a:solidFill>
                  <a:schemeClr val="accent1"/>
                </a:solidFill>
                <a:latin typeface="Manrope ExtraBold" pitchFamily="34" charset="0"/>
                <a:ea typeface="Manrope ExtraBold" pitchFamily="34" charset="-122"/>
                <a:cs typeface="Manrope ExtraBold" pitchFamily="34" charset="-120"/>
              </a:rPr>
              <a:t>446×</a:t>
            </a:r>
            <a:endParaRPr lang="en-US" sz="4000" dirty="0"/>
          </a:p>
        </p:txBody>
      </p:sp>
      <p:sp>
        <p:nvSpPr>
          <p:cNvPr id="8" name="stat label"/>
          <p:cNvSpPr txBox="1"/>
          <p:nvPr/>
        </p:nvSpPr>
        <p:spPr>
          <a:xfrm>
            <a:off x="9052560" y="2212848"/>
            <a:ext cx="260604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fewer bytes than the full download, both servers</a:t>
            </a:r>
            <a:endParaRPr lang="en-US" sz="1400" dirty="0"/>
          </a:p>
        </p:txBody>
      </p:sp>
      <p:sp>
        <p:nvSpPr>
          <p:cNvPr id="9" name="stat value"/>
          <p:cNvSpPr txBox="1"/>
          <p:nvPr/>
        </p:nvSpPr>
        <p:spPr>
          <a:xfrm>
            <a:off x="9052560" y="2880360"/>
            <a:ext cx="2606040" cy="548640"/>
          </a:xfrm>
          <a:prstGeom prst="rect">
            <a:avLst/>
          </a:prstGeom>
          <a:noFill/>
          <a:ln/>
        </p:spPr>
        <p:txBody>
          <a:bodyPr wrap="square" lIns="0" tIns="0" rIns="0" bIns="0" rtlCol="0" anchor="t"/>
          <a:lstStyle/>
          <a:p>
            <a:pPr marL="0" indent="0" algn="l">
              <a:lnSpc>
                <a:spcPct val="100000"/>
              </a:lnSpc>
              <a:buNone/>
            </a:pPr>
            <a:r>
              <a:rPr lang="en-US" sz="3000" dirty="0">
                <a:solidFill>
                  <a:schemeClr val="tx1"/>
                </a:solidFill>
                <a:latin typeface="Manrope ExtraBold" pitchFamily="34" charset="0"/>
                <a:ea typeface="Manrope ExtraBold" pitchFamily="34" charset="-122"/>
                <a:cs typeface="Manrope ExtraBold" pitchFamily="34" charset="-120"/>
              </a:rPr>
              <a:t>about 5×</a:t>
            </a:r>
            <a:endParaRPr lang="en-US" sz="3000" dirty="0"/>
          </a:p>
        </p:txBody>
      </p:sp>
      <p:sp>
        <p:nvSpPr>
          <p:cNvPr id="10" name="stat label"/>
          <p:cNvSpPr txBox="1"/>
          <p:nvPr/>
        </p:nvSpPr>
        <p:spPr>
          <a:xfrm>
            <a:off x="9052560" y="3447288"/>
            <a:ext cx="2606040" cy="566928"/>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more server CPU than the download</a:t>
            </a:r>
            <a:endParaRPr lang="en-US" sz="1400" dirty="0"/>
          </a:p>
        </p:txBody>
      </p:sp>
      <p:sp>
        <p:nvSpPr>
          <p:cNvPr id="11" name="stat value"/>
          <p:cNvSpPr txBox="1"/>
          <p:nvPr/>
        </p:nvSpPr>
        <p:spPr>
          <a:xfrm>
            <a:off x="9052560" y="4069080"/>
            <a:ext cx="2606040" cy="548640"/>
          </a:xfrm>
          <a:prstGeom prst="rect">
            <a:avLst/>
          </a:prstGeom>
          <a:noFill/>
          <a:ln/>
        </p:spPr>
        <p:txBody>
          <a:bodyPr wrap="square" lIns="0" tIns="0" rIns="0" bIns="0" rtlCol="0" anchor="t"/>
          <a:lstStyle/>
          <a:p>
            <a:pPr marL="0" indent="0" algn="l">
              <a:lnSpc>
                <a:spcPct val="100000"/>
              </a:lnSpc>
              <a:buNone/>
            </a:pPr>
            <a:r>
              <a:rPr lang="en-US" sz="3000" dirty="0">
                <a:solidFill>
                  <a:schemeClr val="tx1"/>
                </a:solidFill>
                <a:latin typeface="Manrope ExtraBold" pitchFamily="34" charset="0"/>
                <a:ea typeface="Manrope ExtraBold" pitchFamily="34" charset="-122"/>
                <a:cs typeface="Manrope ExtraBold" pitchFamily="34" charset="-120"/>
              </a:rPr>
              <a:t>8.0 to 22.9</a:t>
            </a:r>
            <a:endParaRPr lang="en-US" sz="3000" dirty="0"/>
          </a:p>
        </p:txBody>
      </p:sp>
      <p:sp>
        <p:nvSpPr>
          <p:cNvPr id="12" name="stat label"/>
          <p:cNvSpPr txBox="1"/>
          <p:nvPr/>
        </p:nvSpPr>
        <p:spPr>
          <a:xfrm>
            <a:off x="9052560" y="4636008"/>
            <a:ext cx="2606040" cy="822960"/>
          </a:xfrm>
          <a:prstGeom prst="rect">
            <a:avLst/>
          </a:prstGeom>
          <a:noFill/>
          <a:ln/>
        </p:spPr>
        <p:txBody>
          <a:bodyPr wrap="square" lIns="0" tIns="0" rIns="0" bIns="0" rtlCol="0" anchor="t"/>
          <a:lstStyle/>
          <a:p>
            <a:pPr marL="0" indent="0" algn="l">
              <a:lnSpc>
                <a:spcPct val="105000"/>
              </a:lnSpc>
              <a:buNone/>
            </a:pPr>
            <a:r>
              <a:rPr lang="en-US" sz="1400" dirty="0">
                <a:solidFill>
                  <a:schemeClr val="tx2"/>
                </a:solidFill>
                <a:latin typeface="Manrope" pitchFamily="34" charset="0"/>
                <a:ea typeface="Manrope" pitchFamily="34" charset="-122"/>
                <a:cs typeface="Manrope" pitchFamily="34" charset="-120"/>
              </a:rPr>
              <a:t>Gbit/s: the link speed below which the private read wins, across runs</a:t>
            </a:r>
            <a:endParaRPr lang="en-US" sz="1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822960"/>
          </a:xfrm>
          <a:prstGeom prst="rect">
            <a:avLst/>
          </a:prstGeom>
          <a:noFill/>
          <a:ln/>
        </p:spPr>
        <p:txBody>
          <a:bodyPr wrap="square" lIns="0" tIns="0" rIns="0" bIns="0" rtlCol="0" anchor="t"/>
          <a:lstStyle/>
          <a:p>
            <a:pPr marL="0" indent="0" algn="l">
              <a:buNone/>
            </a:pPr>
            <a:r>
              <a:rPr lang="en-US" sz="3400" dirty="0">
                <a:solidFill>
                  <a:schemeClr val="tx1"/>
                </a:solidFill>
                <a:latin typeface="Manrope ExtraBold" pitchFamily="34" charset="0"/>
                <a:ea typeface="Manrope ExtraBold" pitchFamily="34" charset="-122"/>
                <a:cs typeface="Manrope ExtraBold" pitchFamily="34" charset="-120"/>
              </a:rPr>
              <a:t>Threat model at a glance</a:t>
            </a:r>
            <a:endParaRPr lang="en-US" sz="3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0972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702552">
                  <a:extLst>
                    <a:ext uri="{9D8B030D-6E8A-4147-A177-3AD203B41FA5}">
                      <a16:colId xmlns:a16="http://schemas.microsoft.com/office/drawing/2014/main" val="20002"/>
                    </a:ext>
                  </a:extLst>
                </a:gridCol>
              </a:tblGrid>
              <a:tr h="548640">
                <a:tc>
                  <a:txBody>
                    <a:bodyPr/>
                    <a:lstStyle/>
                    <a:p>
                      <a:pPr marL="0" indent="0">
                        <a:buNone/>
                      </a:pPr>
                      <a:r>
                        <a:rPr lang="en-US" sz="1200" b="1" dirty="0">
                          <a:solidFill>
                            <a:schemeClr val="tx2"/>
                          </a:solidFill>
                          <a:latin typeface="IBM Plex Mono" pitchFamily="34" charset="0"/>
                          <a:ea typeface="IBM Plex Mono" pitchFamily="34" charset="-122"/>
                          <a:cs typeface="IBM Plex Mono" pitchFamily="34" charset="-120"/>
                        </a:rPr>
                        <a:t>CLASS</a:t>
                      </a:r>
                      <a:endParaRPr lang="en-US" sz="1200" dirty="0">
                        <a:latin typeface="IBM Plex Mono" charset="0"/>
                        <a:ea typeface="IBM Plex Mono" charset="0"/>
                        <a:cs typeface="IBM Plex Mono"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latin typeface="IBM Plex Mono" pitchFamily="34" charset="0"/>
                          <a:ea typeface="IBM Plex Mono" pitchFamily="34" charset="-122"/>
                          <a:cs typeface="IBM Plex Mono" pitchFamily="34" charset="-120"/>
                        </a:rPr>
                        <a:t>ADVERSARY</a:t>
                      </a:r>
                      <a:endParaRPr lang="en-US" sz="1200" dirty="0">
                        <a:latin typeface="IBM Plex Mono" charset="0"/>
                        <a:ea typeface="IBM Plex Mono" charset="0"/>
                        <a:cs typeface="IBM Plex Mono"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latin typeface="IBM Plex Mono" pitchFamily="34" charset="0"/>
                          <a:ea typeface="IBM Plex Mono" pitchFamily="34" charset="-122"/>
                          <a:cs typeface="IBM Plex Mono" pitchFamily="34" charset="-120"/>
                        </a:rPr>
                        <a:t>WHAT WE CLAIM</a:t>
                      </a:r>
                      <a:endParaRPr lang="en-US" sz="1200" dirty="0">
                        <a:latin typeface="IBM Plex Mono" charset="0"/>
                        <a:ea typeface="IBM Plex Mono" charset="0"/>
                        <a:cs typeface="IBM Plex Mono"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chemeClr val="tx1"/>
                          </a:solidFill>
                          <a:latin typeface="Manrope" pitchFamily="34" charset="0"/>
                          <a:ea typeface="Manrope" pitchFamily="34" charset="-122"/>
                          <a:cs typeface="Manrope" pitchFamily="34" charset="-120"/>
                        </a:rPr>
                        <a:t>A1</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one semi-honest server</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learns nothing beyond the leakage profile, argued by a simulation sketch</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A2</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one server and colluding users</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honest users’ ratings stay hidden, model quality does not</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chemeClr val="accent1"/>
                          </a:solidFill>
                          <a:latin typeface="Manrope" pitchFamily="34" charset="0"/>
                          <a:ea typeface="Manrope" pitchFamily="34" charset="-122"/>
                          <a:cs typeface="Manrope" pitchFamily="34" charset="-120"/>
                        </a:rPr>
                        <a:t>A3</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1"/>
                          </a:solidFill>
                          <a:latin typeface="Manrope" pitchFamily="34" charset="0"/>
                          <a:ea typeface="Manrope" pitchFamily="34" charset="-122"/>
                          <a:cs typeface="Manrope" pitchFamily="34" charset="-120"/>
                        </a:rPr>
                        <a:t>two colluding servers</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1"/>
                          </a:solidFill>
                          <a:latin typeface="Manrope" pitchFamily="34" charset="0"/>
                          <a:ea typeface="Manrope" pitchFamily="34" charset="-122"/>
                          <a:cs typeface="Manrope" pitchFamily="34" charset="-120"/>
                        </a:rPr>
                        <a:t>no guarantee: the shares reconstruct</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A4</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a deviating server</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out of scope</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48640">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A5</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a malicious user</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weight inflation closed, redistribution and the DoS open</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48640">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A6</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a network observer</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Manrope" pitchFamily="34" charset="0"/>
                          <a:ea typeface="Manrope" pitchFamily="34" charset="-122"/>
                          <a:cs typeface="Manrope" pitchFamily="34" charset="-120"/>
                        </a:rPr>
                        <a:t>sizes fixed and measured, server timing bounded, wire timing not analysed</a:t>
                      </a:r>
                      <a:endParaRPr lang="en-US" sz="1400" dirty="0">
                        <a:latin typeface="Manrope" charset="0"/>
                        <a:ea typeface="Manrope" charset="0"/>
                        <a:cs typeface="Manrope" charset="0"/>
                      </a:endParaRPr>
                    </a:p>
                  </a:txBody>
                  <a:tcPr marL="109728" marR="109728" marT="36576" marB="36576"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latin typeface="IBM Plex Mono"/>
                <a:ea typeface="IBM Plex Mono"/>
                <a:cs typeface="IBM Plex Mono"/>
              </a:defRPr>
            </a:lvl1pPr>
          </a:lstStyle>
          <a:p>
            <a:pPr algn="r"/>
            <a:fld id="{F7021451-1387-4CA6-816F-3879F97B5CBC}" type="slidenum">
              <a:rPr lang="en-US" b="0"/>
              <a:t>31</a:t>
            </a:fld>
            <a:endParaRPr lang="en-US"/>
          </a:p>
        </p:txBody>
      </p:sp>
    </p:spTree>
  </p:cSld>
  <p:clrMapOvr>
    <a:masterClrMapping/>
  </p:clrMapOvr>
</p:sld>
</file>

<file path=ppt/theme/theme1.xml><?xml version="1.0" encoding="utf-8"?>
<a:theme xmlns:a="http://schemas.openxmlformats.org/drawingml/2006/main" name="OblivRec Forest">
  <a:themeElements>
    <a:clrScheme name="OblivRec Forest">
      <a:dk1>
        <a:srgbClr val="0E1714"/>
      </a:dk1>
      <a:lt1>
        <a:srgbClr val="E7EDE4"/>
      </a:lt1>
      <a:dk2>
        <a:srgbClr val="1B2A25"/>
      </a:dk2>
      <a:lt2>
        <a:srgbClr val="A2B0A9"/>
      </a:lt2>
      <a:accent1>
        <a:srgbClr val="EE7A50"/>
      </a:accent1>
      <a:accent2>
        <a:srgbClr val="1E463B"/>
      </a:accent2>
      <a:accent3>
        <a:srgbClr val="6C7D75"/>
      </a:accent3>
      <a:accent4>
        <a:srgbClr val="2A3A34"/>
      </a:accent4>
      <a:accent5>
        <a:srgbClr val="FFFFFF"/>
      </a:accent5>
      <a:accent6>
        <a:srgbClr val="3B7563"/>
      </a:accent6>
      <a:hlink>
        <a:srgbClr val="EE7A50"/>
      </a:hlink>
      <a:folHlink>
        <a:srgbClr val="A2B0A9"/>
      </a:folHlink>
    </a:clrScheme>
    <a:fontScheme name="OblivRec Forest">
      <a:majorFont>
        <a:latin typeface="Manrope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7095</Words>
  <Application>Microsoft Office PowerPoint</Application>
  <PresentationFormat>Widescreen</PresentationFormat>
  <Paragraphs>456</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Manrope</vt:lpstr>
      <vt:lpstr>Arial</vt:lpstr>
      <vt:lpstr>Cambria Math</vt:lpstr>
      <vt:lpstr>IBM Plex Mono</vt:lpstr>
      <vt:lpstr>Manrope ExtraBold</vt:lpstr>
      <vt:lpstr>OblivRec Forest</vt:lpstr>
      <vt:lpstr>OblivRec</vt:lpstr>
      <vt:lpstr>What a recommender learns about you</vt:lpstr>
      <vt:lpstr>Two papers, two halves</vt:lpstr>
      <vt:lpstr>What we built</vt:lpstr>
      <vt:lpstr>Private training</vt:lpstr>
      <vt:lpstr>Private delivery</vt:lpstr>
      <vt:lpstr>Closing the loop</vt:lpstr>
      <vt:lpstr>It runs end to end</vt:lpstr>
      <vt:lpstr>A fetch is a projection</vt:lpstr>
      <vt:lpstr>The attack</vt:lpstr>
      <vt:lpstr>The control</vt:lpstr>
      <vt:lpstr>Defence one: decoys</vt:lpstr>
      <vt:lpstr>Defence two: differential privacy</vt:lpstr>
      <vt:lpstr>Why it fails</vt:lpstr>
      <vt:lpstr>Why we lose 71% and Nudge loses 17%</vt:lpstr>
      <vt:lpstr>So the fetch must be private</vt:lpstr>
      <vt:lpstr>A DPF we can trust</vt:lpstr>
      <vt:lpstr>The cost of each half</vt:lpstr>
      <vt:lpstr>Where the rounds go</vt:lpstr>
      <vt:lpstr>The theorem, measured</vt:lpstr>
      <vt:lpstr>What measuring quality found</vt:lpstr>
      <vt:lpstr>The result that goes against us</vt:lpstr>
      <vt:lpstr>The malicious client</vt:lpstr>
      <vt:lpstr>Timing</vt:lpstr>
      <vt:lpstr>What we do not claim</vt:lpstr>
      <vt:lpstr>Conclusion</vt:lpstr>
      <vt:lpstr>Query size is logarithmic in the catalogue</vt:lpstr>
      <vt:lpstr>Quality is flat in the number of iterations</vt:lpstr>
      <vt:lpstr>A classifier on the wire bytes sits at chance</vt:lpstr>
      <vt:lpstr>The private read against its alternatives</vt:lpstr>
      <vt:lpstr>Threat model at a glance</vt:lpstr>
    </vt:vector>
  </TitlesOfParts>
  <Company>IIT Kanpur, CS670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OblivRec: final presentation</dc:title>
  <dc:subject>Privacy-preserving recommendation with private training and private delivery</dc:subject>
  <dc:creator>Shravan Agrawal, Shrasti Dwivedi, Mainak Sarkar</dc:creator>
  <cp:lastModifiedBy>Mainak Sarkar</cp:lastModifiedBy>
  <cp:revision>2</cp:revision>
  <dcterms:created xsi:type="dcterms:W3CDTF">2026-10-15T17:05:26Z</dcterms:created>
  <dcterms:modified xsi:type="dcterms:W3CDTF">2026-10-15T17:05:31Z</dcterms:modified>
</cp:coreProperties>
</file>